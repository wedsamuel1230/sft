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image" Target="../media/image-8-29.png"/><Relationship Id="rId30" Type="http://schemas.openxmlformats.org/officeDocument/2006/relationships/image" Target="../media/image-8-30.png"/><Relationship Id="rId31" Type="http://schemas.openxmlformats.org/officeDocument/2006/relationships/image" Target="../media/image-8-31.png"/><Relationship Id="rId32" Type="http://schemas.openxmlformats.org/officeDocument/2006/relationships/image" Target="../media/image-8-32.png"/><Relationship Id="rId33" Type="http://schemas.openxmlformats.org/officeDocument/2006/relationships/image" Target="../media/image-8-33.png"/><Relationship Id="rId34" Type="http://schemas.openxmlformats.org/officeDocument/2006/relationships/image" Target="../media/image-8-34.png"/><Relationship Id="rId35" Type="http://schemas.openxmlformats.org/officeDocument/2006/relationships/image" Target="../media/image-8-35.png"/><Relationship Id="rId36" Type="http://schemas.openxmlformats.org/officeDocument/2006/relationships/image" Target="../media/image-8-36.png"/><Relationship Id="rId37" Type="http://schemas.openxmlformats.org/officeDocument/2006/relationships/image" Target="../media/image-8-37.png"/><Relationship Id="rId38" Type="http://schemas.openxmlformats.org/officeDocument/2006/relationships/image" Target="../media/image-8-38.png"/><Relationship Id="rId39" Type="http://schemas.openxmlformats.org/officeDocument/2006/relationships/image" Target="../media/image-8-39.png"/><Relationship Id="rId40" Type="http://schemas.openxmlformats.org/officeDocument/2006/relationships/image" Target="../media/image-8-40.png"/><Relationship Id="rId41" Type="http://schemas.openxmlformats.org/officeDocument/2006/relationships/image" Target="../media/image-8-41.pn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png"/><Relationship Id="rId21" Type="http://schemas.openxmlformats.org/officeDocument/2006/relationships/image" Target="../media/image-15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png"/><Relationship Id="rId17" Type="http://schemas.openxmlformats.org/officeDocument/2006/relationships/image" Target="../media/image-25-17.png"/><Relationship Id="rId18" Type="http://schemas.openxmlformats.org/officeDocument/2006/relationships/image" Target="../media/image-25-18.png"/><Relationship Id="rId19" Type="http://schemas.openxmlformats.org/officeDocument/2006/relationships/image" Target="../media/image-25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image" Target="../media/image-32-9.png"/><Relationship Id="rId10" Type="http://schemas.openxmlformats.org/officeDocument/2006/relationships/image" Target="../media/image-3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image" Target="../media/image-39-6.png"/><Relationship Id="rId7" Type="http://schemas.openxmlformats.org/officeDocument/2006/relationships/image" Target="../media/image-39-7.png"/><Relationship Id="rId8" Type="http://schemas.openxmlformats.org/officeDocument/2006/relationships/image" Target="../media/image-3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image" Target="../media/image-41-6.png"/><Relationship Id="rId7" Type="http://schemas.openxmlformats.org/officeDocument/2006/relationships/image" Target="../media/image-4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image" Target="../media/image-42-6.png"/><Relationship Id="rId7" Type="http://schemas.openxmlformats.org/officeDocument/2006/relationships/image" Target="../media/image-42-7.png"/><Relationship Id="rId8" Type="http://schemas.openxmlformats.org/officeDocument/2006/relationships/image" Target="../media/image-4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image" Target="../media/image-43-6.png"/><Relationship Id="rId7" Type="http://schemas.openxmlformats.org/officeDocument/2006/relationships/image" Target="../media/image-43-7.png"/><Relationship Id="rId8" Type="http://schemas.openxmlformats.org/officeDocument/2006/relationships/image" Target="../media/image-4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F77D3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904695" y="1904695"/>
            <a:ext cx="3810305" cy="3810305"/>
          </a:xfrm>
          <a:prstGeom prst="ellipse">
            <a:avLst/>
          </a:prstGeom>
          <a:solidFill>
            <a:srgbClr val="1F77D3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86707" cy="4286707"/>
          </a:xfrm>
          <a:prstGeom prst="ellipse">
            <a:avLst/>
          </a:prstGeom>
          <a:solidFill>
            <a:srgbClr val="E53935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4286707" cy="4286707"/>
          </a:xfrm>
          <a:prstGeom prst="ellipse">
            <a:avLst/>
          </a:prstGeom>
          <a:solidFill>
            <a:srgbClr val="E53935">
              <a:alpha val="1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77940" y="685800"/>
            <a:ext cx="5953658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909206" y="1356055"/>
            <a:ext cx="4896612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智能球拍教練系統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037783" y="2303374"/>
            <a:ext cx="64492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從訓練痛點到智能突破 | Samsung 競賽專案版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5257" y="3036722"/>
            <a:ext cx="4581144" cy="771754"/>
          </a:xfrm>
          <a:prstGeom prst="roundRect">
            <a:avLst>
              <a:gd name="adj" fmla="val 11702"/>
            </a:avLst>
          </a:prstGeom>
          <a:solidFill>
            <a:srgbClr val="E53935">
              <a:alpha val="90000"/>
            </a:srgbClr>
          </a:solidFill>
          <a:ln/>
          <a:effectLst>
            <a:outerShdw sx="100000" sy="100000" kx="0" ky="0" algn="bl" rotWithShape="0" blurRad="76200" dist="38100" dir="54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188098" y="3160166"/>
            <a:ext cx="418155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讓精英級運動分析普及化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4924044" y="4188866"/>
            <a:ext cx="1438351" cy="571500"/>
          </a:xfrm>
          <a:prstGeom prst="roundRect">
            <a:avLst>
              <a:gd name="adj" fmla="val 80000"/>
            </a:avLst>
          </a:prstGeom>
          <a:solidFill>
            <a:srgbClr val="E53935">
              <a:alpha val="90000"/>
            </a:srgbClr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52644" y="4369918"/>
            <a:ext cx="228600" cy="2286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47104" y="4188866"/>
            <a:ext cx="1876349" cy="571500"/>
          </a:xfrm>
          <a:prstGeom prst="roundRect">
            <a:avLst>
              <a:gd name="adj" fmla="val 80000"/>
            </a:avLst>
          </a:prstGeom>
          <a:solidFill>
            <a:srgbClr val="E53935">
              <a:alpha val="9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8612734" y="4188866"/>
            <a:ext cx="2885846" cy="571500"/>
          </a:xfrm>
          <a:prstGeom prst="roundRect">
            <a:avLst>
              <a:gd name="adj" fmla="val 80000"/>
            </a:avLst>
          </a:prstGeom>
          <a:solidFill>
            <a:srgbClr val="E53935">
              <a:alpha val="90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57139" y="4303166"/>
            <a:ext cx="8485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邊緣AI</a:t>
            </a:r>
            <a:endParaRPr lang="en-US" sz="1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75704" y="4369918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080199" y="4303166"/>
            <a:ext cx="12865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低成本IMU</a:t>
            </a:r>
            <a:endParaRPr lang="en-US" sz="1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841334" y="4369918"/>
            <a:ext cx="228600" cy="2286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1687861" y="4188866"/>
            <a:ext cx="1676095" cy="571500"/>
          </a:xfrm>
          <a:prstGeom prst="roundRect">
            <a:avLst>
              <a:gd name="adj" fmla="val 80000"/>
            </a:avLst>
          </a:prstGeom>
          <a:solidFill>
            <a:srgbClr val="E53935">
              <a:alpha val="90000"/>
            </a:srgbClr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146743" y="4303166"/>
            <a:ext cx="22960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混合運算(邊緣+移動)</a:t>
            </a:r>
            <a:endParaRPr lang="en-US" sz="18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916461" y="4369918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220956" y="4303166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離線實時</a:t>
            </a:r>
            <a:endParaRPr lang="en-US" sz="18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13727887" y="8961120"/>
            <a:ext cx="286207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089990" y="8894369"/>
            <a:ext cx="38011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VTC青年學院人工智能與機械人課程</a:t>
            </a:r>
            <a:endParaRPr lang="en-US" sz="18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2" b="-2"/>
          <a:stretch/>
        </p:blipFill>
        <p:spPr>
          <a:xfrm>
            <a:off x="3429000" y="4760366"/>
            <a:ext cx="11430000" cy="3333902"/>
          </a:xfrm>
          <a:prstGeom prst="rect">
            <a:avLst/>
          </a:prstGeom>
        </p:spPr>
      </p:pic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>
            <a:alphaModFix amt="80000"/>
          </a:blip>
          <a:srcRect l="0" r="0" t="25" b="25"/>
          <a:stretch/>
        </p:blipFill>
        <p:spPr>
          <a:xfrm>
            <a:off x="6349594" y="5713171"/>
            <a:ext cx="5591556" cy="3143707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13899794" y="381305"/>
            <a:ext cx="4009644" cy="571500"/>
          </a:xfrm>
          <a:prstGeom prst="roundRect">
            <a:avLst>
              <a:gd name="adj" fmla="val 21333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rcRect l="-133" r="-133" t="0" b="0"/>
          <a:stretch/>
        </p:blipFill>
        <p:spPr>
          <a:xfrm>
            <a:off x="14137538" y="562356"/>
            <a:ext cx="171907" cy="2286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4385341" y="495605"/>
            <a:ext cx="34582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Samsung 明日創新者大賽 2025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580644"/>
            <a:ext cx="768736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我的起點: VTC學生 × 10年乒乓球手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837944"/>
            <a:ext cx="8401507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作為VTC青年學院人工智能與機械人課程的二年級學生，我選擇「人機協作」這條路，不是為了創造下一個酷炫的科技產品，而是希望讓科技成為我靜靜練習時的夥伴。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3221431"/>
            <a:ext cx="8429854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練習乒乓球超過10年，我深深體會到沒有即時數據反饋的困境。每次揮拍後，總是「不知道哪裡出了問題」——是揮拍太急？角度偏差？還是身體沒有轉開？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1500" y="4229100"/>
            <a:ext cx="8287207" cy="1067105"/>
          </a:xfrm>
          <a:prstGeom prst="rect">
            <a:avLst/>
          </a:prstGeom>
          <a:solidFill>
            <a:srgbClr val="1F77D3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4229100"/>
            <a:ext cx="47549" cy="106710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9244" y="4420210"/>
            <a:ext cx="792510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痛點觸發：當教練要求我記錄每次正手攻擊的速度和角度時，我發現手機AI難以自動分析，分秒之間的落差讓我錯過了自我修正的最佳時機。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844430" y="571500"/>
            <a:ext cx="7457846" cy="2657246"/>
          </a:xfrm>
          <a:prstGeom prst="roundRect">
            <a:avLst>
              <a:gd name="adj" fmla="val 19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635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29723" y="857707"/>
            <a:ext cx="952805" cy="9528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320272" y="923544"/>
            <a:ext cx="26289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VTC青年學院學生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1320272" y="1447495"/>
            <a:ext cx="29434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人工智能與機械人課程 | 二年級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962742" y="2057400"/>
            <a:ext cx="9052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10+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13468198" y="2057400"/>
            <a:ext cx="48646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15659100" y="2057400"/>
            <a:ext cx="69585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3+</a:t>
            </a:r>
            <a:endParaRPr lang="en-US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10769803" y="2638044"/>
            <a:ext cx="11722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乒乓球年資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3166446" y="2638044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校隊年資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5462504" y="2638044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創客項目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939528" y="3972154"/>
            <a:ext cx="228600" cy="228600"/>
          </a:xfrm>
          <a:prstGeom prst="ellipse">
            <a:avLst/>
          </a:prstGeom>
          <a:solidFill>
            <a:srgbClr val="E53935"/>
          </a:solidFill>
          <a:ln w="50800">
            <a:solidFill>
              <a:srgbClr val="1F77D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939528" y="5076749"/>
            <a:ext cx="228600" cy="228600"/>
          </a:xfrm>
          <a:prstGeom prst="ellipse">
            <a:avLst/>
          </a:prstGeom>
          <a:solidFill>
            <a:srgbClr val="E53935"/>
          </a:solidFill>
          <a:ln w="50800">
            <a:solidFill>
              <a:srgbClr val="1F77D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939528" y="6181344"/>
            <a:ext cx="228600" cy="228600"/>
          </a:xfrm>
          <a:prstGeom prst="ellipse">
            <a:avLst/>
          </a:prstGeom>
          <a:solidFill>
            <a:srgbClr val="E53935"/>
          </a:solidFill>
          <a:ln w="50800">
            <a:solidFill>
              <a:srgbClr val="1F77D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511028" y="3895344"/>
            <a:ext cx="24003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學生階段 (2023-現在)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0511028" y="5000854"/>
            <a:ext cx="24003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球員階段 (2013-現在)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0511028" y="6105449"/>
            <a:ext cx="24003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創客階段 (2024-現在)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0511028" y="4315054"/>
            <a:ext cx="53913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VTC青年學院人工智能專業，專注研究穿戴式運動輔助裝置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0511028" y="5419649"/>
            <a:ext cx="48298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校隊成員，參與多次學界比賽，深感數據化訓練缺乏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0511028" y="6524244"/>
            <a:ext cx="54681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開發SmartRacket Coach，融合運動與科技，解決訓練難題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4052499" y="9734702"/>
            <a:ext cx="38011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2/43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485546"/>
            <a:ext cx="30961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訓練核心痛點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552651"/>
            <a:ext cx="81637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乒乓球訓練中，我們經常面臨這些挑戰，導致技術提升緩慢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1695" y="2572207"/>
            <a:ext cx="5400446" cy="2476195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128602" y="2572207"/>
            <a:ext cx="5400446" cy="2476195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45252" y="2809951"/>
            <a:ext cx="476402" cy="476402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68696" y="2933395"/>
            <a:ext cx="228600" cy="228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45606" y="2572207"/>
            <a:ext cx="5400446" cy="2476195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1128248" y="2809951"/>
            <a:ext cx="476402" cy="476402"/>
          </a:xfrm>
          <a:prstGeom prst="ellipse">
            <a:avLst/>
          </a:prstGeom>
          <a:solidFill>
            <a:srgbClr val="E53935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6811244" y="2809951"/>
            <a:ext cx="476402" cy="476402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47902" y="2857500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缺乏即時反饋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730898" y="2857500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主觀評估偏差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047902" y="3343046"/>
            <a:ext cx="49725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動作完成後難以立即獲得客觀評價，錯誤姿勢容易固化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730898" y="3343046"/>
            <a:ext cx="49725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自我感覺與實際表現差距大，難以準確評估動作品質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47902" y="4219956"/>
            <a:ext cx="4828946" cy="75895"/>
          </a:xfrm>
          <a:prstGeom prst="roundRect">
            <a:avLst>
              <a:gd name="adj" fmla="val 602411"/>
            </a:avLst>
          </a:prstGeom>
          <a:solidFill>
            <a:srgbClr val="EEEEEE"/>
          </a:solidFill>
          <a:ln/>
        </p:spPr>
      </p:sp>
      <p:sp>
        <p:nvSpPr>
          <p:cNvPr id="17" name="Shape 14"/>
          <p:cNvSpPr/>
          <p:nvPr/>
        </p:nvSpPr>
        <p:spPr>
          <a:xfrm>
            <a:off x="1047902" y="4219956"/>
            <a:ext cx="4343400" cy="75895"/>
          </a:xfrm>
          <a:prstGeom prst="roundRect">
            <a:avLst>
              <a:gd name="adj" fmla="val 602411"/>
            </a:avLst>
          </a:prstGeom>
          <a:solidFill>
            <a:srgbClr val="1F77D3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-80" r="-80" t="0" b="0"/>
          <a:stretch/>
        </p:blipFill>
        <p:spPr>
          <a:xfrm>
            <a:off x="11223346" y="2933395"/>
            <a:ext cx="286207" cy="2286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2413894" y="2857500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訓練效率低下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2413894" y="3343046"/>
            <a:ext cx="4743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重複練習相同錯誤，耗費大量時間卻進步有限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6730898" y="4219956"/>
            <a:ext cx="4828946" cy="75895"/>
          </a:xfrm>
          <a:prstGeom prst="roundRect">
            <a:avLst>
              <a:gd name="adj" fmla="val 602411"/>
            </a:avLst>
          </a:prstGeom>
          <a:solidFill>
            <a:srgbClr val="EEEEEE"/>
          </a:solidFill>
          <a:ln/>
        </p:spPr>
      </p:sp>
      <p:sp>
        <p:nvSpPr>
          <p:cNvPr id="22" name="Shape 18"/>
          <p:cNvSpPr/>
          <p:nvPr/>
        </p:nvSpPr>
        <p:spPr>
          <a:xfrm>
            <a:off x="12413894" y="3877056"/>
            <a:ext cx="4828946" cy="75895"/>
          </a:xfrm>
          <a:prstGeom prst="roundRect">
            <a:avLst>
              <a:gd name="adj" fmla="val 602411"/>
            </a:avLst>
          </a:prstGeom>
          <a:solidFill>
            <a:srgbClr val="EEEEEE"/>
          </a:solidFill>
          <a:ln/>
        </p:spPr>
      </p:sp>
      <p:sp>
        <p:nvSpPr>
          <p:cNvPr id="23" name="Shape 19"/>
          <p:cNvSpPr/>
          <p:nvPr/>
        </p:nvSpPr>
        <p:spPr>
          <a:xfrm>
            <a:off x="6730898" y="4219956"/>
            <a:ext cx="3866998" cy="75895"/>
          </a:xfrm>
          <a:prstGeom prst="roundRect">
            <a:avLst>
              <a:gd name="adj" fmla="val 602411"/>
            </a:avLst>
          </a:prstGeom>
          <a:solidFill>
            <a:srgbClr val="E53935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-133" r="-133" t="0" b="0"/>
          <a:stretch/>
        </p:blipFill>
        <p:spPr>
          <a:xfrm>
            <a:off x="16963949" y="2933395"/>
            <a:ext cx="171907" cy="2286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12413894" y="3877056"/>
            <a:ext cx="3143707" cy="75895"/>
          </a:xfrm>
          <a:prstGeom prst="roundRect">
            <a:avLst>
              <a:gd name="adj" fmla="val 602411"/>
            </a:avLst>
          </a:prstGeom>
          <a:solidFill>
            <a:srgbClr val="1F77D3"/>
          </a:solidFill>
          <a:ln/>
        </p:spPr>
      </p:sp>
      <p:sp>
        <p:nvSpPr>
          <p:cNvPr id="26" name="Shape 21"/>
          <p:cNvSpPr/>
          <p:nvPr/>
        </p:nvSpPr>
        <p:spPr>
          <a:xfrm>
            <a:off x="761695" y="5333695"/>
            <a:ext cx="8238744" cy="2476195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287207" y="5572354"/>
            <a:ext cx="476402" cy="476402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410651" y="5695798"/>
            <a:ext cx="228600" cy="22860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286646" y="5333695"/>
            <a:ext cx="8238744" cy="2476195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6811244" y="5572354"/>
            <a:ext cx="476402" cy="476402"/>
          </a:xfrm>
          <a:prstGeom prst="ellipse">
            <a:avLst/>
          </a:prstGeom>
          <a:solidFill>
            <a:srgbClr val="E53935">
              <a:alpha val="10000"/>
            </a:srgbClr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1047902" y="5619902"/>
            <a:ext cx="1772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進步曲線不明顯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9572854" y="5619902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教練資源稀缺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1047902" y="6105449"/>
            <a:ext cx="5201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缺乏客觀數據跟蹤，無法量化技術提升和表現趨勢</a:t>
            </a:r>
            <a:endParaRPr lang="en-US" sz="1800" dirty="0"/>
          </a:p>
        </p:txBody>
      </p:sp>
      <p:sp>
        <p:nvSpPr>
          <p:cNvPr id="34" name="Shape 28"/>
          <p:cNvSpPr/>
          <p:nvPr/>
        </p:nvSpPr>
        <p:spPr>
          <a:xfrm>
            <a:off x="1047902" y="6638544"/>
            <a:ext cx="7667244" cy="75895"/>
          </a:xfrm>
          <a:prstGeom prst="roundRect">
            <a:avLst>
              <a:gd name="adj" fmla="val 602411"/>
            </a:avLst>
          </a:prstGeom>
          <a:solidFill>
            <a:srgbClr val="EEEEEE"/>
          </a:solidFill>
          <a:ln/>
        </p:spPr>
      </p:sp>
      <p:sp>
        <p:nvSpPr>
          <p:cNvPr id="35" name="Shape 29"/>
          <p:cNvSpPr/>
          <p:nvPr/>
        </p:nvSpPr>
        <p:spPr>
          <a:xfrm>
            <a:off x="1047902" y="6638544"/>
            <a:ext cx="3838651" cy="75895"/>
          </a:xfrm>
          <a:prstGeom prst="roundRect">
            <a:avLst>
              <a:gd name="adj" fmla="val 602411"/>
            </a:avLst>
          </a:prstGeom>
          <a:solidFill>
            <a:srgbClr val="1F77D3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rcRect l="-57" r="-57" t="0" b="0"/>
          <a:stretch/>
        </p:blipFill>
        <p:spPr>
          <a:xfrm>
            <a:off x="16949318" y="5695798"/>
            <a:ext cx="200254" cy="22860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572854" y="6105449"/>
            <a:ext cx="5429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專業指導成本高昂，大眾球友難以持續獲得專業輔導</a:t>
            </a:r>
            <a:endParaRPr lang="en-US" sz="1800" dirty="0"/>
          </a:p>
        </p:txBody>
      </p:sp>
      <p:sp>
        <p:nvSpPr>
          <p:cNvPr id="38" name="Shape 31"/>
          <p:cNvSpPr/>
          <p:nvPr/>
        </p:nvSpPr>
        <p:spPr>
          <a:xfrm>
            <a:off x="9572854" y="6638544"/>
            <a:ext cx="7667244" cy="75895"/>
          </a:xfrm>
          <a:prstGeom prst="roundRect">
            <a:avLst>
              <a:gd name="adj" fmla="val 602411"/>
            </a:avLst>
          </a:prstGeom>
          <a:solidFill>
            <a:srgbClr val="EEEEEE"/>
          </a:solidFill>
          <a:ln/>
        </p:spPr>
      </p:sp>
      <p:sp>
        <p:nvSpPr>
          <p:cNvPr id="39" name="Shape 32"/>
          <p:cNvSpPr/>
          <p:nvPr/>
        </p:nvSpPr>
        <p:spPr>
          <a:xfrm>
            <a:off x="9572854" y="6638544"/>
            <a:ext cx="6905549" cy="75895"/>
          </a:xfrm>
          <a:prstGeom prst="roundRect">
            <a:avLst>
              <a:gd name="adj" fmla="val 602411"/>
            </a:avLst>
          </a:prstGeom>
          <a:solidFill>
            <a:srgbClr val="E53935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61695" y="9677095"/>
            <a:ext cx="228600" cy="22860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067105" y="9610344"/>
            <a:ext cx="44961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技術提升瓶頸 • 數據缺失 • 輔導資源有限</a:t>
            </a:r>
            <a:endParaRPr lang="en-US" sz="1800" dirty="0"/>
          </a:p>
        </p:txBody>
      </p:sp>
      <p:sp>
        <p:nvSpPr>
          <p:cNvPr id="42" name="Text 34"/>
          <p:cNvSpPr txBox="1"/>
          <p:nvPr/>
        </p:nvSpPr>
        <p:spPr>
          <a:xfrm>
            <a:off x="13337438" y="9610344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3/43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580644"/>
            <a:ext cx="46104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靈感時刻:讓球拍說話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837944"/>
            <a:ext cx="8401507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每次揮拍後，我總是在思考：為什麼打了十年球，技術進步卻如此緩慢？無數次練習後，我仍然不確定自己的技術是否有所提升。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2855671"/>
            <a:ext cx="8401507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直到我意識到了關鍵問題：在揮拍的那一瞬間，我們最需要知道的是「這一拍做得怎麼樣？」，但沒有即時反饋，只能靠模糊的感覺來判斷。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73398"/>
            <a:ext cx="8401507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如果球拍能夠「說話」，在我每次揮拍後立即告訴我：「這一拍角度太小」、「力量不足」、「轉腰不到位」...那麼我的進步速度會有多快？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71500" y="4881067"/>
            <a:ext cx="8287207" cy="1067105"/>
          </a:xfrm>
          <a:prstGeom prst="rect">
            <a:avLst/>
          </a:prstGeom>
          <a:solidFill>
            <a:srgbClr val="1F77D3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4881067"/>
            <a:ext cx="47549" cy="106710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9244" y="5071262"/>
            <a:ext cx="77157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突破時刻：當我想象球拍能夠「語言化」我的每一次揮拍時，SmartRacket Coach的概念應運而生——讓數據成為教練，讓科技賦予球拍語言。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1500" y="6281014"/>
            <a:ext cx="8287207" cy="1524305"/>
          </a:xfrm>
          <a:prstGeom prst="roundRect">
            <a:avLst>
              <a:gd name="adj" fmla="val 4499"/>
            </a:avLst>
          </a:prstGeom>
          <a:solidFill>
            <a:srgbClr val="E53935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" y="6281014"/>
            <a:ext cx="47549" cy="1524305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" y="6576365"/>
            <a:ext cx="7316114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如果我的球拍能告訴我哪裡出了問題，十年的練習或許只需三年。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844430" y="571500"/>
            <a:ext cx="7457846" cy="7324344"/>
          </a:xfrm>
          <a:prstGeom prst="roundRect">
            <a:avLst>
              <a:gd name="adj" fmla="val 2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635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2316054" y="866851"/>
            <a:ext cx="27249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從困惑到啟發的旅程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129723" y="1475842"/>
            <a:ext cx="6886346" cy="2286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 w="25400">
            <a:solidFill>
              <a:srgbClr val="1F77D3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5" b="-25"/>
          <a:stretch/>
        </p:blipFill>
        <p:spPr>
          <a:xfrm>
            <a:off x="13344754" y="2314346"/>
            <a:ext cx="457200" cy="609905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0224821" y="4076395"/>
            <a:ext cx="228600" cy="228600"/>
          </a:xfrm>
          <a:prstGeom prst="ellipse">
            <a:avLst/>
          </a:prstGeom>
          <a:solidFill>
            <a:srgbClr val="E53935"/>
          </a:solidFill>
          <a:ln w="50800">
            <a:solidFill>
              <a:srgbClr val="1F77D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224821" y="5038344"/>
            <a:ext cx="228600" cy="228600"/>
          </a:xfrm>
          <a:prstGeom prst="ellipse">
            <a:avLst/>
          </a:prstGeom>
          <a:solidFill>
            <a:srgbClr val="E53935"/>
          </a:solidFill>
          <a:ln w="50800">
            <a:solidFill>
              <a:srgbClr val="1F77D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224821" y="6000293"/>
            <a:ext cx="228600" cy="228600"/>
          </a:xfrm>
          <a:prstGeom prst="ellipse">
            <a:avLst/>
          </a:prstGeom>
          <a:solidFill>
            <a:srgbClr val="E53935"/>
          </a:solidFill>
          <a:ln w="50800">
            <a:solidFill>
              <a:srgbClr val="1F77D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224821" y="6962242"/>
            <a:ext cx="228600" cy="228600"/>
          </a:xfrm>
          <a:prstGeom prst="ellipse">
            <a:avLst/>
          </a:prstGeom>
          <a:solidFill>
            <a:srgbClr val="E53935"/>
          </a:solidFill>
          <a:ln w="50800">
            <a:solidFill>
              <a:srgbClr val="1F77D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796321" y="4000500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十年困惑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0796321" y="4962449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發現瓶頸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0796321" y="5924398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想象突破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0796321" y="6886346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創新誕生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0796321" y="4419295"/>
            <a:ext cx="50292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大量練習，卻看不到明顯進步，始終不知問題出在哪裡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0796321" y="5381244"/>
            <a:ext cx="44202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意識到缺乏「即時反饋」是技術提升的最大障礙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0796321" y="6343193"/>
            <a:ext cx="49341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如果球拍能夠「說話」，告訴我每次揮拍的質量和問題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0796321" y="7305142"/>
            <a:ext cx="58677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Coach概念形成：用傳感器讓球拍收集數據並反饋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4052499" y="9734702"/>
            <a:ext cx="38011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4/43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580644"/>
            <a:ext cx="53821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設計目標與人機協作理念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647749"/>
            <a:ext cx="89446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的設計目標是打造人機協作的訓練輔助系統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1695" y="2857500"/>
            <a:ext cx="8191195" cy="28575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96098" y="3143707"/>
            <a:ext cx="571500" cy="571500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48802" y="3295498"/>
            <a:ext cx="267005" cy="2670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334195" y="2857500"/>
            <a:ext cx="8191195" cy="28575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1695" y="6096305"/>
            <a:ext cx="8191195" cy="28575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334195" y="6096305"/>
            <a:ext cx="8191195" cy="28575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6668598" y="3143707"/>
            <a:ext cx="571500" cy="571500"/>
          </a:xfrm>
          <a:prstGeom prst="ellipse">
            <a:avLst/>
          </a:prstGeom>
          <a:solidFill>
            <a:srgbClr val="E53935">
              <a:alpha val="1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096098" y="6381598"/>
            <a:ext cx="571500" cy="571500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6668598" y="6381598"/>
            <a:ext cx="571500" cy="571500"/>
          </a:xfrm>
          <a:prstGeom prst="ellipse">
            <a:avLst/>
          </a:prstGeom>
          <a:solidFill>
            <a:srgbClr val="E53935">
              <a:alpha val="10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43000" y="3238805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即時量化反饋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715500" y="3238805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可負擔性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9715500" y="6476695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輔助而非替代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3933749"/>
            <a:ext cx="24295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&lt;50ms</a:t>
            </a:r>
            <a:endParaRPr lang="en-US" sz="4800" dirty="0"/>
          </a:p>
        </p:txBody>
      </p:sp>
      <p:sp>
        <p:nvSpPr>
          <p:cNvPr id="18" name="Text 15"/>
          <p:cNvSpPr txBox="1"/>
          <p:nvPr/>
        </p:nvSpPr>
        <p:spPr>
          <a:xfrm>
            <a:off x="9715500" y="3933749"/>
            <a:ext cx="31245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&lt;200港元</a:t>
            </a:r>
            <a:endParaRPr lang="en-US" sz="48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4972507"/>
            <a:ext cx="5658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每次揮拍後立即提供反饋，確保動作記憶最佳矯正時機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715500" y="4972507"/>
            <a:ext cx="4743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硬體成本控制，讓精英級訓練分析技術普及化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143000" y="5315407"/>
            <a:ext cx="7429500" cy="19202"/>
          </a:xfrm>
          <a:prstGeom prst="roundRect">
            <a:avLst>
              <a:gd name="adj" fmla="val 4762004"/>
            </a:avLst>
          </a:prstGeom>
          <a:solidFill>
            <a:srgbClr val="EEEEEE"/>
          </a:solidFill>
          <a:ln/>
        </p:spPr>
      </p:sp>
      <p:sp>
        <p:nvSpPr>
          <p:cNvPr id="22" name="Shape 19"/>
          <p:cNvSpPr/>
          <p:nvPr/>
        </p:nvSpPr>
        <p:spPr>
          <a:xfrm>
            <a:off x="1143000" y="5315407"/>
            <a:ext cx="7058254" cy="19202"/>
          </a:xfrm>
          <a:prstGeom prst="roundRect">
            <a:avLst>
              <a:gd name="adj" fmla="val 4762004"/>
            </a:avLst>
          </a:prstGeom>
          <a:solidFill>
            <a:srgbClr val="1F77D3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821302" y="3295498"/>
            <a:ext cx="267005" cy="26700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143000" y="6476695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隱私優先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1143000" y="7172554"/>
            <a:ext cx="212415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100%</a:t>
            </a:r>
            <a:endParaRPr lang="en-US" sz="4800" dirty="0"/>
          </a:p>
        </p:txBody>
      </p:sp>
      <p:sp>
        <p:nvSpPr>
          <p:cNvPr id="26" name="Text 22"/>
          <p:cNvSpPr txBox="1"/>
          <p:nvPr/>
        </p:nvSpPr>
        <p:spPr>
          <a:xfrm>
            <a:off x="9715500" y="7172554"/>
            <a:ext cx="28959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人機協作</a:t>
            </a:r>
            <a:endParaRPr lang="en-US" sz="4800" dirty="0"/>
          </a:p>
        </p:txBody>
      </p:sp>
      <p:sp>
        <p:nvSpPr>
          <p:cNvPr id="27" name="Text 23"/>
          <p:cNvSpPr txBox="1"/>
          <p:nvPr/>
        </p:nvSpPr>
        <p:spPr>
          <a:xfrm>
            <a:off x="1143000" y="8210398"/>
            <a:ext cx="5201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本地邊緣計算，無需雲端連線，保護用戶訓練數據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9715500" y="5315407"/>
            <a:ext cx="7429500" cy="19202"/>
          </a:xfrm>
          <a:prstGeom prst="roundRect">
            <a:avLst>
              <a:gd name="adj" fmla="val 4762004"/>
            </a:avLst>
          </a:prstGeom>
          <a:solidFill>
            <a:srgbClr val="EEEEEE"/>
          </a:solidFill>
          <a:ln/>
        </p:spPr>
      </p:sp>
      <p:sp>
        <p:nvSpPr>
          <p:cNvPr id="29" name="Shape 25"/>
          <p:cNvSpPr/>
          <p:nvPr/>
        </p:nvSpPr>
        <p:spPr>
          <a:xfrm>
            <a:off x="1143000" y="8553298"/>
            <a:ext cx="7429500" cy="19202"/>
          </a:xfrm>
          <a:prstGeom prst="roundRect">
            <a:avLst>
              <a:gd name="adj" fmla="val 4762004"/>
            </a:avLst>
          </a:prstGeom>
          <a:solidFill>
            <a:srgbClr val="EEEEEE"/>
          </a:solidFill>
          <a:ln/>
        </p:spPr>
      </p:sp>
      <p:sp>
        <p:nvSpPr>
          <p:cNvPr id="30" name="Shape 26"/>
          <p:cNvSpPr/>
          <p:nvPr/>
        </p:nvSpPr>
        <p:spPr>
          <a:xfrm>
            <a:off x="9715500" y="5315407"/>
            <a:ext cx="6314846" cy="19202"/>
          </a:xfrm>
          <a:prstGeom prst="roundRect">
            <a:avLst>
              <a:gd name="adj" fmla="val 4762004"/>
            </a:avLst>
          </a:prstGeom>
          <a:solidFill>
            <a:srgbClr val="E53935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48802" y="6534302"/>
            <a:ext cx="267005" cy="267005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9715500" y="8553298"/>
            <a:ext cx="7429500" cy="19202"/>
          </a:xfrm>
          <a:prstGeom prst="roundRect">
            <a:avLst>
              <a:gd name="adj" fmla="val 4762004"/>
            </a:avLst>
          </a:prstGeom>
          <a:solidFill>
            <a:srgbClr val="EEEEEE"/>
          </a:solidFill>
          <a:ln/>
        </p:spPr>
      </p:sp>
      <p:sp>
        <p:nvSpPr>
          <p:cNvPr id="33" name="Shape 28"/>
          <p:cNvSpPr/>
          <p:nvPr/>
        </p:nvSpPr>
        <p:spPr>
          <a:xfrm>
            <a:off x="1143000" y="8553298"/>
            <a:ext cx="6687007" cy="19202"/>
          </a:xfrm>
          <a:prstGeom prst="roundRect">
            <a:avLst>
              <a:gd name="adj" fmla="val 4762004"/>
            </a:avLst>
          </a:prstGeom>
          <a:solidFill>
            <a:srgbClr val="1F77D3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787470" y="6534302"/>
            <a:ext cx="333756" cy="267005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9715500" y="8210398"/>
            <a:ext cx="58677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強化教練與學員互動，AI輔助決策而非完全替代人類判斷</a:t>
            </a:r>
            <a:endParaRPr lang="en-US" sz="1800" dirty="0"/>
          </a:p>
        </p:txBody>
      </p:sp>
      <p:sp>
        <p:nvSpPr>
          <p:cNvPr id="36" name="Shape 30"/>
          <p:cNvSpPr/>
          <p:nvPr/>
        </p:nvSpPr>
        <p:spPr>
          <a:xfrm>
            <a:off x="9715500" y="8553298"/>
            <a:ext cx="5943600" cy="19202"/>
          </a:xfrm>
          <a:prstGeom prst="roundRect">
            <a:avLst>
              <a:gd name="adj" fmla="val 4762004"/>
            </a:avLst>
          </a:prstGeom>
          <a:solidFill>
            <a:srgbClr val="E53935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rcRect l="-133" r="-133" t="0" b="0"/>
          <a:stretch/>
        </p:blipFill>
        <p:spPr>
          <a:xfrm>
            <a:off x="761695" y="9629546"/>
            <a:ext cx="171907" cy="22860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009498" y="9562795"/>
            <a:ext cx="35817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數據輔助 • 隱私優先 • 觸手可及</a:t>
            </a:r>
            <a:endParaRPr lang="en-US" sz="1800" dirty="0"/>
          </a:p>
        </p:txBody>
      </p:sp>
      <p:sp>
        <p:nvSpPr>
          <p:cNvPr id="39" name="Text 32"/>
          <p:cNvSpPr txBox="1"/>
          <p:nvPr/>
        </p:nvSpPr>
        <p:spPr>
          <a:xfrm>
            <a:off x="13337438" y="9562795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5/43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580644"/>
            <a:ext cx="49249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技術出發點與普惠動機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647749"/>
            <a:ext cx="51151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讓高科技訓練輔助工具不再遙不可及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1695" y="2857500"/>
            <a:ext cx="8191195" cy="28575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96098" y="3143707"/>
            <a:ext cx="571500" cy="571500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14970" y="3295498"/>
            <a:ext cx="333756" cy="2670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334195" y="2857500"/>
            <a:ext cx="8191195" cy="28575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1695" y="6096305"/>
            <a:ext cx="8191195" cy="28575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334195" y="6096305"/>
            <a:ext cx="8191195" cy="28575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6668598" y="3143707"/>
            <a:ext cx="571500" cy="571500"/>
          </a:xfrm>
          <a:prstGeom prst="ellipse">
            <a:avLst/>
          </a:prstGeom>
          <a:solidFill>
            <a:srgbClr val="E53935">
              <a:alpha val="1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096098" y="6381598"/>
            <a:ext cx="571500" cy="571500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6668598" y="6381598"/>
            <a:ext cx="571500" cy="571500"/>
          </a:xfrm>
          <a:prstGeom prst="ellipse">
            <a:avLst/>
          </a:prstGeom>
          <a:solidFill>
            <a:srgbClr val="E53935">
              <a:alpha val="10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43000" y="3238805"/>
            <a:ext cx="1772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全球乒乓愛好者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715500" y="3238805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單套硬體成本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9715500" y="6476695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主動模式續航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3933749"/>
            <a:ext cx="1429207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3億</a:t>
            </a:r>
            <a:endParaRPr lang="en-US" sz="4800" dirty="0"/>
          </a:p>
        </p:txBody>
      </p:sp>
      <p:sp>
        <p:nvSpPr>
          <p:cNvPr id="18" name="Text 15"/>
          <p:cNvSpPr txBox="1"/>
          <p:nvPr/>
        </p:nvSpPr>
        <p:spPr>
          <a:xfrm>
            <a:off x="9715500" y="3933749"/>
            <a:ext cx="27624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170港元</a:t>
            </a:r>
            <a:endParaRPr lang="en-US" sz="48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4972507"/>
            <a:ext cx="4743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多數人無法負擔高端訓練設備和長期教練指導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715500" y="4972507"/>
            <a:ext cx="49816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與市面同類產品相比，成本降低85%，普惠定價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143000" y="5315407"/>
            <a:ext cx="7429500" cy="19202"/>
          </a:xfrm>
          <a:prstGeom prst="roundRect">
            <a:avLst>
              <a:gd name="adj" fmla="val 4762004"/>
            </a:avLst>
          </a:prstGeom>
          <a:solidFill>
            <a:srgbClr val="EEEEEE"/>
          </a:solidFill>
          <a:ln/>
        </p:spPr>
      </p:sp>
      <p:sp>
        <p:nvSpPr>
          <p:cNvPr id="22" name="Shape 19"/>
          <p:cNvSpPr/>
          <p:nvPr/>
        </p:nvSpPr>
        <p:spPr>
          <a:xfrm>
            <a:off x="1143000" y="5315407"/>
            <a:ext cx="5943600" cy="19202"/>
          </a:xfrm>
          <a:prstGeom prst="roundRect">
            <a:avLst>
              <a:gd name="adj" fmla="val 4762004"/>
            </a:avLst>
          </a:prstGeom>
          <a:solidFill>
            <a:srgbClr val="1F77D3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821302" y="3295498"/>
            <a:ext cx="267005" cy="26700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143000" y="6476695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數據延遲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1143000" y="7172554"/>
            <a:ext cx="24295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&lt;50ms</a:t>
            </a:r>
            <a:endParaRPr lang="en-US" sz="4800" dirty="0"/>
          </a:p>
        </p:txBody>
      </p:sp>
      <p:sp>
        <p:nvSpPr>
          <p:cNvPr id="26" name="Text 22"/>
          <p:cNvSpPr txBox="1"/>
          <p:nvPr/>
        </p:nvSpPr>
        <p:spPr>
          <a:xfrm>
            <a:off x="9715500" y="7172554"/>
            <a:ext cx="24003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15小時</a:t>
            </a:r>
            <a:endParaRPr lang="en-US" sz="4800" dirty="0"/>
          </a:p>
        </p:txBody>
      </p:sp>
      <p:sp>
        <p:nvSpPr>
          <p:cNvPr id="27" name="Text 23"/>
          <p:cNvSpPr txBox="1"/>
          <p:nvPr/>
        </p:nvSpPr>
        <p:spPr>
          <a:xfrm>
            <a:off x="1143000" y="8210398"/>
            <a:ext cx="4515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超低延遲即時反饋，確保動作矯正最佳時機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9715500" y="5315407"/>
            <a:ext cx="7429500" cy="19202"/>
          </a:xfrm>
          <a:prstGeom prst="roundRect">
            <a:avLst>
              <a:gd name="adj" fmla="val 4762004"/>
            </a:avLst>
          </a:prstGeom>
          <a:solidFill>
            <a:srgbClr val="EEEEEE"/>
          </a:solidFill>
          <a:ln/>
        </p:spPr>
      </p:sp>
      <p:sp>
        <p:nvSpPr>
          <p:cNvPr id="29" name="Shape 25"/>
          <p:cNvSpPr/>
          <p:nvPr/>
        </p:nvSpPr>
        <p:spPr>
          <a:xfrm>
            <a:off x="1143000" y="8553298"/>
            <a:ext cx="7429500" cy="19202"/>
          </a:xfrm>
          <a:prstGeom prst="roundRect">
            <a:avLst>
              <a:gd name="adj" fmla="val 4762004"/>
            </a:avLst>
          </a:prstGeom>
          <a:solidFill>
            <a:srgbClr val="EEEEEE"/>
          </a:solidFill>
          <a:ln/>
        </p:spPr>
      </p:sp>
      <p:sp>
        <p:nvSpPr>
          <p:cNvPr id="30" name="Shape 26"/>
          <p:cNvSpPr/>
          <p:nvPr/>
        </p:nvSpPr>
        <p:spPr>
          <a:xfrm>
            <a:off x="9715500" y="5315407"/>
            <a:ext cx="2971800" cy="19202"/>
          </a:xfrm>
          <a:prstGeom prst="roundRect">
            <a:avLst>
              <a:gd name="adj" fmla="val 4762004"/>
            </a:avLst>
          </a:prstGeom>
          <a:solidFill>
            <a:srgbClr val="E53935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rcRect l="-881" r="-881" t="0" b="0"/>
          <a:stretch/>
        </p:blipFill>
        <p:spPr>
          <a:xfrm>
            <a:off x="8262518" y="6534302"/>
            <a:ext cx="237744" cy="267005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9715500" y="8553298"/>
            <a:ext cx="7429500" cy="19202"/>
          </a:xfrm>
          <a:prstGeom prst="roundRect">
            <a:avLst>
              <a:gd name="adj" fmla="val 4762004"/>
            </a:avLst>
          </a:prstGeom>
          <a:solidFill>
            <a:srgbClr val="EEEEEE"/>
          </a:solidFill>
          <a:ln/>
        </p:spPr>
      </p:sp>
      <p:sp>
        <p:nvSpPr>
          <p:cNvPr id="33" name="Shape 28"/>
          <p:cNvSpPr/>
          <p:nvPr/>
        </p:nvSpPr>
        <p:spPr>
          <a:xfrm>
            <a:off x="1143000" y="8553298"/>
            <a:ext cx="7058254" cy="19202"/>
          </a:xfrm>
          <a:prstGeom prst="roundRect">
            <a:avLst>
              <a:gd name="adj" fmla="val 4762004"/>
            </a:avLst>
          </a:prstGeom>
          <a:solidFill>
            <a:srgbClr val="1F77D3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rcRect l="-685" r="-685" t="0" b="0"/>
          <a:stretch/>
        </p:blipFill>
        <p:spPr>
          <a:xfrm>
            <a:off x="16802100" y="6534302"/>
            <a:ext cx="304495" cy="267005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9715500" y="8210398"/>
            <a:ext cx="4743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智能電源管理系統，單次充電可持續多天訓練</a:t>
            </a:r>
            <a:endParaRPr lang="en-US" sz="1800" dirty="0"/>
          </a:p>
        </p:txBody>
      </p:sp>
      <p:sp>
        <p:nvSpPr>
          <p:cNvPr id="36" name="Shape 30"/>
          <p:cNvSpPr/>
          <p:nvPr/>
        </p:nvSpPr>
        <p:spPr>
          <a:xfrm>
            <a:off x="9715500" y="8553298"/>
            <a:ext cx="5572354" cy="19202"/>
          </a:xfrm>
          <a:prstGeom prst="roundRect">
            <a:avLst>
              <a:gd name="adj" fmla="val 4762004"/>
            </a:avLst>
          </a:prstGeom>
          <a:solidFill>
            <a:srgbClr val="E53935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61695" y="9629546"/>
            <a:ext cx="228600" cy="22860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067105" y="9562795"/>
            <a:ext cx="35817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普惠科技 • 資料驅動 • 人機協作</a:t>
            </a:r>
            <a:endParaRPr lang="en-US" sz="1800" dirty="0"/>
          </a:p>
        </p:txBody>
      </p:sp>
      <p:sp>
        <p:nvSpPr>
          <p:cNvPr id="39" name="Text 32"/>
          <p:cNvSpPr txBox="1"/>
          <p:nvPr/>
        </p:nvSpPr>
        <p:spPr>
          <a:xfrm>
            <a:off x="13337438" y="9562795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6/43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76402" y="390449"/>
            <a:ext cx="40105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三種架構方案對比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76402" y="1285646"/>
            <a:ext cx="77541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在數據精度、隱私、環境依賴與成本四維度評估不同技術方案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76402" y="1943100"/>
            <a:ext cx="5686654" cy="1933956"/>
          </a:xfrm>
          <a:prstGeom prst="rect">
            <a:avLst/>
          </a:prstGeom>
          <a:solidFill>
            <a:srgbClr val="808080">
              <a:alpha val="1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46450" y="2257654"/>
            <a:ext cx="3429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479853" y="2885846"/>
            <a:ext cx="1886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手機視覺系統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2060143" y="3362249"/>
            <a:ext cx="2686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>
                    <a:alpha val="8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基於影像辨識的動作分析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76402" y="3876142"/>
            <a:ext cx="5686654" cy="44485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7395" y="41148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2007" y="4048049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數據精度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72007" y="5074006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隱私問題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972007" y="6099962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環境依賴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29107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5" name="Shape 11"/>
          <p:cNvSpPr/>
          <p:nvPr/>
        </p:nvSpPr>
        <p:spPr>
          <a:xfrm>
            <a:off x="838505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6" name="Shape 12"/>
          <p:cNvSpPr/>
          <p:nvPr/>
        </p:nvSpPr>
        <p:spPr>
          <a:xfrm>
            <a:off x="1047902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7" name="Shape 13"/>
          <p:cNvSpPr/>
          <p:nvPr/>
        </p:nvSpPr>
        <p:spPr>
          <a:xfrm>
            <a:off x="1257300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8" name="Shape 14"/>
          <p:cNvSpPr/>
          <p:nvPr/>
        </p:nvSpPr>
        <p:spPr>
          <a:xfrm>
            <a:off x="629107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9" name="Shape 15"/>
          <p:cNvSpPr/>
          <p:nvPr/>
        </p:nvSpPr>
        <p:spPr>
          <a:xfrm>
            <a:off x="629107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" name="Shape 16"/>
          <p:cNvSpPr/>
          <p:nvPr/>
        </p:nvSpPr>
        <p:spPr>
          <a:xfrm>
            <a:off x="1466698" y="4447642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21" name="Shape 17"/>
          <p:cNvSpPr/>
          <p:nvPr/>
        </p:nvSpPr>
        <p:spPr>
          <a:xfrm>
            <a:off x="838505" y="5473598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22" name="Shape 18"/>
          <p:cNvSpPr/>
          <p:nvPr/>
        </p:nvSpPr>
        <p:spPr>
          <a:xfrm>
            <a:off x="1047902" y="5473598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23" name="Shape 19"/>
          <p:cNvSpPr/>
          <p:nvPr/>
        </p:nvSpPr>
        <p:spPr>
          <a:xfrm>
            <a:off x="1257300" y="5473598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24" name="Shape 20"/>
          <p:cNvSpPr/>
          <p:nvPr/>
        </p:nvSpPr>
        <p:spPr>
          <a:xfrm>
            <a:off x="1466698" y="5473598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25" name="Shape 21"/>
          <p:cNvSpPr/>
          <p:nvPr/>
        </p:nvSpPr>
        <p:spPr>
          <a:xfrm>
            <a:off x="1466698" y="6500470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29107" y="4619549"/>
            <a:ext cx="3200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可捕捉全身動作，但易受環境干擾</a:t>
            </a:r>
            <a:endParaRPr lang="en-US" sz="15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rcRect l="-80" r="-80" t="0" b="0"/>
          <a:stretch/>
        </p:blipFill>
        <p:spPr>
          <a:xfrm>
            <a:off x="629107" y="5140757"/>
            <a:ext cx="286207" cy="22860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1047902" y="6500470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29" name="Shape 24"/>
          <p:cNvSpPr/>
          <p:nvPr/>
        </p:nvSpPr>
        <p:spPr>
          <a:xfrm>
            <a:off x="1257300" y="6500470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29107" y="5645506"/>
            <a:ext cx="25914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需要錄影存儲，隱私風險高</a:t>
            </a:r>
            <a:endParaRPr lang="en-US" sz="15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rcRect l="-133" r="-133" t="0" b="0"/>
          <a:stretch/>
        </p:blipFill>
        <p:spPr>
          <a:xfrm>
            <a:off x="676656" y="6166714"/>
            <a:ext cx="171907" cy="22860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838505" y="6500470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629107" y="6671462"/>
            <a:ext cx="25914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依賴光線、背景、架設位置</a:t>
            </a:r>
            <a:endParaRPr lang="en-US" sz="15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690372" y="7192670"/>
            <a:ext cx="142646" cy="2286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72007" y="7125919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成本因素</a:t>
            </a:r>
            <a:endParaRPr lang="en-US" sz="1800" dirty="0"/>
          </a:p>
        </p:txBody>
      </p:sp>
      <p:sp>
        <p:nvSpPr>
          <p:cNvPr id="36" name="Shape 29"/>
          <p:cNvSpPr/>
          <p:nvPr/>
        </p:nvSpPr>
        <p:spPr>
          <a:xfrm>
            <a:off x="629107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7" name="Shape 30"/>
          <p:cNvSpPr/>
          <p:nvPr/>
        </p:nvSpPr>
        <p:spPr>
          <a:xfrm>
            <a:off x="838505" y="7526426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38" name="Shape 31"/>
          <p:cNvSpPr/>
          <p:nvPr/>
        </p:nvSpPr>
        <p:spPr>
          <a:xfrm>
            <a:off x="1047902" y="7526426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39" name="Shape 32"/>
          <p:cNvSpPr/>
          <p:nvPr/>
        </p:nvSpPr>
        <p:spPr>
          <a:xfrm>
            <a:off x="1257300" y="7526426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40" name="Shape 33"/>
          <p:cNvSpPr/>
          <p:nvPr/>
        </p:nvSpPr>
        <p:spPr>
          <a:xfrm>
            <a:off x="1466698" y="7526426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629107" y="7697419"/>
            <a:ext cx="30010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需專業相機與雲端算力，成本高</a:t>
            </a:r>
            <a:endParaRPr lang="en-US" sz="1500" dirty="0"/>
          </a:p>
        </p:txBody>
      </p:sp>
      <p:sp>
        <p:nvSpPr>
          <p:cNvPr id="42" name="Shape 35"/>
          <p:cNvSpPr/>
          <p:nvPr/>
        </p:nvSpPr>
        <p:spPr>
          <a:xfrm>
            <a:off x="476402" y="8323783"/>
            <a:ext cx="5686654" cy="5715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3" name="Text 36"/>
          <p:cNvSpPr txBox="1"/>
          <p:nvPr/>
        </p:nvSpPr>
        <p:spPr>
          <a:xfrm>
            <a:off x="2631643" y="8438083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需要理想環境</a:t>
            </a:r>
            <a:endParaRPr lang="en-US" sz="1800" dirty="0"/>
          </a:p>
        </p:txBody>
      </p:sp>
      <p:sp>
        <p:nvSpPr>
          <p:cNvPr id="44" name="Shape 37"/>
          <p:cNvSpPr/>
          <p:nvPr/>
        </p:nvSpPr>
        <p:spPr>
          <a:xfrm>
            <a:off x="6302045" y="1943100"/>
            <a:ext cx="5686654" cy="1933956"/>
          </a:xfrm>
          <a:prstGeom prst="rect">
            <a:avLst/>
          </a:prstGeom>
          <a:solidFill>
            <a:srgbClr val="1F77D3">
              <a:alpha val="10000"/>
            </a:srgbClr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8595360" y="2885846"/>
            <a:ext cx="13149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手腕IMU</a:t>
            </a:r>
            <a:endParaRPr lang="en-US" sz="2100" dirty="0"/>
          </a:p>
        </p:txBody>
      </p:sp>
      <p:sp>
        <p:nvSpPr>
          <p:cNvPr id="46" name="Text 39"/>
          <p:cNvSpPr txBox="1"/>
          <p:nvPr/>
        </p:nvSpPr>
        <p:spPr>
          <a:xfrm>
            <a:off x="8343900" y="3362249"/>
            <a:ext cx="1772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>
                    <a:alpha val="8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穿戴式感測裝置</a:t>
            </a:r>
            <a:endParaRPr lang="en-US" sz="1800" dirty="0"/>
          </a:p>
        </p:txBody>
      </p:sp>
      <p:sp>
        <p:nvSpPr>
          <p:cNvPr id="47" name="Shape 40"/>
          <p:cNvSpPr/>
          <p:nvPr/>
        </p:nvSpPr>
        <p:spPr>
          <a:xfrm>
            <a:off x="6302045" y="3876142"/>
            <a:ext cx="5686654" cy="44485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73952" y="4114800"/>
            <a:ext cx="228600" cy="228600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6797650" y="4048049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數據精度</a:t>
            </a:r>
            <a:endParaRPr lang="en-US" sz="1800" dirty="0"/>
          </a:p>
        </p:txBody>
      </p:sp>
      <p:sp>
        <p:nvSpPr>
          <p:cNvPr id="50" name="Text 42"/>
          <p:cNvSpPr txBox="1"/>
          <p:nvPr/>
        </p:nvSpPr>
        <p:spPr>
          <a:xfrm>
            <a:off x="6797650" y="5074006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隱私問題</a:t>
            </a:r>
            <a:endParaRPr lang="en-US" sz="1800" dirty="0"/>
          </a:p>
        </p:txBody>
      </p:sp>
      <p:sp>
        <p:nvSpPr>
          <p:cNvPr id="51" name="Shape 43"/>
          <p:cNvSpPr/>
          <p:nvPr/>
        </p:nvSpPr>
        <p:spPr>
          <a:xfrm>
            <a:off x="6454750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2" name="Shape 44"/>
          <p:cNvSpPr/>
          <p:nvPr/>
        </p:nvSpPr>
        <p:spPr>
          <a:xfrm>
            <a:off x="6664147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3" name="Shape 45"/>
          <p:cNvSpPr/>
          <p:nvPr/>
        </p:nvSpPr>
        <p:spPr>
          <a:xfrm>
            <a:off x="6873545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4" name="Shape 46"/>
          <p:cNvSpPr/>
          <p:nvPr/>
        </p:nvSpPr>
        <p:spPr>
          <a:xfrm>
            <a:off x="6454750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5" name="Shape 47"/>
          <p:cNvSpPr/>
          <p:nvPr/>
        </p:nvSpPr>
        <p:spPr>
          <a:xfrm>
            <a:off x="6664147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6" name="Shape 48"/>
          <p:cNvSpPr/>
          <p:nvPr/>
        </p:nvSpPr>
        <p:spPr>
          <a:xfrm>
            <a:off x="6873545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7" name="Shape 49"/>
          <p:cNvSpPr/>
          <p:nvPr/>
        </p:nvSpPr>
        <p:spPr>
          <a:xfrm>
            <a:off x="7083857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8" name="Shape 50"/>
          <p:cNvSpPr/>
          <p:nvPr/>
        </p:nvSpPr>
        <p:spPr>
          <a:xfrm>
            <a:off x="7083857" y="4447642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59" name="Shape 51"/>
          <p:cNvSpPr/>
          <p:nvPr/>
        </p:nvSpPr>
        <p:spPr>
          <a:xfrm>
            <a:off x="7293254" y="4447642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60" name="Text 52"/>
          <p:cNvSpPr txBox="1"/>
          <p:nvPr/>
        </p:nvSpPr>
        <p:spPr>
          <a:xfrm>
            <a:off x="6454750" y="4619549"/>
            <a:ext cx="28008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間接推斷拍面動作，精度中等</a:t>
            </a:r>
            <a:endParaRPr lang="en-US" sz="1500" dirty="0"/>
          </a:p>
        </p:txBody>
      </p:sp>
      <p:pic>
        <p:nvPicPr>
          <p:cNvPr id="61" name="Image 6" descr="preencoded.png">    </p:cNvPr>
          <p:cNvPicPr>
            <a:picLocks noChangeAspect="1"/>
          </p:cNvPicPr>
          <p:nvPr/>
        </p:nvPicPr>
        <p:blipFill>
          <a:blip r:embed="rId7"/>
          <a:srcRect l="-80" r="-80" t="0" b="0"/>
          <a:stretch/>
        </p:blipFill>
        <p:spPr>
          <a:xfrm>
            <a:off x="6454750" y="5140757"/>
            <a:ext cx="286207" cy="228600"/>
          </a:xfrm>
          <a:prstGeom prst="rect">
            <a:avLst/>
          </a:prstGeom>
        </p:spPr>
      </p:pic>
      <p:sp>
        <p:nvSpPr>
          <p:cNvPr id="62" name="Shape 53"/>
          <p:cNvSpPr/>
          <p:nvPr/>
        </p:nvSpPr>
        <p:spPr>
          <a:xfrm>
            <a:off x="7293254" y="5473598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63" name="Text 54"/>
          <p:cNvSpPr txBox="1"/>
          <p:nvPr/>
        </p:nvSpPr>
        <p:spPr>
          <a:xfrm>
            <a:off x="6454750" y="5645506"/>
            <a:ext cx="28008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僅收集動作數據，隱私風險低</a:t>
            </a:r>
            <a:endParaRPr lang="en-US" sz="1500" dirty="0"/>
          </a:p>
        </p:txBody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8"/>
          <a:srcRect l="-133" r="-133" t="0" b="0"/>
          <a:stretch/>
        </p:blipFill>
        <p:spPr>
          <a:xfrm>
            <a:off x="6502298" y="6166714"/>
            <a:ext cx="171907" cy="228600"/>
          </a:xfrm>
          <a:prstGeom prst="rect">
            <a:avLst/>
          </a:prstGeom>
        </p:spPr>
      </p:pic>
      <p:sp>
        <p:nvSpPr>
          <p:cNvPr id="65" name="Text 55"/>
          <p:cNvSpPr txBox="1"/>
          <p:nvPr/>
        </p:nvSpPr>
        <p:spPr>
          <a:xfrm>
            <a:off x="6797650" y="6099962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環境依賴</a:t>
            </a:r>
            <a:endParaRPr lang="en-US" sz="1800" dirty="0"/>
          </a:p>
        </p:txBody>
      </p:sp>
      <p:sp>
        <p:nvSpPr>
          <p:cNvPr id="66" name="Text 56"/>
          <p:cNvSpPr txBox="1"/>
          <p:nvPr/>
        </p:nvSpPr>
        <p:spPr>
          <a:xfrm>
            <a:off x="6797650" y="7125919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成本因素</a:t>
            </a:r>
            <a:endParaRPr lang="en-US" sz="1800" dirty="0"/>
          </a:p>
        </p:txBody>
      </p:sp>
      <p:sp>
        <p:nvSpPr>
          <p:cNvPr id="67" name="Shape 57"/>
          <p:cNvSpPr/>
          <p:nvPr/>
        </p:nvSpPr>
        <p:spPr>
          <a:xfrm>
            <a:off x="6454750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8" name="Shape 58"/>
          <p:cNvSpPr/>
          <p:nvPr/>
        </p:nvSpPr>
        <p:spPr>
          <a:xfrm>
            <a:off x="6664147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9" name="Shape 59"/>
          <p:cNvSpPr/>
          <p:nvPr/>
        </p:nvSpPr>
        <p:spPr>
          <a:xfrm>
            <a:off x="6873545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0" name="Shape 60"/>
          <p:cNvSpPr/>
          <p:nvPr/>
        </p:nvSpPr>
        <p:spPr>
          <a:xfrm>
            <a:off x="6454750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1" name="Shape 61"/>
          <p:cNvSpPr/>
          <p:nvPr/>
        </p:nvSpPr>
        <p:spPr>
          <a:xfrm>
            <a:off x="6664147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2" name="Shape 62"/>
          <p:cNvSpPr/>
          <p:nvPr/>
        </p:nvSpPr>
        <p:spPr>
          <a:xfrm>
            <a:off x="6873545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3" name="Shape 63"/>
          <p:cNvSpPr/>
          <p:nvPr/>
        </p:nvSpPr>
        <p:spPr>
          <a:xfrm>
            <a:off x="7083857" y="6500470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74" name="Shape 64"/>
          <p:cNvSpPr/>
          <p:nvPr/>
        </p:nvSpPr>
        <p:spPr>
          <a:xfrm>
            <a:off x="7293254" y="6500470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75" name="Shape 65"/>
          <p:cNvSpPr/>
          <p:nvPr/>
        </p:nvSpPr>
        <p:spPr>
          <a:xfrm>
            <a:off x="7293254" y="7526426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76" name="Text 66"/>
          <p:cNvSpPr txBox="1"/>
          <p:nvPr/>
        </p:nvSpPr>
        <p:spPr>
          <a:xfrm>
            <a:off x="6454750" y="6671462"/>
            <a:ext cx="30010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手腕與球拍不完全同步，需校準</a:t>
            </a:r>
            <a:endParaRPr lang="en-US" sz="1500" dirty="0"/>
          </a:p>
        </p:txBody>
      </p:sp>
      <p:pic>
        <p:nvPicPr>
          <p:cNvPr id="7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80" b="-80"/>
          <a:stretch/>
        </p:blipFill>
        <p:spPr>
          <a:xfrm>
            <a:off x="6516929" y="7192670"/>
            <a:ext cx="142646" cy="228600"/>
          </a:xfrm>
          <a:prstGeom prst="rect">
            <a:avLst/>
          </a:prstGeom>
        </p:spPr>
      </p:pic>
      <p:sp>
        <p:nvSpPr>
          <p:cNvPr id="78" name="Shape 67"/>
          <p:cNvSpPr/>
          <p:nvPr/>
        </p:nvSpPr>
        <p:spPr>
          <a:xfrm>
            <a:off x="7083857" y="7526426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79" name="Text 68"/>
          <p:cNvSpPr txBox="1"/>
          <p:nvPr/>
        </p:nvSpPr>
        <p:spPr>
          <a:xfrm>
            <a:off x="6454750" y="7697419"/>
            <a:ext cx="25914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中等成本，需專用穿戴裝置</a:t>
            </a:r>
            <a:endParaRPr lang="en-US" sz="1500" dirty="0"/>
          </a:p>
        </p:txBody>
      </p:sp>
      <p:sp>
        <p:nvSpPr>
          <p:cNvPr id="80" name="Shape 69"/>
          <p:cNvSpPr/>
          <p:nvPr/>
        </p:nvSpPr>
        <p:spPr>
          <a:xfrm>
            <a:off x="6302045" y="8323783"/>
            <a:ext cx="5686654" cy="571500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81" name="Text 70"/>
          <p:cNvSpPr txBox="1"/>
          <p:nvPr/>
        </p:nvSpPr>
        <p:spPr>
          <a:xfrm>
            <a:off x="8686800" y="8438083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適中表現</a:t>
            </a:r>
            <a:endParaRPr lang="en-US" sz="1800" dirty="0"/>
          </a:p>
        </p:txBody>
      </p:sp>
      <p:sp>
        <p:nvSpPr>
          <p:cNvPr id="82" name="Shape 71"/>
          <p:cNvSpPr/>
          <p:nvPr/>
        </p:nvSpPr>
        <p:spPr>
          <a:xfrm>
            <a:off x="16651224" y="2067458"/>
            <a:ext cx="1514246" cy="390449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83" name="Text 72"/>
          <p:cNvSpPr txBox="1"/>
          <p:nvPr/>
        </p:nvSpPr>
        <p:spPr>
          <a:xfrm>
            <a:off x="17009669" y="1858975"/>
            <a:ext cx="9528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推薦方案</a:t>
            </a:r>
            <a:endParaRPr lang="en-US" sz="1500" dirty="0"/>
          </a:p>
        </p:txBody>
      </p:sp>
      <p:sp>
        <p:nvSpPr>
          <p:cNvPr id="84" name="Shape 73"/>
          <p:cNvSpPr/>
          <p:nvPr/>
        </p:nvSpPr>
        <p:spPr>
          <a:xfrm>
            <a:off x="12071909" y="1873606"/>
            <a:ext cx="5800954" cy="1981505"/>
          </a:xfrm>
          <a:prstGeom prst="rect">
            <a:avLst/>
          </a:prstGeom>
          <a:solidFill>
            <a:srgbClr val="E53935">
              <a:alpha val="10000"/>
            </a:srgbClr>
          </a:solidFill>
          <a:ln/>
        </p:spPr>
      </p:sp>
      <p:pic>
        <p:nvPicPr>
          <p:cNvPr id="85" name="Image 9" descr="preencoded.png">    </p:cNvPr>
          <p:cNvPicPr>
            <a:picLocks noChangeAspect="1"/>
          </p:cNvPicPr>
          <p:nvPr/>
        </p:nvPicPr>
        <p:blipFill>
          <a:blip r:embed="rId10"/>
          <a:srcRect l="-365" r="-365" t="0" b="0"/>
          <a:stretch/>
        </p:blipFill>
        <p:spPr>
          <a:xfrm>
            <a:off x="14674291" y="2184502"/>
            <a:ext cx="599846" cy="476402"/>
          </a:xfrm>
          <a:prstGeom prst="rect">
            <a:avLst/>
          </a:prstGeom>
        </p:spPr>
      </p:pic>
      <p:sp>
        <p:nvSpPr>
          <p:cNvPr id="86" name="Text 74"/>
          <p:cNvSpPr txBox="1"/>
          <p:nvPr/>
        </p:nvSpPr>
        <p:spPr>
          <a:xfrm>
            <a:off x="14258239" y="2835554"/>
            <a:ext cx="16386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球拍傳感器</a:t>
            </a:r>
            <a:endParaRPr lang="en-US" sz="2100" dirty="0"/>
          </a:p>
        </p:txBody>
      </p:sp>
      <p:sp>
        <p:nvSpPr>
          <p:cNvPr id="87" name="Text 75"/>
          <p:cNvSpPr txBox="1"/>
          <p:nvPr/>
        </p:nvSpPr>
        <p:spPr>
          <a:xfrm>
            <a:off x="13591642" y="3321101"/>
            <a:ext cx="29343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>
                    <a:alpha val="8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直接裝於拍柄的IMU感測器</a:t>
            </a:r>
            <a:endParaRPr lang="en-US" sz="1800" dirty="0"/>
          </a:p>
        </p:txBody>
      </p:sp>
      <p:sp>
        <p:nvSpPr>
          <p:cNvPr id="88" name="Shape 76"/>
          <p:cNvSpPr/>
          <p:nvPr/>
        </p:nvSpPr>
        <p:spPr>
          <a:xfrm>
            <a:off x="12071909" y="3845966"/>
            <a:ext cx="5800954" cy="454365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2246559" y="4088282"/>
            <a:ext cx="237744" cy="237744"/>
          </a:xfrm>
          <a:prstGeom prst="rect">
            <a:avLst/>
          </a:prstGeom>
        </p:spPr>
      </p:pic>
      <p:sp>
        <p:nvSpPr>
          <p:cNvPr id="90" name="Text 77"/>
          <p:cNvSpPr txBox="1"/>
          <p:nvPr/>
        </p:nvSpPr>
        <p:spPr>
          <a:xfrm>
            <a:off x="12576658" y="4020617"/>
            <a:ext cx="11055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數據精度</a:t>
            </a:r>
            <a:endParaRPr lang="en-US" sz="1800" dirty="0"/>
          </a:p>
        </p:txBody>
      </p:sp>
      <p:sp>
        <p:nvSpPr>
          <p:cNvPr id="91" name="Shape 78"/>
          <p:cNvSpPr/>
          <p:nvPr/>
        </p:nvSpPr>
        <p:spPr>
          <a:xfrm>
            <a:off x="12227357" y="4428439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2" name="Shape 79"/>
          <p:cNvSpPr/>
          <p:nvPr/>
        </p:nvSpPr>
        <p:spPr>
          <a:xfrm>
            <a:off x="12441326" y="4428439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3" name="Shape 80"/>
          <p:cNvSpPr/>
          <p:nvPr/>
        </p:nvSpPr>
        <p:spPr>
          <a:xfrm>
            <a:off x="12654382" y="4428439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4" name="Shape 81"/>
          <p:cNvSpPr/>
          <p:nvPr/>
        </p:nvSpPr>
        <p:spPr>
          <a:xfrm>
            <a:off x="12868351" y="4428439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5" name="Text 82"/>
          <p:cNvSpPr txBox="1"/>
          <p:nvPr/>
        </p:nvSpPr>
        <p:spPr>
          <a:xfrm>
            <a:off x="12227357" y="4603090"/>
            <a:ext cx="28483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直接測量拍體動作，精度最高</a:t>
            </a:r>
            <a:endParaRPr lang="en-US" sz="1500" dirty="0"/>
          </a:p>
        </p:txBody>
      </p:sp>
      <p:pic>
        <p:nvPicPr>
          <p:cNvPr id="96" name="Image 11" descr="preencoded.png">    </p:cNvPr>
          <p:cNvPicPr>
            <a:picLocks noChangeAspect="1"/>
          </p:cNvPicPr>
          <p:nvPr/>
        </p:nvPicPr>
        <p:blipFill>
          <a:blip r:embed="rId12"/>
          <a:srcRect l="-1231" r="-1231" t="0" b="0"/>
          <a:stretch/>
        </p:blipFill>
        <p:spPr>
          <a:xfrm>
            <a:off x="12227357" y="5135270"/>
            <a:ext cx="304495" cy="237744"/>
          </a:xfrm>
          <a:prstGeom prst="rect">
            <a:avLst/>
          </a:prstGeom>
        </p:spPr>
      </p:pic>
      <p:sp>
        <p:nvSpPr>
          <p:cNvPr id="97" name="Text 83"/>
          <p:cNvSpPr txBox="1"/>
          <p:nvPr/>
        </p:nvSpPr>
        <p:spPr>
          <a:xfrm>
            <a:off x="12576658" y="5066690"/>
            <a:ext cx="11055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隱私問題</a:t>
            </a:r>
            <a:endParaRPr lang="en-US" sz="1800" dirty="0"/>
          </a:p>
        </p:txBody>
      </p:sp>
      <p:sp>
        <p:nvSpPr>
          <p:cNvPr id="98" name="Text 84"/>
          <p:cNvSpPr txBox="1"/>
          <p:nvPr/>
        </p:nvSpPr>
        <p:spPr>
          <a:xfrm>
            <a:off x="12576658" y="6113678"/>
            <a:ext cx="11055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環境依賴</a:t>
            </a:r>
            <a:endParaRPr lang="en-US" sz="1800" dirty="0"/>
          </a:p>
        </p:txBody>
      </p:sp>
      <p:sp>
        <p:nvSpPr>
          <p:cNvPr id="99" name="Text 85"/>
          <p:cNvSpPr txBox="1"/>
          <p:nvPr/>
        </p:nvSpPr>
        <p:spPr>
          <a:xfrm>
            <a:off x="12576658" y="7160666"/>
            <a:ext cx="11055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成本因素</a:t>
            </a:r>
            <a:endParaRPr lang="en-US" sz="1800" dirty="0"/>
          </a:p>
        </p:txBody>
      </p:sp>
      <p:sp>
        <p:nvSpPr>
          <p:cNvPr id="100" name="Shape 86"/>
          <p:cNvSpPr/>
          <p:nvPr/>
        </p:nvSpPr>
        <p:spPr>
          <a:xfrm>
            <a:off x="13082321" y="4428439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1" name="Shape 87"/>
          <p:cNvSpPr/>
          <p:nvPr/>
        </p:nvSpPr>
        <p:spPr>
          <a:xfrm>
            <a:off x="12227357" y="5475427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2" name="Shape 88"/>
          <p:cNvSpPr/>
          <p:nvPr/>
        </p:nvSpPr>
        <p:spPr>
          <a:xfrm>
            <a:off x="12441326" y="5475427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3" name="Shape 89"/>
          <p:cNvSpPr/>
          <p:nvPr/>
        </p:nvSpPr>
        <p:spPr>
          <a:xfrm>
            <a:off x="12654382" y="5475427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4" name="Shape 90"/>
          <p:cNvSpPr/>
          <p:nvPr/>
        </p:nvSpPr>
        <p:spPr>
          <a:xfrm>
            <a:off x="12868351" y="5475427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5" name="Shape 91"/>
          <p:cNvSpPr/>
          <p:nvPr/>
        </p:nvSpPr>
        <p:spPr>
          <a:xfrm>
            <a:off x="13082321" y="5475427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6" name="Shape 92"/>
          <p:cNvSpPr/>
          <p:nvPr/>
        </p:nvSpPr>
        <p:spPr>
          <a:xfrm>
            <a:off x="12441326" y="6521501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7" name="Shape 93"/>
          <p:cNvSpPr/>
          <p:nvPr/>
        </p:nvSpPr>
        <p:spPr>
          <a:xfrm>
            <a:off x="12654382" y="6521501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8" name="Shape 94"/>
          <p:cNvSpPr/>
          <p:nvPr/>
        </p:nvSpPr>
        <p:spPr>
          <a:xfrm>
            <a:off x="12868351" y="6521501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9" name="Text 95"/>
          <p:cNvSpPr txBox="1"/>
          <p:nvPr/>
        </p:nvSpPr>
        <p:spPr>
          <a:xfrm>
            <a:off x="12227357" y="5650078"/>
            <a:ext cx="30577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僅收集動作數據，完全保障隱私</a:t>
            </a:r>
            <a:endParaRPr lang="en-US" sz="1500" dirty="0"/>
          </a:p>
        </p:txBody>
      </p:sp>
      <p:pic>
        <p:nvPicPr>
          <p:cNvPr id="110" name="Image 12" descr="preencoded.png">    </p:cNvPr>
          <p:cNvPicPr>
            <a:picLocks noChangeAspect="1"/>
          </p:cNvPicPr>
          <p:nvPr/>
        </p:nvPicPr>
        <p:blipFill>
          <a:blip r:embed="rId13"/>
          <a:srcRect l="-769" r="-769" t="0" b="0"/>
          <a:stretch/>
        </p:blipFill>
        <p:spPr>
          <a:xfrm>
            <a:off x="12275820" y="6181344"/>
            <a:ext cx="181051" cy="237744"/>
          </a:xfrm>
          <a:prstGeom prst="rect">
            <a:avLst/>
          </a:prstGeom>
        </p:spPr>
      </p:pic>
      <p:sp>
        <p:nvSpPr>
          <p:cNvPr id="111" name="Shape 96"/>
          <p:cNvSpPr/>
          <p:nvPr/>
        </p:nvSpPr>
        <p:spPr>
          <a:xfrm>
            <a:off x="12227357" y="6521501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2" name="Shape 97"/>
          <p:cNvSpPr/>
          <p:nvPr/>
        </p:nvSpPr>
        <p:spPr>
          <a:xfrm>
            <a:off x="13082321" y="6521501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3" name="Shape 98"/>
          <p:cNvSpPr/>
          <p:nvPr/>
        </p:nvSpPr>
        <p:spPr>
          <a:xfrm>
            <a:off x="12227357" y="7568489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4" name="Shape 99"/>
          <p:cNvSpPr/>
          <p:nvPr/>
        </p:nvSpPr>
        <p:spPr>
          <a:xfrm>
            <a:off x="12441326" y="7568489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5" name="Shape 100"/>
          <p:cNvSpPr/>
          <p:nvPr/>
        </p:nvSpPr>
        <p:spPr>
          <a:xfrm>
            <a:off x="12654382" y="7568489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6" name="Shape 101"/>
          <p:cNvSpPr/>
          <p:nvPr/>
        </p:nvSpPr>
        <p:spPr>
          <a:xfrm>
            <a:off x="12868351" y="7568489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7" name="Shape 102"/>
          <p:cNvSpPr/>
          <p:nvPr/>
        </p:nvSpPr>
        <p:spPr>
          <a:xfrm>
            <a:off x="13082321" y="7568489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8" name="Text 103"/>
          <p:cNvSpPr txBox="1"/>
          <p:nvPr/>
        </p:nvSpPr>
        <p:spPr>
          <a:xfrm>
            <a:off x="12227357" y="6697066"/>
            <a:ext cx="30577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任何環境均可使用，零環境限制</a:t>
            </a:r>
            <a:endParaRPr lang="en-US" sz="1500" dirty="0"/>
          </a:p>
        </p:txBody>
      </p:sp>
      <p:pic>
        <p:nvPicPr>
          <p:cNvPr id="119" name="Image 13" descr="preencoded.png">    </p:cNvPr>
          <p:cNvPicPr>
            <a:picLocks noChangeAspect="1"/>
          </p:cNvPicPr>
          <p:nvPr/>
        </p:nvPicPr>
        <p:blipFill>
          <a:blip r:embed="rId14"/>
          <a:srcRect l="-1385" r="-1385" t="0" b="0"/>
          <a:stretch/>
        </p:blipFill>
        <p:spPr>
          <a:xfrm>
            <a:off x="12290450" y="7228332"/>
            <a:ext cx="152705" cy="237744"/>
          </a:xfrm>
          <a:prstGeom prst="rect">
            <a:avLst/>
          </a:prstGeom>
        </p:spPr>
      </p:pic>
      <p:sp>
        <p:nvSpPr>
          <p:cNvPr id="120" name="Text 104"/>
          <p:cNvSpPr txBox="1"/>
          <p:nvPr/>
        </p:nvSpPr>
        <p:spPr>
          <a:xfrm>
            <a:off x="12227357" y="7743139"/>
            <a:ext cx="34674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低成本IMU+ESP32，成本約170港元</a:t>
            </a:r>
            <a:endParaRPr lang="en-US" sz="1500" dirty="0"/>
          </a:p>
        </p:txBody>
      </p:sp>
      <p:sp>
        <p:nvSpPr>
          <p:cNvPr id="121" name="Shape 105"/>
          <p:cNvSpPr/>
          <p:nvPr/>
        </p:nvSpPr>
        <p:spPr>
          <a:xfrm>
            <a:off x="12071909" y="8382305"/>
            <a:ext cx="5800954" cy="59070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22" name="Text 106"/>
          <p:cNvSpPr txBox="1"/>
          <p:nvPr/>
        </p:nvSpPr>
        <p:spPr>
          <a:xfrm>
            <a:off x="14504213" y="8498434"/>
            <a:ext cx="1105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最佳選擇</a:t>
            </a:r>
            <a:endParaRPr lang="en-US" sz="1800" dirty="0"/>
          </a:p>
        </p:txBody>
      </p:sp>
      <p:pic>
        <p:nvPicPr>
          <p:cNvPr id="123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476402" y="9263786"/>
            <a:ext cx="200254" cy="200254"/>
          </a:xfrm>
          <a:prstGeom prst="rect">
            <a:avLst/>
          </a:prstGeom>
        </p:spPr>
      </p:pic>
      <p:sp>
        <p:nvSpPr>
          <p:cNvPr id="124" name="Text 107"/>
          <p:cNvSpPr txBox="1"/>
          <p:nvPr/>
        </p:nvSpPr>
        <p:spPr>
          <a:xfrm>
            <a:off x="752551" y="9200693"/>
            <a:ext cx="76773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經過實測評估，球拍傳感器方案在平衡精度、隱私、環境適應性與成本方面表現最佳</a:t>
            </a:r>
            <a:endParaRPr lang="en-US" sz="1500" dirty="0"/>
          </a:p>
        </p:txBody>
      </p:sp>
      <p:sp>
        <p:nvSpPr>
          <p:cNvPr id="125" name="Text 108"/>
          <p:cNvSpPr txBox="1"/>
          <p:nvPr/>
        </p:nvSpPr>
        <p:spPr>
          <a:xfrm>
            <a:off x="13622731" y="9200693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7/43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28854" y="371246"/>
            <a:ext cx="66111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MVP抉擇: 為何選擇球拍傳感器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28854" y="1343254"/>
            <a:ext cx="69156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混合計算架構帶來最佳實用性、可達性與隱私安全優勢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28854" y="1933042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75158" y="1952244"/>
            <a:ext cx="381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123798" y="1943100"/>
            <a:ext cx="1334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23798" y="2476195"/>
            <a:ext cx="8305495" cy="207660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57300" y="2671877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558223" y="2476195"/>
            <a:ext cx="8305495" cy="207660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571854" y="2609698"/>
            <a:ext cx="11530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核心需求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0073030" y="2609698"/>
            <a:ext cx="11530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用戶場景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257300" y="3038551"/>
            <a:ext cx="60487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在訓練過程中即時獲取揮拍數據，實現動作與結果的即時因果關聯</a:t>
            </a:r>
            <a:endParaRPr lang="en-US" sz="15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1648" r="-1648" t="0" b="0"/>
          <a:stretch/>
        </p:blipFill>
        <p:spPr>
          <a:xfrm>
            <a:off x="1257300" y="3437230"/>
            <a:ext cx="171907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691726" y="3038551"/>
            <a:ext cx="54388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考慮不同訓練場地、光線條件、使用習慣以及用戶預算限制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485900" y="3389681"/>
            <a:ext cx="15718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即時性 (&lt;50ms)</a:t>
            </a:r>
            <a:endParaRPr lang="en-US" sz="15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1648" r="-1648" t="0" b="0"/>
          <a:stretch/>
        </p:blipFill>
        <p:spPr>
          <a:xfrm>
            <a:off x="1257300" y="3780130"/>
            <a:ext cx="171907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85900" y="3732581"/>
            <a:ext cx="14767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精確度 (&gt;80%)</a:t>
            </a:r>
            <a:endParaRPr lang="en-US" sz="15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-1648" r="-1648" t="0" b="0"/>
          <a:stretch/>
        </p:blipFill>
        <p:spPr>
          <a:xfrm>
            <a:off x="1257300" y="4123030"/>
            <a:ext cx="171907" cy="19019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85900" y="4075481"/>
            <a:ext cx="9720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隱私保障</a:t>
            </a:r>
            <a:endParaRPr lang="en-US" sz="15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-1231" r="-1231" t="0" b="0"/>
          <a:stretch/>
        </p:blipFill>
        <p:spPr>
          <a:xfrm>
            <a:off x="9691726" y="2671877"/>
            <a:ext cx="304495" cy="237744"/>
          </a:xfrm>
          <a:prstGeom prst="rect">
            <a:avLst/>
          </a:prstGeom>
        </p:spPr>
      </p:pic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-1648" r="-1648" t="0" b="0"/>
          <a:stretch/>
        </p:blipFill>
        <p:spPr>
          <a:xfrm>
            <a:off x="9691726" y="3437230"/>
            <a:ext cx="171907" cy="19019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123798" y="4770425"/>
            <a:ext cx="1334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方案評估</a:t>
            </a:r>
            <a:endParaRPr lang="en-US" sz="2100" dirty="0"/>
          </a:p>
        </p:txBody>
      </p:sp>
      <p:sp>
        <p:nvSpPr>
          <p:cNvPr id="24" name="Text 16"/>
          <p:cNvSpPr txBox="1"/>
          <p:nvPr/>
        </p:nvSpPr>
        <p:spPr>
          <a:xfrm>
            <a:off x="9920326" y="3389681"/>
            <a:ext cx="17629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校隊訓練 (全週期)</a:t>
            </a:r>
            <a:endParaRPr lang="en-US" sz="15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rcRect l="-1648" r="-1648" t="0" b="0"/>
          <a:stretch/>
        </p:blipFill>
        <p:spPr>
          <a:xfrm>
            <a:off x="9691726" y="3780130"/>
            <a:ext cx="171907" cy="190195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428854" y="4761281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27" name="Text 18"/>
          <p:cNvSpPr txBox="1"/>
          <p:nvPr/>
        </p:nvSpPr>
        <p:spPr>
          <a:xfrm>
            <a:off x="575158" y="4779569"/>
            <a:ext cx="381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2100" dirty="0"/>
          </a:p>
        </p:txBody>
      </p:sp>
      <p:sp>
        <p:nvSpPr>
          <p:cNvPr id="28" name="Text 19"/>
          <p:cNvSpPr txBox="1"/>
          <p:nvPr/>
        </p:nvSpPr>
        <p:spPr>
          <a:xfrm>
            <a:off x="9920326" y="3732581"/>
            <a:ext cx="21717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個人自主訓練 (無教練)</a:t>
            </a:r>
            <a:endParaRPr lang="en-US" sz="15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rcRect l="-1648" r="-1648" t="0" b="0"/>
          <a:stretch/>
        </p:blipFill>
        <p:spPr>
          <a:xfrm>
            <a:off x="9691726" y="4123030"/>
            <a:ext cx="171907" cy="19019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9920326" y="4075481"/>
            <a:ext cx="13716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多環境適應性</a:t>
            </a:r>
            <a:endParaRPr lang="en-US" sz="1500" dirty="0"/>
          </a:p>
        </p:txBody>
      </p:sp>
      <p:sp>
        <p:nvSpPr>
          <p:cNvPr id="31" name="Shape 21"/>
          <p:cNvSpPr/>
          <p:nvPr/>
        </p:nvSpPr>
        <p:spPr>
          <a:xfrm>
            <a:off x="1123798" y="5303520"/>
            <a:ext cx="5495544" cy="1772107"/>
          </a:xfrm>
          <a:prstGeom prst="roundRect">
            <a:avLst>
              <a:gd name="adj" fmla="val 4161"/>
            </a:avLst>
          </a:prstGeom>
          <a:solidFill>
            <a:srgbClr val="FFFFFF"/>
          </a:solidFill>
          <a:ln w="25400">
            <a:solidFill>
              <a:srgbClr val="DDDDDD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6327648" y="5227625"/>
            <a:ext cx="362102" cy="362102"/>
          </a:xfrm>
          <a:prstGeom prst="ellipse">
            <a:avLst/>
          </a:prstGeom>
          <a:solidFill>
            <a:srgbClr val="888888"/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-769" r="-769" t="0" b="0"/>
          <a:stretch/>
        </p:blipFill>
        <p:spPr>
          <a:xfrm>
            <a:off x="6418174" y="5289804"/>
            <a:ext cx="181051" cy="237744"/>
          </a:xfrm>
          <a:prstGeom prst="rect">
            <a:avLst/>
          </a:prstGeom>
        </p:spPr>
      </p:pic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rcRect l="-769" r="-769" t="0" b="0"/>
          <a:stretch/>
        </p:blipFill>
        <p:spPr>
          <a:xfrm>
            <a:off x="1276502" y="5518404"/>
            <a:ext cx="181051" cy="237744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533449" y="5456225"/>
            <a:ext cx="16294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手機視覺方案</a:t>
            </a:r>
            <a:endParaRPr lang="en-US" sz="18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276502" y="5941771"/>
            <a:ext cx="142646" cy="1901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6746443" y="5303520"/>
            <a:ext cx="5495544" cy="1772107"/>
          </a:xfrm>
          <a:prstGeom prst="roundRect">
            <a:avLst>
              <a:gd name="adj" fmla="val 4161"/>
            </a:avLst>
          </a:prstGeom>
          <a:solidFill>
            <a:srgbClr val="FFFFFF"/>
          </a:solidFill>
          <a:ln w="25400">
            <a:solidFill>
              <a:srgbClr val="DDDDDD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38" name="Text 25"/>
          <p:cNvSpPr txBox="1"/>
          <p:nvPr/>
        </p:nvSpPr>
        <p:spPr>
          <a:xfrm>
            <a:off x="1476756" y="5894222"/>
            <a:ext cx="11722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高環境依賴</a:t>
            </a:r>
            <a:endParaRPr lang="en-US" sz="15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276502" y="6284671"/>
            <a:ext cx="142646" cy="190195"/>
          </a:xfrm>
          <a:prstGeom prst="rect">
            <a:avLst/>
          </a:prstGeom>
        </p:spPr>
      </p:pic>
      <p:sp>
        <p:nvSpPr>
          <p:cNvPr id="40" name="Shape 26"/>
          <p:cNvSpPr/>
          <p:nvPr/>
        </p:nvSpPr>
        <p:spPr>
          <a:xfrm>
            <a:off x="11950294" y="5227625"/>
            <a:ext cx="362102" cy="362102"/>
          </a:xfrm>
          <a:prstGeom prst="ellipse">
            <a:avLst/>
          </a:prstGeom>
          <a:solidFill>
            <a:srgbClr val="888888"/>
          </a:solidFill>
          <a:ln/>
        </p:spPr>
      </p:sp>
      <p:sp>
        <p:nvSpPr>
          <p:cNvPr id="41" name="Text 27"/>
          <p:cNvSpPr txBox="1"/>
          <p:nvPr/>
        </p:nvSpPr>
        <p:spPr>
          <a:xfrm>
            <a:off x="1476756" y="6237122"/>
            <a:ext cx="9720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隱私風險</a:t>
            </a:r>
            <a:endParaRPr lang="en-US" sz="150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276502" y="6627571"/>
            <a:ext cx="142646" cy="190195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1476756" y="6580022"/>
            <a:ext cx="9720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架設複雜</a:t>
            </a:r>
            <a:endParaRPr lang="en-US" sz="1500" dirty="0"/>
          </a:p>
        </p:txBody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rcRect l="-769" r="-769" t="0" b="0"/>
          <a:stretch/>
        </p:blipFill>
        <p:spPr>
          <a:xfrm>
            <a:off x="12040819" y="5289804"/>
            <a:ext cx="181051" cy="237744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6975043" y="5456225"/>
            <a:ext cx="16194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手腕IMU方案</a:t>
            </a:r>
            <a:endParaRPr lang="en-US" sz="1800" dirty="0"/>
          </a:p>
        </p:txBody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rcRect l="-1648" r="-1648" t="0" b="0"/>
          <a:stretch/>
        </p:blipFill>
        <p:spPr>
          <a:xfrm>
            <a:off x="6899148" y="5941771"/>
            <a:ext cx="171907" cy="190195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7099402" y="6237122"/>
            <a:ext cx="9720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間接數據</a:t>
            </a:r>
            <a:endParaRPr lang="en-US" sz="1500" dirty="0"/>
          </a:p>
        </p:txBody>
      </p:sp>
      <p:sp>
        <p:nvSpPr>
          <p:cNvPr id="48" name="Text 31"/>
          <p:cNvSpPr txBox="1"/>
          <p:nvPr/>
        </p:nvSpPr>
        <p:spPr>
          <a:xfrm>
            <a:off x="7127748" y="5894222"/>
            <a:ext cx="11722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低環境依賴</a:t>
            </a:r>
            <a:endParaRPr lang="en-US" sz="1500" dirty="0"/>
          </a:p>
        </p:txBody>
      </p:sp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6899148" y="6284671"/>
            <a:ext cx="142646" cy="190195"/>
          </a:xfrm>
          <a:prstGeom prst="rect">
            <a:avLst/>
          </a:prstGeom>
        </p:spPr>
      </p:pic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6899148" y="6627571"/>
            <a:ext cx="142646" cy="190195"/>
          </a:xfrm>
          <a:prstGeom prst="rect">
            <a:avLst/>
          </a:prstGeom>
        </p:spPr>
      </p:pic>
      <p:sp>
        <p:nvSpPr>
          <p:cNvPr id="51" name="Text 32"/>
          <p:cNvSpPr txBox="1"/>
          <p:nvPr/>
        </p:nvSpPr>
        <p:spPr>
          <a:xfrm>
            <a:off x="7099402" y="6580022"/>
            <a:ext cx="9720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精度不足</a:t>
            </a:r>
            <a:endParaRPr lang="en-US" sz="1500" dirty="0"/>
          </a:p>
        </p:txBody>
      </p:sp>
      <p:sp>
        <p:nvSpPr>
          <p:cNvPr id="52" name="Shape 33"/>
          <p:cNvSpPr/>
          <p:nvPr/>
        </p:nvSpPr>
        <p:spPr>
          <a:xfrm>
            <a:off x="12370003" y="5303520"/>
            <a:ext cx="5495544" cy="1772107"/>
          </a:xfrm>
          <a:prstGeom prst="roundRect">
            <a:avLst>
              <a:gd name="adj" fmla="val 4161"/>
            </a:avLst>
          </a:prstGeom>
          <a:solidFill>
            <a:srgbClr val="FFFFFF"/>
          </a:solidFill>
          <a:ln w="25400">
            <a:solidFill>
              <a:srgbClr val="E53935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53" name="Shape 34"/>
          <p:cNvSpPr/>
          <p:nvPr/>
        </p:nvSpPr>
        <p:spPr>
          <a:xfrm>
            <a:off x="17573854" y="5227625"/>
            <a:ext cx="362102" cy="362102"/>
          </a:xfrm>
          <a:prstGeom prst="ellipse">
            <a:avLst/>
          </a:prstGeom>
          <a:solidFill>
            <a:srgbClr val="E53935"/>
          </a:solidFill>
          <a:ln/>
        </p:spPr>
      </p:sp>
      <p:pic>
        <p:nvPicPr>
          <p:cNvPr id="54" name="Image 17" descr="preencoded.png">    </p:cNvPr>
          <p:cNvPicPr>
            <a:picLocks noChangeAspect="1"/>
          </p:cNvPicPr>
          <p:nvPr/>
        </p:nvPicPr>
        <p:blipFill>
          <a:blip r:embed="rId18"/>
          <a:srcRect l="-330" r="-330" t="0" b="0"/>
          <a:stretch/>
        </p:blipFill>
        <p:spPr>
          <a:xfrm>
            <a:off x="17649749" y="5289804"/>
            <a:ext cx="209398" cy="237744"/>
          </a:xfrm>
          <a:prstGeom prst="rect">
            <a:avLst/>
          </a:prstGeom>
        </p:spPr>
      </p:pic>
      <p:pic>
        <p:nvPicPr>
          <p:cNvPr id="55" name="Image 18" descr="preencoded.png">    </p:cNvPr>
          <p:cNvPicPr>
            <a:picLocks noChangeAspect="1"/>
          </p:cNvPicPr>
          <p:nvPr/>
        </p:nvPicPr>
        <p:blipFill>
          <a:blip r:embed="rId19"/>
          <a:srcRect l="-1231" r="-1231" t="0" b="0"/>
          <a:stretch/>
        </p:blipFill>
        <p:spPr>
          <a:xfrm>
            <a:off x="12521794" y="5518404"/>
            <a:ext cx="304495" cy="237744"/>
          </a:xfrm>
          <a:prstGeom prst="rect">
            <a:avLst/>
          </a:prstGeom>
        </p:spPr>
      </p:pic>
      <p:sp>
        <p:nvSpPr>
          <p:cNvPr id="56" name="Text 35"/>
          <p:cNvSpPr txBox="1"/>
          <p:nvPr/>
        </p:nvSpPr>
        <p:spPr>
          <a:xfrm>
            <a:off x="12903098" y="5456225"/>
            <a:ext cx="13908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球拍傳感器</a:t>
            </a:r>
            <a:endParaRPr lang="en-US" sz="1800" dirty="0"/>
          </a:p>
        </p:txBody>
      </p:sp>
      <p:pic>
        <p:nvPicPr>
          <p:cNvPr id="57" name="Image 19" descr="preencoded.png">    </p:cNvPr>
          <p:cNvPicPr>
            <a:picLocks noChangeAspect="1"/>
          </p:cNvPicPr>
          <p:nvPr/>
        </p:nvPicPr>
        <p:blipFill>
          <a:blip r:embed="rId20"/>
          <a:srcRect l="-1648" r="-1648" t="0" b="0"/>
          <a:stretch/>
        </p:blipFill>
        <p:spPr>
          <a:xfrm>
            <a:off x="12521794" y="5941771"/>
            <a:ext cx="171907" cy="190195"/>
          </a:xfrm>
          <a:prstGeom prst="rect">
            <a:avLst/>
          </a:prstGeom>
        </p:spPr>
      </p:pic>
      <p:sp>
        <p:nvSpPr>
          <p:cNvPr id="58" name="Text 36"/>
          <p:cNvSpPr txBox="1"/>
          <p:nvPr/>
        </p:nvSpPr>
        <p:spPr>
          <a:xfrm>
            <a:off x="12750394" y="5894222"/>
            <a:ext cx="9720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直接測量</a:t>
            </a:r>
            <a:endParaRPr lang="en-US" sz="1500" dirty="0"/>
          </a:p>
        </p:txBody>
      </p:sp>
      <p:pic>
        <p:nvPicPr>
          <p:cNvPr id="59" name="Image 20" descr="preencoded.png">    </p:cNvPr>
          <p:cNvPicPr>
            <a:picLocks noChangeAspect="1"/>
          </p:cNvPicPr>
          <p:nvPr/>
        </p:nvPicPr>
        <p:blipFill>
          <a:blip r:embed="rId21"/>
          <a:srcRect l="-1648" r="-1648" t="0" b="0"/>
          <a:stretch/>
        </p:blipFill>
        <p:spPr>
          <a:xfrm>
            <a:off x="12521794" y="6284671"/>
            <a:ext cx="171907" cy="190195"/>
          </a:xfrm>
          <a:prstGeom prst="rect">
            <a:avLst/>
          </a:prstGeom>
        </p:spPr>
      </p:pic>
      <p:sp>
        <p:nvSpPr>
          <p:cNvPr id="60" name="Text 37"/>
          <p:cNvSpPr txBox="1"/>
          <p:nvPr/>
        </p:nvSpPr>
        <p:spPr>
          <a:xfrm>
            <a:off x="12750394" y="6237122"/>
            <a:ext cx="9720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環境無關</a:t>
            </a:r>
            <a:endParaRPr lang="en-US" sz="1500" dirty="0"/>
          </a:p>
        </p:txBody>
      </p:sp>
      <p:pic>
        <p:nvPicPr>
          <p:cNvPr id="61" name="Image 21" descr="preencoded.png">    </p:cNvPr>
          <p:cNvPicPr>
            <a:picLocks noChangeAspect="1"/>
          </p:cNvPicPr>
          <p:nvPr/>
        </p:nvPicPr>
        <p:blipFill>
          <a:blip r:embed="rId22"/>
          <a:srcRect l="-1648" r="-1648" t="0" b="0"/>
          <a:stretch/>
        </p:blipFill>
        <p:spPr>
          <a:xfrm>
            <a:off x="12521794" y="6627571"/>
            <a:ext cx="171907" cy="190195"/>
          </a:xfrm>
          <a:prstGeom prst="rect">
            <a:avLst/>
          </a:prstGeom>
        </p:spPr>
      </p:pic>
      <p:sp>
        <p:nvSpPr>
          <p:cNvPr id="62" name="Shape 38"/>
          <p:cNvSpPr/>
          <p:nvPr/>
        </p:nvSpPr>
        <p:spPr>
          <a:xfrm>
            <a:off x="428854" y="7285025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63" name="Text 39"/>
          <p:cNvSpPr txBox="1"/>
          <p:nvPr/>
        </p:nvSpPr>
        <p:spPr>
          <a:xfrm>
            <a:off x="575158" y="7304227"/>
            <a:ext cx="381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2100" dirty="0"/>
          </a:p>
        </p:txBody>
      </p:sp>
      <p:sp>
        <p:nvSpPr>
          <p:cNvPr id="64" name="Text 40"/>
          <p:cNvSpPr txBox="1"/>
          <p:nvPr/>
        </p:nvSpPr>
        <p:spPr>
          <a:xfrm>
            <a:off x="1123798" y="7294169"/>
            <a:ext cx="1334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技術驗證</a:t>
            </a:r>
            <a:endParaRPr lang="en-US" sz="2100" dirty="0"/>
          </a:p>
        </p:txBody>
      </p:sp>
      <p:sp>
        <p:nvSpPr>
          <p:cNvPr id="65" name="Shape 41"/>
          <p:cNvSpPr/>
          <p:nvPr/>
        </p:nvSpPr>
        <p:spPr>
          <a:xfrm>
            <a:off x="1123798" y="7827264"/>
            <a:ext cx="5495544" cy="1772107"/>
          </a:xfrm>
          <a:prstGeom prst="roundRect">
            <a:avLst>
              <a:gd name="adj" fmla="val 4161"/>
            </a:avLst>
          </a:prstGeom>
          <a:solidFill>
            <a:srgbClr val="FFFFFF"/>
          </a:solidFill>
          <a:ln w="25400">
            <a:solidFill>
              <a:srgbClr val="DDDDDD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66" name="Shape 42"/>
          <p:cNvSpPr/>
          <p:nvPr/>
        </p:nvSpPr>
        <p:spPr>
          <a:xfrm>
            <a:off x="6327648" y="7751369"/>
            <a:ext cx="362102" cy="362102"/>
          </a:xfrm>
          <a:prstGeom prst="ellipse">
            <a:avLst/>
          </a:prstGeom>
          <a:solidFill>
            <a:srgbClr val="888888"/>
          </a:solidFill>
          <a:ln/>
        </p:spPr>
      </p:sp>
      <p:sp>
        <p:nvSpPr>
          <p:cNvPr id="67" name="Text 43"/>
          <p:cNvSpPr txBox="1"/>
          <p:nvPr/>
        </p:nvSpPr>
        <p:spPr>
          <a:xfrm>
            <a:off x="12750394" y="6580022"/>
            <a:ext cx="9720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隱私保障</a:t>
            </a:r>
            <a:endParaRPr lang="en-US" sz="1500" dirty="0"/>
          </a:p>
        </p:txBody>
      </p:sp>
      <p:pic>
        <p:nvPicPr>
          <p:cNvPr id="68" name="Image 22" descr="preencoded.png">    </p:cNvPr>
          <p:cNvPicPr>
            <a:picLocks noChangeAspect="1"/>
          </p:cNvPicPr>
          <p:nvPr/>
        </p:nvPicPr>
        <p:blipFill>
          <a:blip r:embed="rId23"/>
          <a:srcRect l="-769" r="-769" t="0" b="0"/>
          <a:stretch/>
        </p:blipFill>
        <p:spPr>
          <a:xfrm>
            <a:off x="6418174" y="7813548"/>
            <a:ext cx="181051" cy="237744"/>
          </a:xfrm>
          <a:prstGeom prst="rect">
            <a:avLst/>
          </a:prstGeom>
        </p:spPr>
      </p:pic>
      <p:pic>
        <p:nvPicPr>
          <p:cNvPr id="69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1276502" y="8042148"/>
            <a:ext cx="237744" cy="237744"/>
          </a:xfrm>
          <a:prstGeom prst="rect">
            <a:avLst/>
          </a:prstGeom>
        </p:spPr>
      </p:pic>
      <p:sp>
        <p:nvSpPr>
          <p:cNvPr id="70" name="Text 44"/>
          <p:cNvSpPr txBox="1"/>
          <p:nvPr/>
        </p:nvSpPr>
        <p:spPr>
          <a:xfrm>
            <a:off x="1591056" y="7979969"/>
            <a:ext cx="17913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Micro:bit 原型</a:t>
            </a:r>
            <a:endParaRPr lang="en-US" sz="1800" dirty="0"/>
          </a:p>
        </p:txBody>
      </p:sp>
      <p:pic>
        <p:nvPicPr>
          <p:cNvPr id="71" name="Image 24" descr="preencoded.png">    </p:cNvPr>
          <p:cNvPicPr>
            <a:picLocks noChangeAspect="1"/>
          </p:cNvPicPr>
          <p:nvPr/>
        </p:nvPicPr>
        <p:blipFill>
          <a:blip r:embed="rId25"/>
          <a:srcRect l="-1648" r="-1648" t="0" b="0"/>
          <a:stretch/>
        </p:blipFill>
        <p:spPr>
          <a:xfrm>
            <a:off x="1276502" y="8465515"/>
            <a:ext cx="171907" cy="190195"/>
          </a:xfrm>
          <a:prstGeom prst="rect">
            <a:avLst/>
          </a:prstGeom>
        </p:spPr>
      </p:pic>
      <p:sp>
        <p:nvSpPr>
          <p:cNvPr id="72" name="Text 45"/>
          <p:cNvSpPr txBox="1"/>
          <p:nvPr/>
        </p:nvSpPr>
        <p:spPr>
          <a:xfrm>
            <a:off x="1476756" y="9103766"/>
            <a:ext cx="9720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藍牙不穩</a:t>
            </a:r>
            <a:endParaRPr lang="en-US" sz="1500" dirty="0"/>
          </a:p>
        </p:txBody>
      </p:sp>
      <p:sp>
        <p:nvSpPr>
          <p:cNvPr id="73" name="Text 46"/>
          <p:cNvSpPr txBox="1"/>
          <p:nvPr/>
        </p:nvSpPr>
        <p:spPr>
          <a:xfrm>
            <a:off x="1505102" y="8417966"/>
            <a:ext cx="9720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快速原型</a:t>
            </a:r>
            <a:endParaRPr lang="en-US" sz="1500" dirty="0"/>
          </a:p>
        </p:txBody>
      </p:sp>
      <p:pic>
        <p:nvPicPr>
          <p:cNvPr id="74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1276502" y="8808415"/>
            <a:ext cx="142646" cy="190195"/>
          </a:xfrm>
          <a:prstGeom prst="rect">
            <a:avLst/>
          </a:prstGeom>
        </p:spPr>
      </p:pic>
      <p:sp>
        <p:nvSpPr>
          <p:cNvPr id="75" name="Text 47"/>
          <p:cNvSpPr txBox="1"/>
          <p:nvPr/>
        </p:nvSpPr>
        <p:spPr>
          <a:xfrm>
            <a:off x="1476756" y="8760866"/>
            <a:ext cx="1619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採樣率低 (50Hz)</a:t>
            </a:r>
            <a:endParaRPr lang="en-US" sz="1500" dirty="0"/>
          </a:p>
        </p:txBody>
      </p:sp>
      <p:pic>
        <p:nvPicPr>
          <p:cNvPr id="76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1276502" y="9151315"/>
            <a:ext cx="142646" cy="190195"/>
          </a:xfrm>
          <a:prstGeom prst="rect">
            <a:avLst/>
          </a:prstGeom>
        </p:spPr>
      </p:pic>
      <p:sp>
        <p:nvSpPr>
          <p:cNvPr id="77" name="Shape 48"/>
          <p:cNvSpPr/>
          <p:nvPr/>
        </p:nvSpPr>
        <p:spPr>
          <a:xfrm>
            <a:off x="6746443" y="7827264"/>
            <a:ext cx="5495544" cy="1772107"/>
          </a:xfrm>
          <a:prstGeom prst="roundRect">
            <a:avLst>
              <a:gd name="adj" fmla="val 4161"/>
            </a:avLst>
          </a:prstGeom>
          <a:solidFill>
            <a:srgbClr val="FFFFFF"/>
          </a:solidFill>
          <a:ln w="25400">
            <a:solidFill>
              <a:srgbClr val="E53935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78" name="Shape 49"/>
          <p:cNvSpPr/>
          <p:nvPr/>
        </p:nvSpPr>
        <p:spPr>
          <a:xfrm>
            <a:off x="11950294" y="7751369"/>
            <a:ext cx="362102" cy="362102"/>
          </a:xfrm>
          <a:prstGeom prst="ellipse">
            <a:avLst/>
          </a:prstGeom>
          <a:solidFill>
            <a:srgbClr val="E53935"/>
          </a:solidFill>
          <a:ln/>
        </p:spPr>
      </p:sp>
      <p:pic>
        <p:nvPicPr>
          <p:cNvPr id="79" name="Image 27" descr="preencoded.png">    </p:cNvPr>
          <p:cNvPicPr>
            <a:picLocks noChangeAspect="1"/>
          </p:cNvPicPr>
          <p:nvPr/>
        </p:nvPicPr>
        <p:blipFill>
          <a:blip r:embed="rId28"/>
          <a:srcRect l="-330" r="-330" t="0" b="0"/>
          <a:stretch/>
        </p:blipFill>
        <p:spPr>
          <a:xfrm>
            <a:off x="12027103" y="7813548"/>
            <a:ext cx="209398" cy="237744"/>
          </a:xfrm>
          <a:prstGeom prst="rect">
            <a:avLst/>
          </a:prstGeom>
        </p:spPr>
      </p:pic>
      <p:pic>
        <p:nvPicPr>
          <p:cNvPr id="80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0" b="0"/>
          <a:stretch/>
        </p:blipFill>
        <p:spPr>
          <a:xfrm>
            <a:off x="6899148" y="8042148"/>
            <a:ext cx="237744" cy="237744"/>
          </a:xfrm>
          <a:prstGeom prst="rect">
            <a:avLst/>
          </a:prstGeom>
        </p:spPr>
      </p:pic>
      <p:sp>
        <p:nvSpPr>
          <p:cNvPr id="81" name="Text 50"/>
          <p:cNvSpPr txBox="1"/>
          <p:nvPr/>
        </p:nvSpPr>
        <p:spPr>
          <a:xfrm>
            <a:off x="7213702" y="7979969"/>
            <a:ext cx="16486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ESP32 + IMU</a:t>
            </a:r>
            <a:endParaRPr lang="en-US" sz="1800" dirty="0"/>
          </a:p>
        </p:txBody>
      </p:sp>
      <p:pic>
        <p:nvPicPr>
          <p:cNvPr id="82" name="Image 29" descr="preencoded.png">    </p:cNvPr>
          <p:cNvPicPr>
            <a:picLocks noChangeAspect="1"/>
          </p:cNvPicPr>
          <p:nvPr/>
        </p:nvPicPr>
        <p:blipFill>
          <a:blip r:embed="rId30"/>
          <a:srcRect l="-1648" r="-1648" t="0" b="0"/>
          <a:stretch/>
        </p:blipFill>
        <p:spPr>
          <a:xfrm>
            <a:off x="6899148" y="8465515"/>
            <a:ext cx="171907" cy="190195"/>
          </a:xfrm>
          <a:prstGeom prst="rect">
            <a:avLst/>
          </a:prstGeom>
        </p:spPr>
      </p:pic>
      <p:sp>
        <p:nvSpPr>
          <p:cNvPr id="83" name="Text 51"/>
          <p:cNvSpPr txBox="1"/>
          <p:nvPr/>
        </p:nvSpPr>
        <p:spPr>
          <a:xfrm>
            <a:off x="7127748" y="8417966"/>
            <a:ext cx="17337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高採樣率 (200Hz)</a:t>
            </a:r>
            <a:endParaRPr lang="en-US" sz="1500" dirty="0"/>
          </a:p>
        </p:txBody>
      </p:sp>
      <p:pic>
        <p:nvPicPr>
          <p:cNvPr id="84" name="Image 30" descr="preencoded.png">    </p:cNvPr>
          <p:cNvPicPr>
            <a:picLocks noChangeAspect="1"/>
          </p:cNvPicPr>
          <p:nvPr/>
        </p:nvPicPr>
        <p:blipFill>
          <a:blip r:embed="rId31"/>
          <a:srcRect l="-1648" r="-1648" t="0" b="0"/>
          <a:stretch/>
        </p:blipFill>
        <p:spPr>
          <a:xfrm>
            <a:off x="6899148" y="8808415"/>
            <a:ext cx="171907" cy="190195"/>
          </a:xfrm>
          <a:prstGeom prst="rect">
            <a:avLst/>
          </a:prstGeom>
        </p:spPr>
      </p:pic>
      <p:sp>
        <p:nvSpPr>
          <p:cNvPr id="85" name="Text 52"/>
          <p:cNvSpPr txBox="1"/>
          <p:nvPr/>
        </p:nvSpPr>
        <p:spPr>
          <a:xfrm>
            <a:off x="7127748" y="8760866"/>
            <a:ext cx="12957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BLE 5.0 穩定</a:t>
            </a:r>
            <a:endParaRPr lang="en-US" sz="1500" dirty="0"/>
          </a:p>
        </p:txBody>
      </p:sp>
      <p:pic>
        <p:nvPicPr>
          <p:cNvPr id="86" name="Image 31" descr="preencoded.png">    </p:cNvPr>
          <p:cNvPicPr>
            <a:picLocks noChangeAspect="1"/>
          </p:cNvPicPr>
          <p:nvPr/>
        </p:nvPicPr>
        <p:blipFill>
          <a:blip r:embed="rId32"/>
          <a:srcRect l="-1648" r="-1648" t="0" b="0"/>
          <a:stretch/>
        </p:blipFill>
        <p:spPr>
          <a:xfrm>
            <a:off x="6899148" y="9151315"/>
            <a:ext cx="171907" cy="190195"/>
          </a:xfrm>
          <a:prstGeom prst="rect">
            <a:avLst/>
          </a:prstGeom>
        </p:spPr>
      </p:pic>
      <p:sp>
        <p:nvSpPr>
          <p:cNvPr id="87" name="Shape 53"/>
          <p:cNvSpPr/>
          <p:nvPr/>
        </p:nvSpPr>
        <p:spPr>
          <a:xfrm>
            <a:off x="12370003" y="7827264"/>
            <a:ext cx="5495544" cy="1772107"/>
          </a:xfrm>
          <a:prstGeom prst="roundRect">
            <a:avLst>
              <a:gd name="adj" fmla="val 4161"/>
            </a:avLst>
          </a:prstGeom>
          <a:solidFill>
            <a:srgbClr val="FFFFFF"/>
          </a:solidFill>
          <a:ln w="25400">
            <a:solidFill>
              <a:srgbClr val="DDDDDD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88" name="Shape 54"/>
          <p:cNvSpPr/>
          <p:nvPr/>
        </p:nvSpPr>
        <p:spPr>
          <a:xfrm>
            <a:off x="17573854" y="7751369"/>
            <a:ext cx="362102" cy="362102"/>
          </a:xfrm>
          <a:prstGeom prst="ellipse">
            <a:avLst/>
          </a:prstGeom>
          <a:solidFill>
            <a:srgbClr val="888888"/>
          </a:solidFill>
          <a:ln/>
        </p:spPr>
      </p:sp>
      <p:sp>
        <p:nvSpPr>
          <p:cNvPr id="89" name="Text 55"/>
          <p:cNvSpPr txBox="1"/>
          <p:nvPr/>
        </p:nvSpPr>
        <p:spPr>
          <a:xfrm>
            <a:off x="7127748" y="9103766"/>
            <a:ext cx="15819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低能耗 (15小時)</a:t>
            </a:r>
            <a:endParaRPr lang="en-US" sz="1500" dirty="0"/>
          </a:p>
        </p:txBody>
      </p:sp>
      <p:pic>
        <p:nvPicPr>
          <p:cNvPr id="90" name="Image 32" descr="preencoded.png">    </p:cNvPr>
          <p:cNvPicPr>
            <a:picLocks noChangeAspect="1"/>
          </p:cNvPicPr>
          <p:nvPr/>
        </p:nvPicPr>
        <p:blipFill>
          <a:blip r:embed="rId33"/>
          <a:srcRect l="-769" r="-769" t="0" b="0"/>
          <a:stretch/>
        </p:blipFill>
        <p:spPr>
          <a:xfrm>
            <a:off x="17664379" y="7813548"/>
            <a:ext cx="181051" cy="237744"/>
          </a:xfrm>
          <a:prstGeom prst="rect">
            <a:avLst/>
          </a:prstGeom>
        </p:spPr>
      </p:pic>
      <p:pic>
        <p:nvPicPr>
          <p:cNvPr id="91" name="Image 33" descr="preencoded.png">    </p:cNvPr>
          <p:cNvPicPr>
            <a:picLocks noChangeAspect="1"/>
          </p:cNvPicPr>
          <p:nvPr/>
        </p:nvPicPr>
        <p:blipFill>
          <a:blip r:embed="rId34"/>
          <a:srcRect l="-1231" r="-1231" t="0" b="0"/>
          <a:stretch/>
        </p:blipFill>
        <p:spPr>
          <a:xfrm>
            <a:off x="12521794" y="8042148"/>
            <a:ext cx="304495" cy="237744"/>
          </a:xfrm>
          <a:prstGeom prst="rect">
            <a:avLst/>
          </a:prstGeom>
        </p:spPr>
      </p:pic>
      <p:sp>
        <p:nvSpPr>
          <p:cNvPr id="92" name="Text 56"/>
          <p:cNvSpPr txBox="1"/>
          <p:nvPr/>
        </p:nvSpPr>
        <p:spPr>
          <a:xfrm>
            <a:off x="12903098" y="7979969"/>
            <a:ext cx="11530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雲端處理</a:t>
            </a:r>
            <a:endParaRPr lang="en-US" sz="1800" dirty="0"/>
          </a:p>
        </p:txBody>
      </p:sp>
      <p:pic>
        <p:nvPicPr>
          <p:cNvPr id="93" name="Image 34" descr="preencoded.png">    </p:cNvPr>
          <p:cNvPicPr>
            <a:picLocks noChangeAspect="1"/>
          </p:cNvPicPr>
          <p:nvPr/>
        </p:nvPicPr>
        <p:blipFill>
          <a:blip r:embed="rId35"/>
          <a:srcRect l="-1648" r="-1648" t="0" b="0"/>
          <a:stretch/>
        </p:blipFill>
        <p:spPr>
          <a:xfrm>
            <a:off x="12521794" y="8465515"/>
            <a:ext cx="171907" cy="190195"/>
          </a:xfrm>
          <a:prstGeom prst="rect">
            <a:avLst/>
          </a:prstGeom>
        </p:spPr>
      </p:pic>
      <p:sp>
        <p:nvSpPr>
          <p:cNvPr id="94" name="Text 57"/>
          <p:cNvSpPr txBox="1"/>
          <p:nvPr/>
        </p:nvSpPr>
        <p:spPr>
          <a:xfrm>
            <a:off x="12722047" y="8760866"/>
            <a:ext cx="11722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需網絡連接</a:t>
            </a:r>
            <a:endParaRPr lang="en-US" sz="1500" dirty="0"/>
          </a:p>
        </p:txBody>
      </p:sp>
      <p:sp>
        <p:nvSpPr>
          <p:cNvPr id="95" name="Text 58"/>
          <p:cNvSpPr txBox="1"/>
          <p:nvPr/>
        </p:nvSpPr>
        <p:spPr>
          <a:xfrm>
            <a:off x="12750394" y="8417966"/>
            <a:ext cx="9720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強大算力</a:t>
            </a:r>
            <a:endParaRPr lang="en-US" sz="1500" dirty="0"/>
          </a:p>
        </p:txBody>
      </p:sp>
      <p:pic>
        <p:nvPicPr>
          <p:cNvPr id="96" name="Image 35" descr="preencoded.png">    </p:cNvPr>
          <p:cNvPicPr>
            <a:picLocks noChangeAspect="1"/>
          </p:cNvPicPr>
          <p:nvPr/>
        </p:nvPicPr>
        <p:blipFill>
          <a:blip r:embed="rId36"/>
          <a:srcRect l="0" r="0" t="0" b="0"/>
          <a:stretch/>
        </p:blipFill>
        <p:spPr>
          <a:xfrm>
            <a:off x="12521794" y="8808415"/>
            <a:ext cx="142646" cy="190195"/>
          </a:xfrm>
          <a:prstGeom prst="rect">
            <a:avLst/>
          </a:prstGeom>
        </p:spPr>
      </p:pic>
      <p:pic>
        <p:nvPicPr>
          <p:cNvPr id="97" name="Image 36" descr="preencoded.png">    </p:cNvPr>
          <p:cNvPicPr>
            <a:picLocks noChangeAspect="1"/>
          </p:cNvPicPr>
          <p:nvPr/>
        </p:nvPicPr>
        <p:blipFill>
          <a:blip r:embed="rId37"/>
          <a:srcRect l="0" r="0" t="0" b="0"/>
          <a:stretch/>
        </p:blipFill>
        <p:spPr>
          <a:xfrm>
            <a:off x="12521794" y="9151315"/>
            <a:ext cx="142646" cy="190195"/>
          </a:xfrm>
          <a:prstGeom prst="rect">
            <a:avLst/>
          </a:prstGeom>
        </p:spPr>
      </p:pic>
      <p:sp>
        <p:nvSpPr>
          <p:cNvPr id="98" name="Text 59"/>
          <p:cNvSpPr txBox="1"/>
          <p:nvPr/>
        </p:nvSpPr>
        <p:spPr>
          <a:xfrm>
            <a:off x="12722047" y="9103766"/>
            <a:ext cx="9720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延遲問題</a:t>
            </a:r>
            <a:endParaRPr lang="en-US" sz="1500" dirty="0"/>
          </a:p>
        </p:txBody>
      </p:sp>
      <p:sp>
        <p:nvSpPr>
          <p:cNvPr id="99" name="Shape 60"/>
          <p:cNvSpPr/>
          <p:nvPr/>
        </p:nvSpPr>
        <p:spPr>
          <a:xfrm>
            <a:off x="428854" y="9942271"/>
            <a:ext cx="17431207" cy="2247595"/>
          </a:xfrm>
          <a:prstGeom prst="rect">
            <a:avLst/>
          </a:prstGeom>
          <a:solidFill>
            <a:srgbClr val="1F77D3">
              <a:alpha val="5000"/>
            </a:srgbClr>
          </a:solidFill>
          <a:ln/>
        </p:spPr>
      </p:sp>
      <p:sp>
        <p:nvSpPr>
          <p:cNvPr id="100" name="Shape 61"/>
          <p:cNvSpPr/>
          <p:nvPr/>
        </p:nvSpPr>
        <p:spPr>
          <a:xfrm>
            <a:off x="428854" y="9942271"/>
            <a:ext cx="38405" cy="224759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101" name="Text 62"/>
          <p:cNvSpPr txBox="1"/>
          <p:nvPr/>
        </p:nvSpPr>
        <p:spPr>
          <a:xfrm>
            <a:off x="599846" y="10084918"/>
            <a:ext cx="27249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混合計算架構的優勢</a:t>
            </a:r>
            <a:endParaRPr lang="en-US" sz="2100" dirty="0"/>
          </a:p>
        </p:txBody>
      </p:sp>
      <p:sp>
        <p:nvSpPr>
          <p:cNvPr id="102" name="Shape 63"/>
          <p:cNvSpPr/>
          <p:nvPr/>
        </p:nvSpPr>
        <p:spPr>
          <a:xfrm>
            <a:off x="666598" y="10598810"/>
            <a:ext cx="5581498" cy="1457554"/>
          </a:xfrm>
          <a:prstGeom prst="roundRect">
            <a:avLst>
              <a:gd name="adj" fmla="val 41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pic>
        <p:nvPicPr>
          <p:cNvPr id="103" name="Image 37" descr="preencoded.png">    </p:cNvPr>
          <p:cNvPicPr>
            <a:picLocks noChangeAspect="1"/>
          </p:cNvPicPr>
          <p:nvPr/>
        </p:nvPicPr>
        <p:blipFill>
          <a:blip r:embed="rId38"/>
          <a:srcRect l="0" r="0" t="0" b="0"/>
          <a:stretch/>
        </p:blipFill>
        <p:spPr>
          <a:xfrm>
            <a:off x="3287268" y="10792663"/>
            <a:ext cx="333756" cy="333756"/>
          </a:xfrm>
          <a:prstGeom prst="rect">
            <a:avLst/>
          </a:prstGeom>
        </p:spPr>
      </p:pic>
      <p:sp>
        <p:nvSpPr>
          <p:cNvPr id="104" name="Shape 64"/>
          <p:cNvSpPr/>
          <p:nvPr/>
        </p:nvSpPr>
        <p:spPr>
          <a:xfrm>
            <a:off x="6375197" y="10598810"/>
            <a:ext cx="5581498" cy="1457554"/>
          </a:xfrm>
          <a:prstGeom prst="roundRect">
            <a:avLst>
              <a:gd name="adj" fmla="val 41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05" name="Text 65"/>
          <p:cNvSpPr txBox="1"/>
          <p:nvPr/>
        </p:nvSpPr>
        <p:spPr>
          <a:xfrm>
            <a:off x="3092501" y="11256264"/>
            <a:ext cx="905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實用性</a:t>
            </a:r>
            <a:endParaRPr lang="en-US" sz="1800" dirty="0"/>
          </a:p>
        </p:txBody>
      </p:sp>
      <p:sp>
        <p:nvSpPr>
          <p:cNvPr id="106" name="Text 66"/>
          <p:cNvSpPr txBox="1"/>
          <p:nvPr/>
        </p:nvSpPr>
        <p:spPr>
          <a:xfrm>
            <a:off x="8801100" y="11256264"/>
            <a:ext cx="905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可達性</a:t>
            </a:r>
            <a:endParaRPr lang="en-US" sz="1800" dirty="0"/>
          </a:p>
        </p:txBody>
      </p:sp>
      <p:sp>
        <p:nvSpPr>
          <p:cNvPr id="107" name="Text 67"/>
          <p:cNvSpPr txBox="1"/>
          <p:nvPr/>
        </p:nvSpPr>
        <p:spPr>
          <a:xfrm>
            <a:off x="1109167" y="11656771"/>
            <a:ext cx="48490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實時數據分析與即時反饋，&lt;50ms延遲，85%準確率</a:t>
            </a:r>
            <a:endParaRPr lang="en-US" sz="1500" dirty="0"/>
          </a:p>
        </p:txBody>
      </p:sp>
      <p:pic>
        <p:nvPicPr>
          <p:cNvPr id="108" name="Image 38" descr="preencoded.png">    </p:cNvPr>
          <p:cNvPicPr>
            <a:picLocks noChangeAspect="1"/>
          </p:cNvPicPr>
          <p:nvPr/>
        </p:nvPicPr>
        <p:blipFill>
          <a:blip r:embed="rId39"/>
          <a:srcRect l="0" r="0" t="-570" b="-570"/>
          <a:stretch/>
        </p:blipFill>
        <p:spPr>
          <a:xfrm>
            <a:off x="8977579" y="10792663"/>
            <a:ext cx="371246" cy="333756"/>
          </a:xfrm>
          <a:prstGeom prst="rect">
            <a:avLst/>
          </a:prstGeom>
        </p:spPr>
      </p:pic>
      <p:sp>
        <p:nvSpPr>
          <p:cNvPr id="109" name="Shape 68"/>
          <p:cNvSpPr/>
          <p:nvPr/>
        </p:nvSpPr>
        <p:spPr>
          <a:xfrm>
            <a:off x="12083796" y="10598810"/>
            <a:ext cx="5581498" cy="1457554"/>
          </a:xfrm>
          <a:prstGeom prst="roundRect">
            <a:avLst>
              <a:gd name="adj" fmla="val 41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10" name="Text 69"/>
          <p:cNvSpPr txBox="1"/>
          <p:nvPr/>
        </p:nvSpPr>
        <p:spPr>
          <a:xfrm>
            <a:off x="6759245" y="11656771"/>
            <a:ext cx="49633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硬體成本降至≈170港元，普惠更多學生與業餘愛好者</a:t>
            </a:r>
            <a:endParaRPr lang="en-US" sz="1500" dirty="0"/>
          </a:p>
        </p:txBody>
      </p:sp>
      <p:pic>
        <p:nvPicPr>
          <p:cNvPr id="111" name="Image 39" descr="preencoded.png">    </p:cNvPr>
          <p:cNvPicPr>
            <a:picLocks noChangeAspect="1"/>
          </p:cNvPicPr>
          <p:nvPr/>
        </p:nvPicPr>
        <p:blipFill>
          <a:blip r:embed="rId40"/>
          <a:srcRect l="0" r="0" t="0" b="0"/>
          <a:stretch/>
        </p:blipFill>
        <p:spPr>
          <a:xfrm>
            <a:off x="14704466" y="10792663"/>
            <a:ext cx="333756" cy="333756"/>
          </a:xfrm>
          <a:prstGeom prst="rect">
            <a:avLst/>
          </a:prstGeom>
        </p:spPr>
      </p:pic>
      <p:sp>
        <p:nvSpPr>
          <p:cNvPr id="112" name="Text 70"/>
          <p:cNvSpPr txBox="1"/>
          <p:nvPr/>
        </p:nvSpPr>
        <p:spPr>
          <a:xfrm>
            <a:off x="14388998" y="11256264"/>
            <a:ext cx="11530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隱私安全</a:t>
            </a:r>
            <a:endParaRPr lang="en-US" sz="1800" dirty="0"/>
          </a:p>
        </p:txBody>
      </p:sp>
      <p:sp>
        <p:nvSpPr>
          <p:cNvPr id="113" name="Text 71"/>
          <p:cNvSpPr txBox="1"/>
          <p:nvPr/>
        </p:nvSpPr>
        <p:spPr>
          <a:xfrm>
            <a:off x="12840005" y="11656771"/>
            <a:ext cx="42199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完全離線運算，數據本地存儲，無需上傳雲端</a:t>
            </a:r>
            <a:endParaRPr lang="en-US" sz="1500" dirty="0"/>
          </a:p>
        </p:txBody>
      </p:sp>
      <p:pic>
        <p:nvPicPr>
          <p:cNvPr id="114" name="Image 40" descr="preencoded.png">    </p:cNvPr>
          <p:cNvPicPr>
            <a:picLocks noChangeAspect="1"/>
          </p:cNvPicPr>
          <p:nvPr/>
        </p:nvPicPr>
        <p:blipFill>
          <a:blip r:embed="rId41"/>
          <a:srcRect l="0" r="0" t="0" b="0"/>
          <a:stretch/>
        </p:blipFill>
        <p:spPr>
          <a:xfrm>
            <a:off x="428854" y="9569196"/>
            <a:ext cx="200254" cy="200254"/>
          </a:xfrm>
          <a:prstGeom prst="rect">
            <a:avLst/>
          </a:prstGeom>
        </p:spPr>
      </p:pic>
      <p:sp>
        <p:nvSpPr>
          <p:cNvPr id="115" name="Text 72"/>
          <p:cNvSpPr txBox="1"/>
          <p:nvPr/>
        </p:nvSpPr>
        <p:spPr>
          <a:xfrm>
            <a:off x="705002" y="9506102"/>
            <a:ext cx="38203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邊緣感測 + 移動端推論 = 最佳體驗平衡點</a:t>
            </a:r>
            <a:endParaRPr lang="en-US" sz="1500" dirty="0"/>
          </a:p>
        </p:txBody>
      </p:sp>
      <p:sp>
        <p:nvSpPr>
          <p:cNvPr id="116" name="Text 73"/>
          <p:cNvSpPr txBox="1"/>
          <p:nvPr/>
        </p:nvSpPr>
        <p:spPr>
          <a:xfrm>
            <a:off x="13670280" y="9506102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8/43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76402" y="342900"/>
            <a:ext cx="40105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三層混合計算架構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76402" y="1238098"/>
            <a:ext cx="72009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以混合式邊緣計算模式實現最佳資源利用與離線操作能力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76402" y="1809598"/>
            <a:ext cx="2381098" cy="2095805"/>
          </a:xfrm>
          <a:prstGeom prst="rect">
            <a:avLst/>
          </a:prstGeom>
          <a:solidFill>
            <a:srgbClr val="1F77D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57554" y="2185416"/>
            <a:ext cx="418795" cy="4187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7046" y="2691079"/>
            <a:ext cx="1457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嵌入式端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095451" y="3185770"/>
            <a:ext cx="1314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數據採集層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857500" y="1809598"/>
            <a:ext cx="14954098" cy="20958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10334549" y="1981505"/>
            <a:ext cx="9144" cy="175290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095244" y="1981505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技術堆疊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095244" y="2476195"/>
            <a:ext cx="2000707" cy="457200"/>
          </a:xfrm>
          <a:prstGeom prst="roundRect">
            <a:avLst>
              <a:gd name="adj" fmla="val 20833"/>
            </a:avLst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91256" y="2590495"/>
            <a:ext cx="228600" cy="228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71846" y="2476195"/>
            <a:ext cx="2029054" cy="457200"/>
          </a:xfrm>
          <a:prstGeom prst="roundRect">
            <a:avLst>
              <a:gd name="adj" fmla="val 20833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476549" y="2533802"/>
            <a:ext cx="16962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ESP32-C3 Mini</a:t>
            </a:r>
            <a:endParaRPr lang="en-US" sz="1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66944" y="2590495"/>
            <a:ext cx="228600" cy="2286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274966" y="2476195"/>
            <a:ext cx="1171346" cy="457200"/>
          </a:xfrm>
          <a:prstGeom prst="roundRect">
            <a:avLst>
              <a:gd name="adj" fmla="val 20833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5552237" y="2533802"/>
            <a:ext cx="17245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MPU-6050 IMU</a:t>
            </a:r>
            <a:endParaRPr lang="en-US" sz="18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7370064" y="2590495"/>
            <a:ext cx="142646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569403" y="2533802"/>
            <a:ext cx="952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BLE 5.0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10482682" y="1981505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核心功能</a:t>
            </a:r>
            <a:endParaRPr lang="en-US" sz="20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482682" y="2547518"/>
            <a:ext cx="200254" cy="20025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758830" y="2476195"/>
            <a:ext cx="22009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200Hz高頻數據採集</a:t>
            </a:r>
            <a:endParaRPr lang="en-US" sz="18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482682" y="2967228"/>
            <a:ext cx="200254" cy="20025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0758830" y="2895905"/>
            <a:ext cx="245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即時數據前處理與過濾</a:t>
            </a:r>
            <a:endParaRPr lang="en-US" sz="18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482682" y="3386023"/>
            <a:ext cx="200254" cy="20025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0758830" y="3314700"/>
            <a:ext cx="17721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低延遲藍牙傳輸</a:t>
            </a:r>
            <a:endParaRPr lang="en-US" sz="18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871" b="-1871"/>
          <a:stretch/>
        </p:blipFill>
        <p:spPr>
          <a:xfrm>
            <a:off x="9068105" y="4067251"/>
            <a:ext cx="152705" cy="181051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476402" y="4410151"/>
            <a:ext cx="2381098" cy="2095805"/>
          </a:xfrm>
          <a:prstGeom prst="rect">
            <a:avLst/>
          </a:prstGeom>
          <a:solidFill>
            <a:srgbClr val="E53935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rcRect l="-73" r="-73" t="0" b="0"/>
          <a:stretch/>
        </p:blipFill>
        <p:spPr>
          <a:xfrm>
            <a:off x="1509674" y="4785970"/>
            <a:ext cx="314554" cy="418795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1209751" y="5290718"/>
            <a:ext cx="11530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移動端</a:t>
            </a:r>
            <a:endParaRPr lang="en-US" sz="2400" dirty="0"/>
          </a:p>
        </p:txBody>
      </p:sp>
      <p:sp>
        <p:nvSpPr>
          <p:cNvPr id="32" name="Text 21"/>
          <p:cNvSpPr txBox="1"/>
          <p:nvPr/>
        </p:nvSpPr>
        <p:spPr>
          <a:xfrm>
            <a:off x="1095451" y="5786323"/>
            <a:ext cx="1314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計算推論層</a:t>
            </a:r>
            <a:endParaRPr lang="en-US" sz="1800" dirty="0"/>
          </a:p>
        </p:txBody>
      </p:sp>
      <p:sp>
        <p:nvSpPr>
          <p:cNvPr id="33" name="Shape 22"/>
          <p:cNvSpPr/>
          <p:nvPr/>
        </p:nvSpPr>
        <p:spPr>
          <a:xfrm>
            <a:off x="2857500" y="4410151"/>
            <a:ext cx="14954098" cy="20958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3"/>
          <p:cNvSpPr/>
          <p:nvPr/>
        </p:nvSpPr>
        <p:spPr>
          <a:xfrm>
            <a:off x="10334549" y="4581144"/>
            <a:ext cx="9144" cy="175290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Text 24"/>
          <p:cNvSpPr txBox="1"/>
          <p:nvPr/>
        </p:nvSpPr>
        <p:spPr>
          <a:xfrm>
            <a:off x="3095244" y="4581144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技術堆疊</a:t>
            </a:r>
            <a:endParaRPr lang="en-US" sz="2000" dirty="0"/>
          </a:p>
        </p:txBody>
      </p:sp>
      <p:sp>
        <p:nvSpPr>
          <p:cNvPr id="36" name="Shape 25"/>
          <p:cNvSpPr/>
          <p:nvPr/>
        </p:nvSpPr>
        <p:spPr>
          <a:xfrm>
            <a:off x="3095244" y="5076749"/>
            <a:ext cx="1867205" cy="457200"/>
          </a:xfrm>
          <a:prstGeom prst="roundRect">
            <a:avLst>
              <a:gd name="adj" fmla="val 20833"/>
            </a:avLst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4" b="-44"/>
          <a:stretch/>
        </p:blipFill>
        <p:spPr>
          <a:xfrm>
            <a:off x="3191256" y="5191049"/>
            <a:ext cx="256946" cy="228600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5033772" y="5076749"/>
            <a:ext cx="1619402" cy="457200"/>
          </a:xfrm>
          <a:prstGeom prst="roundRect">
            <a:avLst>
              <a:gd name="adj" fmla="val 20833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39" name="Shape 27"/>
          <p:cNvSpPr/>
          <p:nvPr/>
        </p:nvSpPr>
        <p:spPr>
          <a:xfrm>
            <a:off x="6729070" y="5076749"/>
            <a:ext cx="1619402" cy="457200"/>
          </a:xfrm>
          <a:prstGeom prst="roundRect">
            <a:avLst>
              <a:gd name="adj" fmla="val 20833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40" name="Text 28"/>
          <p:cNvSpPr txBox="1"/>
          <p:nvPr/>
        </p:nvSpPr>
        <p:spPr>
          <a:xfrm>
            <a:off x="3504895" y="5133442"/>
            <a:ext cx="15343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Android 原生</a:t>
            </a:r>
            <a:endParaRPr lang="en-US" sz="18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128870" y="5191049"/>
            <a:ext cx="228600" cy="228600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5415077" y="5133442"/>
            <a:ext cx="1314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輕量決策樹</a:t>
            </a:r>
            <a:endParaRPr lang="en-US" sz="180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825082" y="5191049"/>
            <a:ext cx="228600" cy="228600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7110374" y="5133442"/>
            <a:ext cx="1314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數據視覺化</a:t>
            </a:r>
            <a:endParaRPr lang="en-US" sz="1800" dirty="0"/>
          </a:p>
        </p:txBody>
      </p:sp>
      <p:sp>
        <p:nvSpPr>
          <p:cNvPr id="45" name="Text 31"/>
          <p:cNvSpPr txBox="1"/>
          <p:nvPr/>
        </p:nvSpPr>
        <p:spPr>
          <a:xfrm>
            <a:off x="10482682" y="4581144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核心功能</a:t>
            </a:r>
            <a:endParaRPr lang="en-US" sz="2000" dirty="0"/>
          </a:p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0482682" y="5148072"/>
            <a:ext cx="200254" cy="200254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10758830" y="5076749"/>
            <a:ext cx="2086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ML動作分類與評分</a:t>
            </a:r>
            <a:endParaRPr lang="en-US" sz="1800" dirty="0"/>
          </a:p>
        </p:txBody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0482682" y="5566867"/>
            <a:ext cx="200254" cy="200254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10758830" y="5495544"/>
            <a:ext cx="17721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即時反饋與指導</a:t>
            </a:r>
            <a:endParaRPr lang="en-US" sz="1800" dirty="0"/>
          </a:p>
        </p:txBody>
      </p:sp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0482682" y="5986577"/>
            <a:ext cx="200254" cy="200254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10758830" y="5915254"/>
            <a:ext cx="20007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訓練數據本地存儲</a:t>
            </a:r>
            <a:endParaRPr lang="en-US" sz="1800" dirty="0"/>
          </a:p>
        </p:txBody>
      </p:sp>
      <p:pic>
        <p:nvPicPr>
          <p:cNvPr id="52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871" b="-1871"/>
          <a:stretch/>
        </p:blipFill>
        <p:spPr>
          <a:xfrm>
            <a:off x="9068105" y="6667805"/>
            <a:ext cx="152705" cy="181051"/>
          </a:xfrm>
          <a:prstGeom prst="rect">
            <a:avLst/>
          </a:prstGeom>
        </p:spPr>
      </p:pic>
      <p:sp>
        <p:nvSpPr>
          <p:cNvPr id="53" name="Shape 35"/>
          <p:cNvSpPr/>
          <p:nvPr/>
        </p:nvSpPr>
        <p:spPr>
          <a:xfrm>
            <a:off x="16935602" y="7125005"/>
            <a:ext cx="761695" cy="342900"/>
          </a:xfrm>
          <a:prstGeom prst="roundRect">
            <a:avLst>
              <a:gd name="adj" fmla="val 111111"/>
            </a:avLst>
          </a:prstGeom>
          <a:solidFill>
            <a:srgbClr val="9E9E9E">
              <a:alpha val="70000"/>
            </a:srgbClr>
          </a:solidFill>
          <a:ln/>
        </p:spPr>
      </p:sp>
      <p:sp>
        <p:nvSpPr>
          <p:cNvPr id="54" name="Text 36"/>
          <p:cNvSpPr txBox="1"/>
          <p:nvPr/>
        </p:nvSpPr>
        <p:spPr>
          <a:xfrm>
            <a:off x="17049902" y="7162495"/>
            <a:ext cx="6675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可選層</a:t>
            </a:r>
            <a:endParaRPr lang="en-US" sz="1400" dirty="0"/>
          </a:p>
        </p:txBody>
      </p:sp>
      <p:sp>
        <p:nvSpPr>
          <p:cNvPr id="55" name="Shape 37"/>
          <p:cNvSpPr/>
          <p:nvPr/>
        </p:nvSpPr>
        <p:spPr>
          <a:xfrm>
            <a:off x="476402" y="7010705"/>
            <a:ext cx="2381098" cy="2095805"/>
          </a:xfrm>
          <a:prstGeom prst="rect">
            <a:avLst/>
          </a:prstGeom>
          <a:solidFill>
            <a:srgbClr val="9E9E9E"/>
          </a:solidFill>
          <a:ln/>
        </p:spPr>
      </p:sp>
      <p:pic>
        <p:nvPicPr>
          <p:cNvPr id="56" name="Image 16" descr="preencoded.png">    </p:cNvPr>
          <p:cNvPicPr>
            <a:picLocks noChangeAspect="1"/>
          </p:cNvPicPr>
          <p:nvPr/>
        </p:nvPicPr>
        <p:blipFill>
          <a:blip r:embed="rId17"/>
          <a:srcRect l="-44" r="-44" t="0" b="0"/>
          <a:stretch/>
        </p:blipFill>
        <p:spPr>
          <a:xfrm>
            <a:off x="1404518" y="7386523"/>
            <a:ext cx="523951" cy="418795"/>
          </a:xfrm>
          <a:prstGeom prst="rect">
            <a:avLst/>
          </a:prstGeom>
        </p:spPr>
      </p:pic>
      <p:sp>
        <p:nvSpPr>
          <p:cNvPr id="57" name="Text 38"/>
          <p:cNvSpPr txBox="1"/>
          <p:nvPr/>
        </p:nvSpPr>
        <p:spPr>
          <a:xfrm>
            <a:off x="1361542" y="7891272"/>
            <a:ext cx="8485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雲端</a:t>
            </a:r>
            <a:endParaRPr lang="en-US" sz="2400" dirty="0"/>
          </a:p>
        </p:txBody>
      </p:sp>
      <p:sp>
        <p:nvSpPr>
          <p:cNvPr id="58" name="Text 39"/>
          <p:cNvSpPr txBox="1"/>
          <p:nvPr/>
        </p:nvSpPr>
        <p:spPr>
          <a:xfrm>
            <a:off x="1095451" y="8386877"/>
            <a:ext cx="1314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擴展分析層</a:t>
            </a:r>
            <a:endParaRPr lang="en-US" sz="1800" dirty="0"/>
          </a:p>
        </p:txBody>
      </p:sp>
      <p:sp>
        <p:nvSpPr>
          <p:cNvPr id="59" name="Shape 40"/>
          <p:cNvSpPr/>
          <p:nvPr/>
        </p:nvSpPr>
        <p:spPr>
          <a:xfrm>
            <a:off x="2857500" y="7010705"/>
            <a:ext cx="14954098" cy="20958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41"/>
          <p:cNvSpPr/>
          <p:nvPr/>
        </p:nvSpPr>
        <p:spPr>
          <a:xfrm>
            <a:off x="10334549" y="7181698"/>
            <a:ext cx="9144" cy="175290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1" name="Text 42"/>
          <p:cNvSpPr txBox="1"/>
          <p:nvPr/>
        </p:nvSpPr>
        <p:spPr>
          <a:xfrm>
            <a:off x="3095244" y="7181698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技術堆疊</a:t>
            </a:r>
            <a:endParaRPr lang="en-US" sz="2000" dirty="0"/>
          </a:p>
        </p:txBody>
      </p:sp>
      <p:sp>
        <p:nvSpPr>
          <p:cNvPr id="62" name="Shape 43"/>
          <p:cNvSpPr/>
          <p:nvPr/>
        </p:nvSpPr>
        <p:spPr>
          <a:xfrm>
            <a:off x="3095244" y="7677302"/>
            <a:ext cx="1819656" cy="457200"/>
          </a:xfrm>
          <a:prstGeom prst="roundRect">
            <a:avLst>
              <a:gd name="adj" fmla="val 20833"/>
            </a:avLst>
          </a:prstGeom>
          <a:solidFill>
            <a:srgbClr val="9E9E9E">
              <a:alpha val="10000"/>
            </a:srgbClr>
          </a:solidFill>
          <a:ln/>
        </p:spPr>
      </p:sp>
      <p:pic>
        <p:nvPicPr>
          <p:cNvPr id="63" name="Image 17" descr="preencoded.png">    </p:cNvPr>
          <p:cNvPicPr>
            <a:picLocks noChangeAspect="1"/>
          </p:cNvPicPr>
          <p:nvPr/>
        </p:nvPicPr>
        <p:blipFill>
          <a:blip r:embed="rId18"/>
          <a:srcRect l="-57" r="-57" t="0" b="0"/>
          <a:stretch/>
        </p:blipFill>
        <p:spPr>
          <a:xfrm>
            <a:off x="3191256" y="7791602"/>
            <a:ext cx="200254" cy="228600"/>
          </a:xfrm>
          <a:prstGeom prst="rect">
            <a:avLst/>
          </a:prstGeom>
        </p:spPr>
      </p:pic>
      <p:sp>
        <p:nvSpPr>
          <p:cNvPr id="64" name="Shape 44"/>
          <p:cNvSpPr/>
          <p:nvPr/>
        </p:nvSpPr>
        <p:spPr>
          <a:xfrm>
            <a:off x="4990795" y="7677302"/>
            <a:ext cx="1848002" cy="457200"/>
          </a:xfrm>
          <a:prstGeom prst="roundRect">
            <a:avLst>
              <a:gd name="adj" fmla="val 20833"/>
            </a:avLst>
          </a:prstGeom>
          <a:solidFill>
            <a:srgbClr val="9E9E9E">
              <a:alpha val="10000"/>
            </a:srgbClr>
          </a:solidFill>
          <a:ln/>
        </p:spPr>
      </p:sp>
      <p:sp>
        <p:nvSpPr>
          <p:cNvPr id="65" name="Text 45"/>
          <p:cNvSpPr txBox="1"/>
          <p:nvPr/>
        </p:nvSpPr>
        <p:spPr>
          <a:xfrm>
            <a:off x="3448202" y="7733995"/>
            <a:ext cx="154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E9E9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歷史數據存儲</a:t>
            </a:r>
            <a:endParaRPr lang="en-US" sz="1800" dirty="0"/>
          </a:p>
        </p:txBody>
      </p:sp>
      <p:pic>
        <p:nvPicPr>
          <p:cNvPr id="66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5086807" y="7791602"/>
            <a:ext cx="228600" cy="228600"/>
          </a:xfrm>
          <a:prstGeom prst="rect">
            <a:avLst/>
          </a:prstGeom>
        </p:spPr>
      </p:pic>
      <p:sp>
        <p:nvSpPr>
          <p:cNvPr id="67" name="Shape 46"/>
          <p:cNvSpPr/>
          <p:nvPr/>
        </p:nvSpPr>
        <p:spPr>
          <a:xfrm>
            <a:off x="6915607" y="7677302"/>
            <a:ext cx="1447495" cy="457200"/>
          </a:xfrm>
          <a:prstGeom prst="roundRect">
            <a:avLst>
              <a:gd name="adj" fmla="val 20833"/>
            </a:avLst>
          </a:prstGeom>
          <a:solidFill>
            <a:srgbClr val="9E9E9E">
              <a:alpha val="10000"/>
            </a:srgbClr>
          </a:solidFill>
          <a:ln/>
        </p:spPr>
      </p:sp>
      <p:sp>
        <p:nvSpPr>
          <p:cNvPr id="68" name="Text 47"/>
          <p:cNvSpPr txBox="1"/>
          <p:nvPr/>
        </p:nvSpPr>
        <p:spPr>
          <a:xfrm>
            <a:off x="5372100" y="7733995"/>
            <a:ext cx="154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E9E9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高級分析工具</a:t>
            </a:r>
            <a:endParaRPr lang="en-US" sz="1800" dirty="0"/>
          </a:p>
        </p:txBody>
      </p:sp>
      <p:pic>
        <p:nvPicPr>
          <p:cNvPr id="69" name="Image 19" descr="preencoded.png">    </p:cNvPr>
          <p:cNvPicPr>
            <a:picLocks noChangeAspect="1"/>
          </p:cNvPicPr>
          <p:nvPr/>
        </p:nvPicPr>
        <p:blipFill>
          <a:blip r:embed="rId20"/>
          <a:srcRect l="-80" r="-80" t="0" b="0"/>
          <a:stretch/>
        </p:blipFill>
        <p:spPr>
          <a:xfrm>
            <a:off x="7010705" y="7791602"/>
            <a:ext cx="286207" cy="228600"/>
          </a:xfrm>
          <a:prstGeom prst="rect">
            <a:avLst/>
          </a:prstGeom>
        </p:spPr>
      </p:pic>
      <p:sp>
        <p:nvSpPr>
          <p:cNvPr id="70" name="Text 48"/>
          <p:cNvSpPr txBox="1"/>
          <p:nvPr/>
        </p:nvSpPr>
        <p:spPr>
          <a:xfrm>
            <a:off x="7353605" y="7733995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E9E9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團隊協作</a:t>
            </a:r>
            <a:endParaRPr lang="en-US" sz="1800" dirty="0"/>
          </a:p>
        </p:txBody>
      </p:sp>
      <p:sp>
        <p:nvSpPr>
          <p:cNvPr id="71" name="Text 49"/>
          <p:cNvSpPr txBox="1"/>
          <p:nvPr/>
        </p:nvSpPr>
        <p:spPr>
          <a:xfrm>
            <a:off x="10482682" y="7181698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核心功能</a:t>
            </a:r>
            <a:endParaRPr lang="en-US" sz="2000" dirty="0"/>
          </a:p>
        </p:txBody>
      </p:sp>
      <p:pic>
        <p:nvPicPr>
          <p:cNvPr id="72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10482682" y="7748626"/>
            <a:ext cx="200254" cy="200254"/>
          </a:xfrm>
          <a:prstGeom prst="rect">
            <a:avLst/>
          </a:prstGeom>
        </p:spPr>
      </p:pic>
      <p:sp>
        <p:nvSpPr>
          <p:cNvPr id="73" name="Text 50"/>
          <p:cNvSpPr txBox="1"/>
          <p:nvPr/>
        </p:nvSpPr>
        <p:spPr>
          <a:xfrm>
            <a:off x="10758830" y="7677302"/>
            <a:ext cx="154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長期趨勢分析</a:t>
            </a:r>
            <a:endParaRPr lang="en-US" sz="1800" dirty="0"/>
          </a:p>
        </p:txBody>
      </p:sp>
      <p:pic>
        <p:nvPicPr>
          <p:cNvPr id="74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10482682" y="8167421"/>
            <a:ext cx="200254" cy="200254"/>
          </a:xfrm>
          <a:prstGeom prst="rect">
            <a:avLst/>
          </a:prstGeom>
        </p:spPr>
      </p:pic>
      <p:sp>
        <p:nvSpPr>
          <p:cNvPr id="75" name="Text 51"/>
          <p:cNvSpPr txBox="1"/>
          <p:nvPr/>
        </p:nvSpPr>
        <p:spPr>
          <a:xfrm>
            <a:off x="10758830" y="8096098"/>
            <a:ext cx="20007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教練遠程協同指導</a:t>
            </a:r>
            <a:endParaRPr lang="en-US" sz="1800" dirty="0"/>
          </a:p>
        </p:txBody>
      </p:sp>
      <p:pic>
        <p:nvPicPr>
          <p:cNvPr id="76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10482682" y="8586216"/>
            <a:ext cx="200254" cy="200254"/>
          </a:xfrm>
          <a:prstGeom prst="rect">
            <a:avLst/>
          </a:prstGeom>
        </p:spPr>
      </p:pic>
      <p:sp>
        <p:nvSpPr>
          <p:cNvPr id="77" name="Text 52"/>
          <p:cNvSpPr txBox="1"/>
          <p:nvPr/>
        </p:nvSpPr>
        <p:spPr>
          <a:xfrm>
            <a:off x="10758830" y="8514893"/>
            <a:ext cx="2229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團隊數據共享與比較</a:t>
            </a:r>
            <a:endParaRPr lang="en-US" sz="1800" dirty="0"/>
          </a:p>
        </p:txBody>
      </p:sp>
      <p:pic>
        <p:nvPicPr>
          <p:cNvPr id="78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476402" y="9855403"/>
            <a:ext cx="200254" cy="200254"/>
          </a:xfrm>
          <a:prstGeom prst="rect">
            <a:avLst/>
          </a:prstGeom>
        </p:spPr>
      </p:pic>
      <p:sp>
        <p:nvSpPr>
          <p:cNvPr id="79" name="Text 53"/>
          <p:cNvSpPr txBox="1"/>
          <p:nvPr/>
        </p:nvSpPr>
        <p:spPr>
          <a:xfrm>
            <a:off x="752551" y="9791395"/>
            <a:ext cx="62581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混合計算架構：邊緣採集 + 移動端推論 + 雲端分析 = 兼顧效能與隱私</a:t>
            </a:r>
            <a:endParaRPr lang="en-US" sz="1500" dirty="0"/>
          </a:p>
        </p:txBody>
      </p:sp>
      <p:sp>
        <p:nvSpPr>
          <p:cNvPr id="80" name="Text 54"/>
          <p:cNvSpPr txBox="1"/>
          <p:nvPr/>
        </p:nvSpPr>
        <p:spPr>
          <a:xfrm>
            <a:off x="13622731" y="9791395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9/43</a:t>
            </a:r>
            <a:endParaRPr lang="en-US" sz="1500" dirty="0"/>
          </a:p>
        </p:txBody>
      </p:sp>
      <p:sp>
        <p:nvSpPr>
          <p:cNvPr id="81" name="Shape 55"/>
          <p:cNvSpPr/>
          <p:nvPr/>
        </p:nvSpPr>
        <p:spPr>
          <a:xfrm>
            <a:off x="9010498" y="4024274"/>
            <a:ext cx="267005" cy="2670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7D3"/>
            </a:solidFill>
            <a:prstDash val="solid"/>
          </a:ln>
        </p:spPr>
      </p:sp>
      <p:sp>
        <p:nvSpPr>
          <p:cNvPr id="82" name="Shape 56"/>
          <p:cNvSpPr/>
          <p:nvPr/>
        </p:nvSpPr>
        <p:spPr>
          <a:xfrm>
            <a:off x="9010498" y="6624828"/>
            <a:ext cx="267005" cy="2670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7D3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580644"/>
            <a:ext cx="59820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人機協作定位:輔助而非取代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837944"/>
            <a:ext cx="8011058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的核心理念是創造人類與AI的互補關係，而非機器取代人類。我們相信最佳的訓練體驗來自於技術與人文的結合。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2855671"/>
            <a:ext cx="8401507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在運動訓練這個場景中，數據和心理同樣重要。單純依賴數據或教練個人經驗，都難以達到最佳效果。我們打造的不是「AI教練」，而是「教練的AI助手」。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73398"/>
            <a:ext cx="8382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這種協作模式讓教練專注於他們最擅長的領域——戰術規劃和心理建設，而AI則負責提供客觀、即時、持續的數據分析支持。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71500" y="4881067"/>
            <a:ext cx="8287207" cy="1067105"/>
          </a:xfrm>
          <a:prstGeom prst="rect">
            <a:avLst/>
          </a:prstGeom>
          <a:solidFill>
            <a:srgbClr val="1F77D3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4881067"/>
            <a:ext cx="47549" cy="106710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9244" y="5071262"/>
            <a:ext cx="7982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核心定位：SmartRacket Coach不是要取代教練，而是成為教練和球員的數字橋梁，將教練的專業知識與AI的數據分析能力無縫融合。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844430" y="571500"/>
            <a:ext cx="7457846" cy="2905049"/>
          </a:xfrm>
          <a:prstGeom prst="roundRect">
            <a:avLst>
              <a:gd name="adj" fmla="val 1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635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2734849" y="866851"/>
            <a:ext cx="1886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人機協作模式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129723" y="1475842"/>
            <a:ext cx="1714500" cy="1714500"/>
          </a:xfrm>
          <a:prstGeom prst="ellipse">
            <a:avLst/>
          </a:prstGeom>
          <a:solidFill>
            <a:srgbClr val="1F77D3">
              <a:alpha val="15000"/>
            </a:srgbClr>
          </a:solidFill>
          <a:ln w="38100">
            <a:solidFill>
              <a:srgbClr val="1F77D3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58830" y="1885493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621670" y="2438705"/>
            <a:ext cx="905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系統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956341" y="2318918"/>
            <a:ext cx="2762402" cy="28346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16" name="Shape 13"/>
          <p:cNvSpPr/>
          <p:nvPr/>
        </p:nvSpPr>
        <p:spPr>
          <a:xfrm>
            <a:off x="13435279" y="2318918"/>
            <a:ext cx="2762402" cy="28346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17" name="Shape 14"/>
          <p:cNvSpPr/>
          <p:nvPr/>
        </p:nvSpPr>
        <p:spPr>
          <a:xfrm>
            <a:off x="15301570" y="1475842"/>
            <a:ext cx="1714500" cy="1714500"/>
          </a:xfrm>
          <a:prstGeom prst="ellipse">
            <a:avLst/>
          </a:prstGeom>
          <a:solidFill>
            <a:srgbClr val="E53935">
              <a:alpha val="15000"/>
            </a:srgbClr>
          </a:solidFill>
          <a:ln w="38100">
            <a:solidFill>
              <a:srgbClr val="E53935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-57" r="-57" t="0" b="0"/>
          <a:stretch/>
        </p:blipFill>
        <p:spPr>
          <a:xfrm>
            <a:off x="15959023" y="1885493"/>
            <a:ext cx="400507" cy="4572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5702077" y="2438705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人類教練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9844430" y="4048049"/>
            <a:ext cx="7457846" cy="1543507"/>
          </a:xfrm>
          <a:prstGeom prst="roundRect">
            <a:avLst>
              <a:gd name="adj" fmla="val 2926"/>
            </a:avLst>
          </a:prstGeom>
          <a:solidFill>
            <a:srgbClr val="1F77D3">
              <a:alpha val="8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9844430" y="4048049"/>
            <a:ext cx="47549" cy="1543507"/>
          </a:xfrm>
          <a:prstGeom prst="rect">
            <a:avLst/>
          </a:prstGeom>
          <a:solidFill>
            <a:srgbClr val="1F77D3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54" b="-1054"/>
          <a:stretch/>
        </p:blipFill>
        <p:spPr>
          <a:xfrm>
            <a:off x="10082174" y="4300423"/>
            <a:ext cx="314554" cy="25694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396728" y="4238244"/>
            <a:ext cx="17721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系統的角色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10082174" y="4714646"/>
            <a:ext cx="68013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提供客觀的數據收集和量化分析，包括揮拍角度、速度、一致性指標，實現即時反饋和長期數據追蹤。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9844430" y="5781751"/>
            <a:ext cx="7457846" cy="1543507"/>
          </a:xfrm>
          <a:prstGeom prst="roundRect">
            <a:avLst>
              <a:gd name="adj" fmla="val 2926"/>
            </a:avLst>
          </a:prstGeom>
          <a:solidFill>
            <a:srgbClr val="E53935">
              <a:alpha val="8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9844430" y="5781751"/>
            <a:ext cx="47549" cy="1543507"/>
          </a:xfrm>
          <a:prstGeom prst="rect">
            <a:avLst/>
          </a:prstGeom>
          <a:solidFill>
            <a:srgbClr val="E53935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224" b="-1224"/>
          <a:stretch/>
        </p:blipFill>
        <p:spPr>
          <a:xfrm>
            <a:off x="10082174" y="6034126"/>
            <a:ext cx="219456" cy="25694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301630" y="5971946"/>
            <a:ext cx="19723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人類教練的角色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10082174" y="6448349"/>
            <a:ext cx="701070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負責戰術指導、技術糾正和心理建設，將AI提供的客觀數據轉化為個性化的訓練方案和比賽策略。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9844430" y="7515454"/>
            <a:ext cx="7457846" cy="1543507"/>
          </a:xfrm>
          <a:prstGeom prst="roundRect">
            <a:avLst>
              <a:gd name="adj" fmla="val 2926"/>
            </a:avLst>
          </a:prstGeom>
          <a:solidFill>
            <a:srgbClr val="4CAF50">
              <a:alpha val="8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9844430" y="7515454"/>
            <a:ext cx="47549" cy="1543507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054" b="-1054"/>
          <a:stretch/>
        </p:blipFill>
        <p:spPr>
          <a:xfrm>
            <a:off x="10082174" y="7767828"/>
            <a:ext cx="314554" cy="25694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396728" y="7705649"/>
            <a:ext cx="19723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協作創造的價值</a:t>
            </a:r>
            <a:endParaRPr lang="en-US" sz="2000" dirty="0"/>
          </a:p>
        </p:txBody>
      </p:sp>
      <p:sp>
        <p:nvSpPr>
          <p:cNvPr id="34" name="Text 27"/>
          <p:cNvSpPr txBox="1"/>
          <p:nvPr/>
        </p:nvSpPr>
        <p:spPr>
          <a:xfrm>
            <a:off x="10082174" y="8182051"/>
            <a:ext cx="712500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數據驅動決策 + 專業經驗判斷 = 最佳訓練效果。AI提供「是什麼」，人類教練解釋「為什麼」和「怎麼辦」。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13953744" y="9734702"/>
            <a:ext cx="39054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10/43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13192049" y="1952244"/>
            <a:ext cx="761695" cy="7616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77D3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725" b="-725"/>
          <a:stretch/>
        </p:blipFill>
        <p:spPr>
          <a:xfrm>
            <a:off x="13320979" y="2128723"/>
            <a:ext cx="504749" cy="4096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390449"/>
            <a:ext cx="65251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硬體演進: Micro:bit → ESP32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304849"/>
            <a:ext cx="49633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從原型驗證到效能優化的硬體迭代歷程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3549701" y="5880506"/>
            <a:ext cx="26289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E9E9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Micro:bit 初期原型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14146" y="6537960"/>
            <a:ext cx="11622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採樣頻率: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4146" y="6975958"/>
            <a:ext cx="11622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處理速度: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14146" y="7413955"/>
            <a:ext cx="9336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記憶體: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14146" y="7851953"/>
            <a:ext cx="11622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續航時間: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14146" y="8289950"/>
            <a:ext cx="11622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數據延遲: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97126" y="6537960"/>
            <a:ext cx="6858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50 Hz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97126" y="6975958"/>
            <a:ext cx="12765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基準值 (1×)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68526" y="7413955"/>
            <a:ext cx="11814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16 KB RAM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97126" y="7851953"/>
            <a:ext cx="7242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 小時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97126" y="8289950"/>
            <a:ext cx="9528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&gt;200 ms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34856" y="5871362"/>
            <a:ext cx="19202" cy="28575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5"/>
          <p:cNvSpPr/>
          <p:nvPr/>
        </p:nvSpPr>
        <p:spPr>
          <a:xfrm>
            <a:off x="8858707" y="4858207"/>
            <a:ext cx="571500" cy="5715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39700" dist="381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-57" r="-57" t="0" b="0"/>
          <a:stretch/>
        </p:blipFill>
        <p:spPr>
          <a:xfrm>
            <a:off x="8943746" y="4914900"/>
            <a:ext cx="400507" cy="4572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2283135" y="5880506"/>
            <a:ext cx="27057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ESP32-C3 最終版本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9486900" y="6537960"/>
            <a:ext cx="11622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採樣頻率: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486900" y="6975958"/>
            <a:ext cx="11622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處理速度: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486900" y="7413955"/>
            <a:ext cx="9336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記憶體: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486900" y="7851953"/>
            <a:ext cx="11622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續航時間: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9486900" y="8289950"/>
            <a:ext cx="11622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數據延遲: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0469880" y="6537960"/>
            <a:ext cx="13432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200 Hz (4倍)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0469880" y="6975958"/>
            <a:ext cx="10104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10倍提升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0241280" y="7413955"/>
            <a:ext cx="19723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400 KB RAM (25倍)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0469880" y="7851953"/>
            <a:ext cx="13716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 小時 (3倍)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0469880" y="8289950"/>
            <a:ext cx="1905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&lt;50 ms (75%減少)</a:t>
            </a:r>
            <a:endParaRPr lang="en-US" sz="15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rcRect l="-837" r="-837" t="0" b="0"/>
          <a:stretch/>
        </p:blipFill>
        <p:spPr>
          <a:xfrm>
            <a:off x="571500" y="9124798"/>
            <a:ext cx="152705" cy="200254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800100" y="9061704"/>
            <a:ext cx="70683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硬體演進過程解決了諸多設計挑戰，最終形成穩定、高效、低延遲的解決方案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13415162" y="9061704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11/43</a:t>
            </a:r>
            <a:endParaRPr lang="en-US" sz="1500" dirty="0"/>
          </a:p>
        </p:txBody>
      </p:sp>
      <p:sp>
        <p:nvSpPr>
          <p:cNvPr id="33" name="Shape 29"/>
          <p:cNvSpPr/>
          <p:nvPr/>
        </p:nvSpPr>
        <p:spPr>
          <a:xfrm>
            <a:off x="381305" y="952805"/>
            <a:ext cx="17526305" cy="57607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Shape 30"/>
          <p:cNvSpPr/>
          <p:nvPr/>
        </p:nvSpPr>
        <p:spPr>
          <a:xfrm>
            <a:off x="2245766" y="2009851"/>
            <a:ext cx="571500" cy="571500"/>
          </a:xfrm>
          <a:prstGeom prst="ellipse">
            <a:avLst/>
          </a:prstGeom>
          <a:solidFill>
            <a:srgbClr val="9E9E9E"/>
          </a:solidFill>
          <a:ln/>
        </p:spPr>
      </p:sp>
      <p:sp>
        <p:nvSpPr>
          <p:cNvPr id="35" name="Shape 31"/>
          <p:cNvSpPr/>
          <p:nvPr/>
        </p:nvSpPr>
        <p:spPr>
          <a:xfrm>
            <a:off x="2198218" y="1962302"/>
            <a:ext cx="666598" cy="666598"/>
          </a:xfrm>
          <a:prstGeom prst="ellipse">
            <a:avLst/>
          </a:prstGeom>
          <a:solidFill>
            <a:srgbClr val="9E9E9E">
              <a:alpha val="20000"/>
            </a:srgbClr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rcRect l="-107" r="-107" t="0" b="0"/>
          <a:stretch/>
        </p:blipFill>
        <p:spPr>
          <a:xfrm>
            <a:off x="2398471" y="2143354"/>
            <a:ext cx="267005" cy="304495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1965960" y="2723998"/>
            <a:ext cx="13057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2023年9月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2023567" y="3124505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E9E9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初期驗證</a:t>
            </a:r>
            <a:endParaRPr lang="en-US" sz="2000" dirty="0"/>
          </a:p>
        </p:txBody>
      </p:sp>
      <p:sp>
        <p:nvSpPr>
          <p:cNvPr id="39" name="Text 34"/>
          <p:cNvSpPr txBox="1"/>
          <p:nvPr/>
        </p:nvSpPr>
        <p:spPr>
          <a:xfrm>
            <a:off x="865937" y="3562502"/>
            <a:ext cx="350581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 Micro:bit 進行概念驗證，測試基本數據流</a:t>
            </a:r>
            <a:endParaRPr lang="en-US" sz="1800" dirty="0"/>
          </a:p>
        </p:txBody>
      </p:sp>
      <p:sp>
        <p:nvSpPr>
          <p:cNvPr id="40" name="Shape 35"/>
          <p:cNvSpPr/>
          <p:nvPr/>
        </p:nvSpPr>
        <p:spPr>
          <a:xfrm>
            <a:off x="761695" y="4366260"/>
            <a:ext cx="3543300" cy="1123798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8000"/>
              </a:srgbClr>
            </a:outerShdw>
          </a:effectLst>
        </p:spPr>
      </p:sp>
      <p:sp>
        <p:nvSpPr>
          <p:cNvPr id="41" name="Text 36"/>
          <p:cNvSpPr txBox="1"/>
          <p:nvPr/>
        </p:nvSpPr>
        <p:spPr>
          <a:xfrm>
            <a:off x="952805" y="4556455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主要挑戰</a:t>
            </a:r>
            <a:endParaRPr lang="en-US" sz="1800" dirty="0"/>
          </a:p>
        </p:txBody>
      </p:sp>
      <p:sp>
        <p:nvSpPr>
          <p:cNvPr id="42" name="Text 37"/>
          <p:cNvSpPr txBox="1"/>
          <p:nvPr/>
        </p:nvSpPr>
        <p:spPr>
          <a:xfrm>
            <a:off x="952805" y="4994453"/>
            <a:ext cx="17812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重心偏移藍牙不穩</a:t>
            </a:r>
            <a:endParaRPr lang="en-US" sz="1500" dirty="0"/>
          </a:p>
        </p:txBody>
      </p:sp>
      <p:sp>
        <p:nvSpPr>
          <p:cNvPr id="43" name="Shape 38"/>
          <p:cNvSpPr/>
          <p:nvPr/>
        </p:nvSpPr>
        <p:spPr>
          <a:xfrm>
            <a:off x="6654089" y="2009851"/>
            <a:ext cx="571500" cy="57150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44" name="Shape 39"/>
          <p:cNvSpPr/>
          <p:nvPr/>
        </p:nvSpPr>
        <p:spPr>
          <a:xfrm>
            <a:off x="6606540" y="1962302"/>
            <a:ext cx="666598" cy="666598"/>
          </a:xfrm>
          <a:prstGeom prst="ellipse">
            <a:avLst/>
          </a:prstGeom>
          <a:solidFill>
            <a:srgbClr val="2196F3">
              <a:alpha val="20000"/>
            </a:srgbClr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87591" y="2143354"/>
            <a:ext cx="304495" cy="304495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6400800" y="2723998"/>
            <a:ext cx="12573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2024年Q1</a:t>
            </a:r>
            <a:endParaRPr lang="en-US" sz="1800" dirty="0"/>
          </a:p>
        </p:txBody>
      </p:sp>
      <p:sp>
        <p:nvSpPr>
          <p:cNvPr id="47" name="Text 41"/>
          <p:cNvSpPr txBox="1"/>
          <p:nvPr/>
        </p:nvSpPr>
        <p:spPr>
          <a:xfrm>
            <a:off x="6431890" y="3124505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96F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技術評估</a:t>
            </a:r>
            <a:endParaRPr lang="en-US" sz="2000" dirty="0"/>
          </a:p>
        </p:txBody>
      </p:sp>
      <p:sp>
        <p:nvSpPr>
          <p:cNvPr id="48" name="Text 42"/>
          <p:cNvSpPr txBox="1"/>
          <p:nvPr/>
        </p:nvSpPr>
        <p:spPr>
          <a:xfrm>
            <a:off x="5233111" y="3562502"/>
            <a:ext cx="3591763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評估多種控制器選項，確定ESP32為最佳方案</a:t>
            </a:r>
            <a:endParaRPr lang="en-US" sz="1800" dirty="0"/>
          </a:p>
        </p:txBody>
      </p:sp>
      <p:sp>
        <p:nvSpPr>
          <p:cNvPr id="49" name="Shape 43"/>
          <p:cNvSpPr/>
          <p:nvPr/>
        </p:nvSpPr>
        <p:spPr>
          <a:xfrm>
            <a:off x="5170018" y="4366260"/>
            <a:ext cx="3543300" cy="1123798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8000"/>
              </a:srgbClr>
            </a:outerShdw>
          </a:effectLst>
        </p:spPr>
      </p:sp>
      <p:sp>
        <p:nvSpPr>
          <p:cNvPr id="50" name="Text 44"/>
          <p:cNvSpPr txBox="1"/>
          <p:nvPr/>
        </p:nvSpPr>
        <p:spPr>
          <a:xfrm>
            <a:off x="5360213" y="4556455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關鍵決策</a:t>
            </a:r>
            <a:endParaRPr lang="en-US" sz="1800" dirty="0"/>
          </a:p>
        </p:txBody>
      </p:sp>
      <p:sp>
        <p:nvSpPr>
          <p:cNvPr id="51" name="Text 45"/>
          <p:cNvSpPr txBox="1"/>
          <p:nvPr/>
        </p:nvSpPr>
        <p:spPr>
          <a:xfrm>
            <a:off x="5360213" y="4994453"/>
            <a:ext cx="17812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高頻採樣穩定通信</a:t>
            </a:r>
            <a:endParaRPr lang="en-US" sz="1500" dirty="0"/>
          </a:p>
        </p:txBody>
      </p:sp>
      <p:sp>
        <p:nvSpPr>
          <p:cNvPr id="52" name="Shape 46"/>
          <p:cNvSpPr/>
          <p:nvPr/>
        </p:nvSpPr>
        <p:spPr>
          <a:xfrm>
            <a:off x="11062411" y="2009851"/>
            <a:ext cx="571500" cy="5715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53" name="Shape 47"/>
          <p:cNvSpPr/>
          <p:nvPr/>
        </p:nvSpPr>
        <p:spPr>
          <a:xfrm>
            <a:off x="11014862" y="1962302"/>
            <a:ext cx="666598" cy="666598"/>
          </a:xfrm>
          <a:prstGeom prst="ellipse">
            <a:avLst/>
          </a:prstGeom>
          <a:solidFill>
            <a:srgbClr val="1F77D3">
              <a:alpha val="20000"/>
            </a:srgbClr>
          </a:solidFill>
          <a:ln/>
        </p:spPr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195914" y="2143354"/>
            <a:ext cx="304495" cy="304495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10808208" y="2723998"/>
            <a:ext cx="12573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2024年Q2</a:t>
            </a:r>
            <a:endParaRPr lang="en-US" sz="1800" dirty="0"/>
          </a:p>
        </p:txBody>
      </p:sp>
      <p:sp>
        <p:nvSpPr>
          <p:cNvPr id="56" name="Text 49"/>
          <p:cNvSpPr txBox="1"/>
          <p:nvPr/>
        </p:nvSpPr>
        <p:spPr>
          <a:xfrm>
            <a:off x="10840212" y="3124505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完整遷移</a:t>
            </a:r>
            <a:endParaRPr lang="en-US" sz="2000" dirty="0"/>
          </a:p>
        </p:txBody>
      </p:sp>
      <p:sp>
        <p:nvSpPr>
          <p:cNvPr id="57" name="Text 50"/>
          <p:cNvSpPr txBox="1"/>
          <p:nvPr/>
        </p:nvSpPr>
        <p:spPr>
          <a:xfrm>
            <a:off x="9671609" y="3562502"/>
            <a:ext cx="352501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完整遷移至ESP32-C3 Mini，重新設計PCB</a:t>
            </a:r>
            <a:endParaRPr lang="en-US" sz="1800" dirty="0"/>
          </a:p>
        </p:txBody>
      </p:sp>
      <p:sp>
        <p:nvSpPr>
          <p:cNvPr id="58" name="Shape 51"/>
          <p:cNvSpPr/>
          <p:nvPr/>
        </p:nvSpPr>
        <p:spPr>
          <a:xfrm>
            <a:off x="9578340" y="4366260"/>
            <a:ext cx="3543300" cy="1123798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8000"/>
              </a:srgbClr>
            </a:outerShdw>
          </a:effectLst>
        </p:spPr>
      </p:sp>
      <p:sp>
        <p:nvSpPr>
          <p:cNvPr id="59" name="Text 52"/>
          <p:cNvSpPr txBox="1"/>
          <p:nvPr/>
        </p:nvSpPr>
        <p:spPr>
          <a:xfrm>
            <a:off x="9768535" y="4556455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工程突破</a:t>
            </a:r>
            <a:endParaRPr lang="en-US" sz="1800" dirty="0"/>
          </a:p>
        </p:txBody>
      </p:sp>
      <p:sp>
        <p:nvSpPr>
          <p:cNvPr id="60" name="Text 53"/>
          <p:cNvSpPr txBox="1"/>
          <p:nvPr/>
        </p:nvSpPr>
        <p:spPr>
          <a:xfrm>
            <a:off x="9768535" y="4994453"/>
            <a:ext cx="19815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CNC加工零件小型化</a:t>
            </a:r>
            <a:endParaRPr lang="en-US" sz="1500" dirty="0"/>
          </a:p>
        </p:txBody>
      </p:sp>
      <p:sp>
        <p:nvSpPr>
          <p:cNvPr id="61" name="Shape 54"/>
          <p:cNvSpPr/>
          <p:nvPr/>
        </p:nvSpPr>
        <p:spPr>
          <a:xfrm>
            <a:off x="15470734" y="2009851"/>
            <a:ext cx="571500" cy="57150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62" name="Shape 55"/>
          <p:cNvSpPr/>
          <p:nvPr/>
        </p:nvSpPr>
        <p:spPr>
          <a:xfrm>
            <a:off x="15423185" y="1962302"/>
            <a:ext cx="666598" cy="666598"/>
          </a:xfrm>
          <a:prstGeom prst="ellipse">
            <a:avLst/>
          </a:prstGeom>
          <a:solidFill>
            <a:srgbClr val="E53935">
              <a:alpha val="20000"/>
            </a:srgbClr>
          </a:solidFill>
          <a:ln/>
        </p:spPr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rcRect l="-107" r="-107" t="0" b="0"/>
          <a:stretch/>
        </p:blipFill>
        <p:spPr>
          <a:xfrm>
            <a:off x="15622524" y="2143354"/>
            <a:ext cx="267005" cy="304495"/>
          </a:xfrm>
          <a:prstGeom prst="rect">
            <a:avLst/>
          </a:prstGeom>
        </p:spPr>
      </p:pic>
      <p:sp>
        <p:nvSpPr>
          <p:cNvPr id="64" name="Text 56"/>
          <p:cNvSpPr txBox="1"/>
          <p:nvPr/>
        </p:nvSpPr>
        <p:spPr>
          <a:xfrm>
            <a:off x="15216530" y="2723998"/>
            <a:ext cx="12573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2024年Q3</a:t>
            </a:r>
            <a:endParaRPr lang="en-US" sz="1800" dirty="0"/>
          </a:p>
        </p:txBody>
      </p:sp>
      <p:sp>
        <p:nvSpPr>
          <p:cNvPr id="65" name="Text 57"/>
          <p:cNvSpPr txBox="1"/>
          <p:nvPr/>
        </p:nvSpPr>
        <p:spPr>
          <a:xfrm>
            <a:off x="15248534" y="3124505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優化完成</a:t>
            </a:r>
            <a:endParaRPr lang="en-US" sz="2000" dirty="0"/>
          </a:p>
        </p:txBody>
      </p:sp>
      <p:sp>
        <p:nvSpPr>
          <p:cNvPr id="66" name="Text 58"/>
          <p:cNvSpPr txBox="1"/>
          <p:nvPr/>
        </p:nvSpPr>
        <p:spPr>
          <a:xfrm>
            <a:off x="14028725" y="3562502"/>
            <a:ext cx="3629254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完成韌體與電源管理優化，達到15小時續航</a:t>
            </a:r>
            <a:endParaRPr lang="en-US" sz="1800" dirty="0"/>
          </a:p>
        </p:txBody>
      </p:sp>
      <p:sp>
        <p:nvSpPr>
          <p:cNvPr id="67" name="Shape 59"/>
          <p:cNvSpPr/>
          <p:nvPr/>
        </p:nvSpPr>
        <p:spPr>
          <a:xfrm>
            <a:off x="13986662" y="4366260"/>
            <a:ext cx="3543300" cy="1123798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8000"/>
              </a:srgbClr>
            </a:outerShdw>
          </a:effectLst>
        </p:spPr>
      </p:sp>
      <p:sp>
        <p:nvSpPr>
          <p:cNvPr id="68" name="Text 60"/>
          <p:cNvSpPr txBox="1"/>
          <p:nvPr/>
        </p:nvSpPr>
        <p:spPr>
          <a:xfrm>
            <a:off x="14176858" y="4556455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成果驗證</a:t>
            </a:r>
            <a:endParaRPr lang="en-US" sz="1800" dirty="0"/>
          </a:p>
        </p:txBody>
      </p:sp>
      <p:sp>
        <p:nvSpPr>
          <p:cNvPr id="69" name="Text 61"/>
          <p:cNvSpPr txBox="1"/>
          <p:nvPr/>
        </p:nvSpPr>
        <p:spPr>
          <a:xfrm>
            <a:off x="14176858" y="4994453"/>
            <a:ext cx="15819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數據穩定低功耗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6390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485546"/>
            <a:ext cx="40105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性能飛躍數據對比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457554"/>
            <a:ext cx="78016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 Micro:bit 到 ESP32 的升級成果，帶來前所未有的性能提升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1695" y="2447849"/>
            <a:ext cx="8191195" cy="3353105"/>
          </a:xfrm>
          <a:prstGeom prst="roundRect">
            <a:avLst>
              <a:gd name="adj" fmla="val 1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43646" y="2685593"/>
            <a:ext cx="571500" cy="571500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62518" y="2838298"/>
            <a:ext cx="333756" cy="2670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1695" y="6177686"/>
            <a:ext cx="8191195" cy="3353105"/>
          </a:xfrm>
          <a:prstGeom prst="roundRect">
            <a:avLst>
              <a:gd name="adj" fmla="val 1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47902" y="2733142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採樣頻率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047902" y="3418942"/>
            <a:ext cx="7434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50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1545336" y="3562502"/>
            <a:ext cx="5056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Hz</a:t>
            </a:r>
            <a:endParaRPr lang="en-US" sz="2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17" r="-17" t="0" b="0"/>
          <a:stretch/>
        </p:blipFill>
        <p:spPr>
          <a:xfrm>
            <a:off x="2136038" y="3504895"/>
            <a:ext cx="333756" cy="3813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334195" y="2447849"/>
            <a:ext cx="8191195" cy="3353105"/>
          </a:xfrm>
          <a:prstGeom prst="roundRect">
            <a:avLst>
              <a:gd name="adj" fmla="val 1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6716146" y="2685593"/>
            <a:ext cx="571500" cy="571500"/>
          </a:xfrm>
          <a:prstGeom prst="ellipse">
            <a:avLst/>
          </a:prstGeom>
          <a:solidFill>
            <a:srgbClr val="E53935">
              <a:alpha val="1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8143646" y="6415430"/>
            <a:ext cx="571500" cy="571500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2612441" y="3267151"/>
            <a:ext cx="1515161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200</a:t>
            </a:r>
            <a:endParaRPr lang="en-US" sz="4500" dirty="0"/>
          </a:p>
        </p:txBody>
      </p:sp>
      <p:sp>
        <p:nvSpPr>
          <p:cNvPr id="17" name="Text 13"/>
          <p:cNvSpPr txBox="1"/>
          <p:nvPr/>
        </p:nvSpPr>
        <p:spPr>
          <a:xfrm>
            <a:off x="3727094" y="3647542"/>
            <a:ext cx="5056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Hz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1047902" y="4267505"/>
            <a:ext cx="7258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更高採樣頻率捕捉更細微動作變化，準確識別快速動作與關鍵技術細節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047902" y="4786884"/>
            <a:ext cx="1362456" cy="437998"/>
          </a:xfrm>
          <a:prstGeom prst="roundRect">
            <a:avLst>
              <a:gd name="adj" fmla="val 90769"/>
            </a:avLst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-133" r="-133" t="0" b="0"/>
          <a:stretch/>
        </p:blipFill>
        <p:spPr>
          <a:xfrm>
            <a:off x="1190549" y="4901184"/>
            <a:ext cx="171907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620402" y="2733142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處理速度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9620402" y="3418942"/>
            <a:ext cx="5148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3000" dirty="0"/>
          </a:p>
        </p:txBody>
      </p:sp>
      <p:sp>
        <p:nvSpPr>
          <p:cNvPr id="23" name="Text 18"/>
          <p:cNvSpPr txBox="1"/>
          <p:nvPr/>
        </p:nvSpPr>
        <p:spPr>
          <a:xfrm>
            <a:off x="9892894" y="3562502"/>
            <a:ext cx="3246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x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9620402" y="4267505"/>
            <a:ext cx="6801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大幅提升數據處理速度，實現更快的反應時間與更即時的回饋機制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9620402" y="4786884"/>
            <a:ext cx="1552651" cy="437998"/>
          </a:xfrm>
          <a:prstGeom prst="roundRect">
            <a:avLst>
              <a:gd name="adj" fmla="val 90769"/>
            </a:avLst>
          </a:prstGeom>
          <a:solidFill>
            <a:srgbClr val="E53935">
              <a:alpha val="10000"/>
            </a:srgbClr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1438351" y="4834433"/>
            <a:ext cx="10003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4倍提升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10067544" y="4834433"/>
            <a:ext cx="11338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10倍加速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1047902" y="5415991"/>
            <a:ext cx="7619695" cy="95098"/>
          </a:xfrm>
          <a:prstGeom prst="roundRect">
            <a:avLst>
              <a:gd name="adj" fmla="val 480767"/>
            </a:avLst>
          </a:prstGeom>
          <a:solidFill>
            <a:srgbClr val="EEEEEE"/>
          </a:solidFill>
          <a:ln/>
        </p:spPr>
      </p:sp>
      <p:sp>
        <p:nvSpPr>
          <p:cNvPr id="29" name="Shape 24"/>
          <p:cNvSpPr/>
          <p:nvPr/>
        </p:nvSpPr>
        <p:spPr>
          <a:xfrm>
            <a:off x="1047902" y="5415991"/>
            <a:ext cx="7619695" cy="95098"/>
          </a:xfrm>
          <a:prstGeom prst="roundRect">
            <a:avLst>
              <a:gd name="adj" fmla="val 480767"/>
            </a:avLst>
          </a:prstGeom>
          <a:solidFill>
            <a:srgbClr val="1F77D3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868851" y="2838298"/>
            <a:ext cx="267005" cy="267005"/>
          </a:xfrm>
          <a:prstGeom prst="rect">
            <a:avLst/>
          </a:prstGeom>
        </p:spPr>
      </p:pic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-17" r="-17" t="0" b="0"/>
          <a:stretch/>
        </p:blipFill>
        <p:spPr>
          <a:xfrm>
            <a:off x="10305288" y="3504895"/>
            <a:ext cx="333756" cy="38130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0781690" y="3267151"/>
            <a:ext cx="1153058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</a:t>
            </a:r>
            <a:endParaRPr lang="en-US" sz="4500" dirty="0"/>
          </a:p>
        </p:txBody>
      </p:sp>
      <p:sp>
        <p:nvSpPr>
          <p:cNvPr id="33" name="Text 26"/>
          <p:cNvSpPr txBox="1"/>
          <p:nvPr/>
        </p:nvSpPr>
        <p:spPr>
          <a:xfrm>
            <a:off x="11540642" y="3647542"/>
            <a:ext cx="3246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x</a:t>
            </a:r>
            <a:endParaRPr lang="en-US" sz="20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763049" y="4901184"/>
            <a:ext cx="228600" cy="22860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9620402" y="5415991"/>
            <a:ext cx="7619695" cy="95098"/>
          </a:xfrm>
          <a:prstGeom prst="roundRect">
            <a:avLst>
              <a:gd name="adj" fmla="val 480767"/>
            </a:avLst>
          </a:prstGeom>
          <a:solidFill>
            <a:srgbClr val="EEEEEE"/>
          </a:solidFill>
          <a:ln/>
        </p:spPr>
      </p:sp>
      <p:sp>
        <p:nvSpPr>
          <p:cNvPr id="36" name="Shape 28"/>
          <p:cNvSpPr/>
          <p:nvPr/>
        </p:nvSpPr>
        <p:spPr>
          <a:xfrm>
            <a:off x="9620402" y="5415991"/>
            <a:ext cx="7619695" cy="95098"/>
          </a:xfrm>
          <a:prstGeom prst="roundRect">
            <a:avLst>
              <a:gd name="adj" fmla="val 480767"/>
            </a:avLst>
          </a:prstGeom>
          <a:solidFill>
            <a:srgbClr val="E53935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rcRect l="-685" r="-685" t="0" b="0"/>
          <a:stretch/>
        </p:blipFill>
        <p:spPr>
          <a:xfrm>
            <a:off x="8277149" y="6568135"/>
            <a:ext cx="304495" cy="267005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9334195" y="6177686"/>
            <a:ext cx="8191195" cy="3353105"/>
          </a:xfrm>
          <a:prstGeom prst="roundRect">
            <a:avLst>
              <a:gd name="adj" fmla="val 1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16716146" y="6415430"/>
            <a:ext cx="571500" cy="571500"/>
          </a:xfrm>
          <a:prstGeom prst="ellipse">
            <a:avLst/>
          </a:prstGeom>
          <a:solidFill>
            <a:srgbClr val="E53935">
              <a:alpha val="10000"/>
            </a:srgbClr>
          </a:solidFill>
          <a:ln/>
        </p:spPr>
      </p:sp>
      <p:sp>
        <p:nvSpPr>
          <p:cNvPr id="40" name="Text 31"/>
          <p:cNvSpPr txBox="1"/>
          <p:nvPr/>
        </p:nvSpPr>
        <p:spPr>
          <a:xfrm>
            <a:off x="1047902" y="6463894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功耗表現</a:t>
            </a:r>
            <a:endParaRPr lang="en-US" sz="2000" dirty="0"/>
          </a:p>
        </p:txBody>
      </p:sp>
      <p:sp>
        <p:nvSpPr>
          <p:cNvPr id="41" name="Text 32"/>
          <p:cNvSpPr txBox="1"/>
          <p:nvPr/>
        </p:nvSpPr>
        <p:spPr>
          <a:xfrm>
            <a:off x="9620402" y="6463894"/>
            <a:ext cx="14676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識別準確率</a:t>
            </a:r>
            <a:endParaRPr lang="en-US" sz="2000" dirty="0"/>
          </a:p>
        </p:txBody>
      </p:sp>
      <p:sp>
        <p:nvSpPr>
          <p:cNvPr id="42" name="Text 33"/>
          <p:cNvSpPr txBox="1"/>
          <p:nvPr/>
        </p:nvSpPr>
        <p:spPr>
          <a:xfrm>
            <a:off x="1047902" y="7149694"/>
            <a:ext cx="9628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100</a:t>
            </a:r>
            <a:endParaRPr lang="en-US" sz="3000" dirty="0"/>
          </a:p>
        </p:txBody>
      </p:sp>
      <p:sp>
        <p:nvSpPr>
          <p:cNvPr id="43" name="Text 34"/>
          <p:cNvSpPr txBox="1"/>
          <p:nvPr/>
        </p:nvSpPr>
        <p:spPr>
          <a:xfrm>
            <a:off x="1770278" y="7292340"/>
            <a:ext cx="4288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%</a:t>
            </a:r>
            <a:endParaRPr lang="en-US" sz="2000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rcRect l="-17" r="-17" t="0" b="0"/>
          <a:stretch/>
        </p:blipFill>
        <p:spPr>
          <a:xfrm>
            <a:off x="2289658" y="7234733"/>
            <a:ext cx="333756" cy="381305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2766060" y="6996989"/>
            <a:ext cx="1153058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60</a:t>
            </a:r>
            <a:endParaRPr lang="en-US" sz="4500" dirty="0"/>
          </a:p>
        </p:txBody>
      </p:sp>
      <p:sp>
        <p:nvSpPr>
          <p:cNvPr id="46" name="Text 36"/>
          <p:cNvSpPr txBox="1"/>
          <p:nvPr/>
        </p:nvSpPr>
        <p:spPr>
          <a:xfrm>
            <a:off x="3525012" y="7378294"/>
            <a:ext cx="4288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%</a:t>
            </a:r>
            <a:endParaRPr lang="en-US" sz="2000" dirty="0"/>
          </a:p>
        </p:txBody>
      </p:sp>
      <p:sp>
        <p:nvSpPr>
          <p:cNvPr id="47" name="Text 37"/>
          <p:cNvSpPr txBox="1"/>
          <p:nvPr/>
        </p:nvSpPr>
        <p:spPr>
          <a:xfrm>
            <a:off x="1047902" y="7997342"/>
            <a:ext cx="7029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智能功耗管理與硬體優化，實現低功耗運行，延長單次充電使用時間</a:t>
            </a:r>
            <a:endParaRPr lang="en-US" sz="1800" dirty="0"/>
          </a:p>
        </p:txBody>
      </p:sp>
      <p:sp>
        <p:nvSpPr>
          <p:cNvPr id="48" name="Shape 38"/>
          <p:cNvSpPr/>
          <p:nvPr/>
        </p:nvSpPr>
        <p:spPr>
          <a:xfrm>
            <a:off x="1047902" y="8516722"/>
            <a:ext cx="1543507" cy="437998"/>
          </a:xfrm>
          <a:prstGeom prst="roundRect">
            <a:avLst>
              <a:gd name="adj" fmla="val 90769"/>
            </a:avLst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190549" y="8631022"/>
            <a:ext cx="228600" cy="228600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9620402" y="7149694"/>
            <a:ext cx="7434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65</a:t>
            </a:r>
            <a:endParaRPr lang="en-US" sz="3000" dirty="0"/>
          </a:p>
        </p:txBody>
      </p:sp>
      <p:sp>
        <p:nvSpPr>
          <p:cNvPr id="51" name="Text 40"/>
          <p:cNvSpPr txBox="1"/>
          <p:nvPr/>
        </p:nvSpPr>
        <p:spPr>
          <a:xfrm>
            <a:off x="10117836" y="7292340"/>
            <a:ext cx="4288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%</a:t>
            </a:r>
            <a:endParaRPr lang="en-US" sz="2000" dirty="0"/>
          </a:p>
        </p:txBody>
      </p:sp>
      <p:sp>
        <p:nvSpPr>
          <p:cNvPr id="52" name="Text 41"/>
          <p:cNvSpPr txBox="1"/>
          <p:nvPr/>
        </p:nvSpPr>
        <p:spPr>
          <a:xfrm>
            <a:off x="9620402" y="7997342"/>
            <a:ext cx="68872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改進的ML模型與更高質量的傳感器數據，顯著提高動作識別準確性</a:t>
            </a:r>
            <a:endParaRPr lang="en-US" sz="1800" dirty="0"/>
          </a:p>
        </p:txBody>
      </p:sp>
      <p:sp>
        <p:nvSpPr>
          <p:cNvPr id="53" name="Shape 42"/>
          <p:cNvSpPr/>
          <p:nvPr/>
        </p:nvSpPr>
        <p:spPr>
          <a:xfrm>
            <a:off x="9620402" y="8516722"/>
            <a:ext cx="2238451" cy="437998"/>
          </a:xfrm>
          <a:prstGeom prst="roundRect">
            <a:avLst>
              <a:gd name="adj" fmla="val 90769"/>
            </a:avLst>
          </a:prstGeom>
          <a:solidFill>
            <a:srgbClr val="E53935">
              <a:alpha val="10000"/>
            </a:srgbClr>
          </a:solidFill>
          <a:ln/>
        </p:spPr>
      </p:sp>
      <p:sp>
        <p:nvSpPr>
          <p:cNvPr id="54" name="Text 43"/>
          <p:cNvSpPr txBox="1"/>
          <p:nvPr/>
        </p:nvSpPr>
        <p:spPr>
          <a:xfrm>
            <a:off x="1495044" y="8564270"/>
            <a:ext cx="11247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降低40%</a:t>
            </a:r>
            <a:endParaRPr lang="en-US" sz="1800" dirty="0"/>
          </a:p>
        </p:txBody>
      </p:sp>
      <p:sp>
        <p:nvSpPr>
          <p:cNvPr id="55" name="Text 44"/>
          <p:cNvSpPr txBox="1"/>
          <p:nvPr/>
        </p:nvSpPr>
        <p:spPr>
          <a:xfrm>
            <a:off x="10067544" y="8564270"/>
            <a:ext cx="18196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提升20個百分點</a:t>
            </a:r>
            <a:endParaRPr lang="en-US" sz="1800" dirty="0"/>
          </a:p>
        </p:txBody>
      </p:sp>
      <p:sp>
        <p:nvSpPr>
          <p:cNvPr id="56" name="Shape 45"/>
          <p:cNvSpPr/>
          <p:nvPr/>
        </p:nvSpPr>
        <p:spPr>
          <a:xfrm>
            <a:off x="1047902" y="9145829"/>
            <a:ext cx="7619695" cy="95098"/>
          </a:xfrm>
          <a:prstGeom prst="roundRect">
            <a:avLst>
              <a:gd name="adj" fmla="val 480767"/>
            </a:avLst>
          </a:prstGeom>
          <a:solidFill>
            <a:srgbClr val="EEEEEE"/>
          </a:solidFill>
          <a:ln/>
        </p:spPr>
      </p:sp>
      <p:sp>
        <p:nvSpPr>
          <p:cNvPr id="57" name="Shape 46"/>
          <p:cNvSpPr/>
          <p:nvPr/>
        </p:nvSpPr>
        <p:spPr>
          <a:xfrm>
            <a:off x="1047902" y="9145829"/>
            <a:ext cx="4572000" cy="95098"/>
          </a:xfrm>
          <a:prstGeom prst="roundRect">
            <a:avLst>
              <a:gd name="adj" fmla="val 480767"/>
            </a:avLst>
          </a:prstGeom>
          <a:solidFill>
            <a:srgbClr val="1F77D3"/>
          </a:solidFill>
          <a:ln/>
        </p:spPr>
      </p:sp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6868851" y="6568135"/>
            <a:ext cx="267005" cy="267005"/>
          </a:xfrm>
          <a:prstGeom prst="rect">
            <a:avLst/>
          </a:prstGeom>
        </p:spPr>
      </p:pic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1"/>
          <a:srcRect l="-17" r="-17" t="0" b="0"/>
          <a:stretch/>
        </p:blipFill>
        <p:spPr>
          <a:xfrm>
            <a:off x="10637215" y="7234733"/>
            <a:ext cx="333756" cy="381305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11113618" y="6996989"/>
            <a:ext cx="1153058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85</a:t>
            </a:r>
            <a:endParaRPr lang="en-US" sz="4500" dirty="0"/>
          </a:p>
        </p:txBody>
      </p:sp>
      <p:sp>
        <p:nvSpPr>
          <p:cNvPr id="61" name="Text 48"/>
          <p:cNvSpPr txBox="1"/>
          <p:nvPr/>
        </p:nvSpPr>
        <p:spPr>
          <a:xfrm>
            <a:off x="11872570" y="7378294"/>
            <a:ext cx="4288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%</a:t>
            </a:r>
            <a:endParaRPr lang="en-US" sz="2000" dirty="0"/>
          </a:p>
        </p:txBody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763049" y="8631022"/>
            <a:ext cx="228600" cy="228600"/>
          </a:xfrm>
          <a:prstGeom prst="rect">
            <a:avLst/>
          </a:prstGeom>
        </p:spPr>
      </p:pic>
      <p:sp>
        <p:nvSpPr>
          <p:cNvPr id="63" name="Shape 49"/>
          <p:cNvSpPr/>
          <p:nvPr/>
        </p:nvSpPr>
        <p:spPr>
          <a:xfrm>
            <a:off x="9620402" y="9145829"/>
            <a:ext cx="7619695" cy="95098"/>
          </a:xfrm>
          <a:prstGeom prst="roundRect">
            <a:avLst>
              <a:gd name="adj" fmla="val 480767"/>
            </a:avLst>
          </a:prstGeom>
          <a:solidFill>
            <a:srgbClr val="EEEEEE"/>
          </a:solidFill>
          <a:ln/>
        </p:spPr>
      </p:sp>
      <p:sp>
        <p:nvSpPr>
          <p:cNvPr id="64" name="Shape 50"/>
          <p:cNvSpPr/>
          <p:nvPr/>
        </p:nvSpPr>
        <p:spPr>
          <a:xfrm>
            <a:off x="9620402" y="9145829"/>
            <a:ext cx="7619695" cy="95098"/>
          </a:xfrm>
          <a:prstGeom prst="roundRect">
            <a:avLst>
              <a:gd name="adj" fmla="val 480767"/>
            </a:avLst>
          </a:prstGeom>
          <a:solidFill>
            <a:srgbClr val="E53935"/>
          </a:solidFill>
          <a:ln/>
        </p:spPr>
      </p:sp>
      <p:pic>
        <p:nvPicPr>
          <p:cNvPr id="6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761695" y="10069373"/>
            <a:ext cx="228600" cy="228600"/>
          </a:xfrm>
          <a:prstGeom prst="rect">
            <a:avLst/>
          </a:prstGeom>
        </p:spPr>
      </p:pic>
      <p:sp>
        <p:nvSpPr>
          <p:cNvPr id="66" name="Text 51"/>
          <p:cNvSpPr txBox="1"/>
          <p:nvPr/>
        </p:nvSpPr>
        <p:spPr>
          <a:xfrm>
            <a:off x="1067105" y="10002622"/>
            <a:ext cx="7086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ESP32-C3 RISC-V • 32位元處理器 • 160MHz主頻 • 低功耗藍牙5.0</a:t>
            </a:r>
            <a:endParaRPr lang="en-US" sz="1800" dirty="0"/>
          </a:p>
        </p:txBody>
      </p:sp>
      <p:sp>
        <p:nvSpPr>
          <p:cNvPr id="67" name="Text 52"/>
          <p:cNvSpPr txBox="1"/>
          <p:nvPr/>
        </p:nvSpPr>
        <p:spPr>
          <a:xfrm>
            <a:off x="13224053" y="10002622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12/43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3153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390449"/>
            <a:ext cx="35533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傳感器配置詳解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304849"/>
            <a:ext cx="72009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精心挑選的硬體規格，實現高精度動作捕捉與低功耗運作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71500" y="1962302"/>
            <a:ext cx="8458200" cy="3657600"/>
          </a:xfrm>
          <a:prstGeom prst="roundRect">
            <a:avLst>
              <a:gd name="adj" fmla="val 7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508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3020263"/>
            <a:ext cx="845820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Shape 5"/>
          <p:cNvSpPr/>
          <p:nvPr/>
        </p:nvSpPr>
        <p:spPr>
          <a:xfrm>
            <a:off x="761695" y="2204618"/>
            <a:ext cx="571500" cy="571500"/>
          </a:xfrm>
          <a:prstGeom prst="ellipse">
            <a:avLst/>
          </a:prstGeom>
          <a:solidFill>
            <a:srgbClr val="1F77D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1423" y="2314346"/>
            <a:ext cx="352044" cy="3520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24305" y="2124151"/>
            <a:ext cx="16102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主控處理器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2581351"/>
            <a:ext cx="24670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>
                    <a:alpha val="8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Seeed XIAO ESP32-C3 Mini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3181198"/>
            <a:ext cx="3534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CPU： 32位 RISC-V 單核 160MHz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3638398"/>
            <a:ext cx="4334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記憶體： 400KB SRAM (Micro:bit的25倍)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61695" y="4095598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存儲： 4MB Flash (Micro:bit的16倍)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" y="4552798"/>
            <a:ext cx="3372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工作電壓： 5V 通過 USB-C 供電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61695" y="5009998"/>
            <a:ext cx="39438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尺寸： 21 × 17.5mm (超小型化設計)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262872" y="1962302"/>
            <a:ext cx="8458200" cy="3657600"/>
          </a:xfrm>
          <a:prstGeom prst="roundRect">
            <a:avLst>
              <a:gd name="adj" fmla="val 7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50800" dir="54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262872" y="3020263"/>
            <a:ext cx="845820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8" name="Shape 15"/>
          <p:cNvSpPr/>
          <p:nvPr/>
        </p:nvSpPr>
        <p:spPr>
          <a:xfrm>
            <a:off x="9453982" y="2204618"/>
            <a:ext cx="571500" cy="571500"/>
          </a:xfrm>
          <a:prstGeom prst="ellipse">
            <a:avLst/>
          </a:prstGeom>
          <a:solidFill>
            <a:srgbClr val="E53935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62795" y="2314346"/>
            <a:ext cx="352044" cy="35204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0215677" y="2124151"/>
            <a:ext cx="16578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IMU 傳感器</a:t>
            </a:r>
            <a:endParaRPr lang="en-US" sz="2100" dirty="0"/>
          </a:p>
        </p:txBody>
      </p:sp>
      <p:sp>
        <p:nvSpPr>
          <p:cNvPr id="21" name="Text 17"/>
          <p:cNvSpPr txBox="1"/>
          <p:nvPr/>
        </p:nvSpPr>
        <p:spPr>
          <a:xfrm>
            <a:off x="10215677" y="2581351"/>
            <a:ext cx="25338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>
                    <a:alpha val="8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MPU-6050 6軸慣性測量單元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9453982" y="3181198"/>
            <a:ext cx="3762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採樣頻率： 200Hz (Micro:bit的4倍)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9453982" y="3638398"/>
            <a:ext cx="3372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陀螺儀： 3軸，範圍 ±2000°/秒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9453982" y="4095598"/>
            <a:ext cx="30769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加速度計： 3軸，範圍 ±16g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9453982" y="4552798"/>
            <a:ext cx="25438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解析度： 16位數據輸出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9453982" y="5009998"/>
            <a:ext cx="24963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精確度： 角度偏差 &lt; 2°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571500" y="5857646"/>
            <a:ext cx="8458200" cy="3657600"/>
          </a:xfrm>
          <a:prstGeom prst="roundRect">
            <a:avLst>
              <a:gd name="adj" fmla="val 7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50800" dir="5400000">
              <a:srgbClr val="000000">
                <a:alpha val="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71500" y="6915607"/>
            <a:ext cx="845820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9" name="Shape 25"/>
          <p:cNvSpPr/>
          <p:nvPr/>
        </p:nvSpPr>
        <p:spPr>
          <a:xfrm>
            <a:off x="761695" y="6099962"/>
            <a:ext cx="571500" cy="571500"/>
          </a:xfrm>
          <a:prstGeom prst="ellipse">
            <a:avLst/>
          </a:prstGeom>
          <a:solidFill>
            <a:srgbClr val="00ACC1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30" b="-130"/>
          <a:stretch/>
        </p:blipFill>
        <p:spPr>
          <a:xfrm>
            <a:off x="938174" y="6209690"/>
            <a:ext cx="219456" cy="35204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524305" y="6019495"/>
            <a:ext cx="1334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ACC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通信模塊</a:t>
            </a:r>
            <a:endParaRPr lang="en-US" sz="2100" dirty="0"/>
          </a:p>
        </p:txBody>
      </p:sp>
      <p:sp>
        <p:nvSpPr>
          <p:cNvPr id="32" name="Text 27"/>
          <p:cNvSpPr txBox="1"/>
          <p:nvPr/>
        </p:nvSpPr>
        <p:spPr>
          <a:xfrm>
            <a:off x="1524305" y="6476695"/>
            <a:ext cx="17245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>
                    <a:alpha val="8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BLE 5.0 GATT 服務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761695" y="7076542"/>
            <a:ext cx="31720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協議： 藍牙低功耗 GATT 服務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761695" y="7533742"/>
            <a:ext cx="33531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有效範圍： ~10米（室內環境）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761695" y="7990942"/>
            <a:ext cx="21241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數據速率： 1 Mbps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761695" y="8448142"/>
            <a:ext cx="39630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延遲： &lt; 50ms (Micro:bit的75%降低)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761695" y="8905342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穩定性： 自動重連，極低丟包率</a:t>
            </a:r>
            <a:endParaRPr lang="en-US" sz="1800" dirty="0"/>
          </a:p>
        </p:txBody>
      </p:sp>
      <p:sp>
        <p:nvSpPr>
          <p:cNvPr id="38" name="Shape 33"/>
          <p:cNvSpPr/>
          <p:nvPr/>
        </p:nvSpPr>
        <p:spPr>
          <a:xfrm>
            <a:off x="9262872" y="5857646"/>
            <a:ext cx="8458200" cy="3657600"/>
          </a:xfrm>
          <a:prstGeom prst="roundRect">
            <a:avLst>
              <a:gd name="adj" fmla="val 7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50800" dir="5400000">
              <a:srgbClr val="000000">
                <a:alpha val="8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9262872" y="6915607"/>
            <a:ext cx="845820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0" name="Shape 35"/>
          <p:cNvSpPr/>
          <p:nvPr/>
        </p:nvSpPr>
        <p:spPr>
          <a:xfrm>
            <a:off x="9453982" y="6099962"/>
            <a:ext cx="571500" cy="57150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rcRect l="-563" r="-563" t="0" b="0"/>
          <a:stretch/>
        </p:blipFill>
        <p:spPr>
          <a:xfrm>
            <a:off x="9539021" y="6209690"/>
            <a:ext cx="400507" cy="352044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10215677" y="6019495"/>
            <a:ext cx="1334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3A04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電源管理</a:t>
            </a:r>
            <a:endParaRPr lang="en-US" sz="2100" dirty="0"/>
          </a:p>
        </p:txBody>
      </p:sp>
      <p:sp>
        <p:nvSpPr>
          <p:cNvPr id="43" name="Text 37"/>
          <p:cNvSpPr txBox="1"/>
          <p:nvPr/>
        </p:nvSpPr>
        <p:spPr>
          <a:xfrm>
            <a:off x="10215677" y="6476695"/>
            <a:ext cx="2238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>
                    <a:alpha val="8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智能供電系統與睡眠控制</a:t>
            </a:r>
            <a:endParaRPr lang="en-US" sz="1500" dirty="0"/>
          </a:p>
        </p:txBody>
      </p:sp>
      <p:sp>
        <p:nvSpPr>
          <p:cNvPr id="44" name="Text 38"/>
          <p:cNvSpPr txBox="1"/>
          <p:nvPr/>
        </p:nvSpPr>
        <p:spPr>
          <a:xfrm>
            <a:off x="9453982" y="7076542"/>
            <a:ext cx="32863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電池類型： 紐扣電池 (CR2032)</a:t>
            </a:r>
            <a:endParaRPr lang="en-US" sz="1800" dirty="0"/>
          </a:p>
        </p:txBody>
      </p:sp>
      <p:sp>
        <p:nvSpPr>
          <p:cNvPr id="45" name="Text 39"/>
          <p:cNvSpPr txBox="1"/>
          <p:nvPr/>
        </p:nvSpPr>
        <p:spPr>
          <a:xfrm>
            <a:off x="9453982" y="7533742"/>
            <a:ext cx="47823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續航時間： 主動模式 15小時 (Micro:bit的3倍)</a:t>
            </a:r>
            <a:endParaRPr lang="en-US" sz="1800" dirty="0"/>
          </a:p>
        </p:txBody>
      </p:sp>
      <p:sp>
        <p:nvSpPr>
          <p:cNvPr id="46" name="Text 40"/>
          <p:cNvSpPr txBox="1"/>
          <p:nvPr/>
        </p:nvSpPr>
        <p:spPr>
          <a:xfrm>
            <a:off x="9453982" y="7990942"/>
            <a:ext cx="3734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待機時間： 3-4個月 (智能睡眠機制)</a:t>
            </a:r>
            <a:endParaRPr lang="en-US" sz="1800" dirty="0"/>
          </a:p>
        </p:txBody>
      </p:sp>
      <p:sp>
        <p:nvSpPr>
          <p:cNvPr id="47" name="Text 41"/>
          <p:cNvSpPr txBox="1"/>
          <p:nvPr/>
        </p:nvSpPr>
        <p:spPr>
          <a:xfrm>
            <a:off x="9453982" y="8448142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工作模式： 主動模式、睡眠模式、深度睡眠</a:t>
            </a:r>
            <a:endParaRPr lang="en-US" sz="1800" dirty="0"/>
          </a:p>
        </p:txBody>
      </p:sp>
      <p:sp>
        <p:nvSpPr>
          <p:cNvPr id="48" name="Text 42"/>
          <p:cNvSpPr txBox="1"/>
          <p:nvPr/>
        </p:nvSpPr>
        <p:spPr>
          <a:xfrm>
            <a:off x="9453982" y="8905342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未來規劃： 超級電容 + 無線充電方案</a:t>
            </a:r>
            <a:endParaRPr lang="en-US" sz="1800" dirty="0"/>
          </a:p>
        </p:txBody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71500" y="9692640"/>
            <a:ext cx="200254" cy="200254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847649" y="9629546"/>
            <a:ext cx="64584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硬體配置實現高精度動作捕捉與低功耗運作，為資料分析提供穩定基礎</a:t>
            </a:r>
            <a:endParaRPr lang="en-US" sz="1500" dirty="0"/>
          </a:p>
        </p:txBody>
      </p:sp>
      <p:sp>
        <p:nvSpPr>
          <p:cNvPr id="51" name="Text 44"/>
          <p:cNvSpPr txBox="1"/>
          <p:nvPr/>
        </p:nvSpPr>
        <p:spPr>
          <a:xfrm>
            <a:off x="13415162" y="9629546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13/43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28854" y="371246"/>
            <a:ext cx="44677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電源管理與續航策略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28854" y="1343254"/>
            <a:ext cx="58009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智能電源管理系統實現長效續航與低功耗運作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28854" y="1933042"/>
            <a:ext cx="4886554" cy="4134002"/>
          </a:xfrm>
          <a:prstGeom prst="roundRect">
            <a:avLst>
              <a:gd name="adj" fmla="val 764"/>
            </a:avLst>
          </a:prstGeom>
          <a:solidFill>
            <a:srgbClr val="FFFFFF"/>
          </a:solidFill>
          <a:ln w="25400">
            <a:solidFill>
              <a:srgbClr val="E53935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57" r="-57" t="0" b="0"/>
          <a:stretch/>
        </p:blipFill>
        <p:spPr>
          <a:xfrm>
            <a:off x="638251" y="2143354"/>
            <a:ext cx="400507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1405" y="2180844"/>
            <a:ext cx="171541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主動訓練模式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38251" y="2733142"/>
            <a:ext cx="45153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系統全功能運作，加速度計以最高採樣率工作，BLE保持活躍連接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38251" y="3525926"/>
            <a:ext cx="4466844" cy="780898"/>
          </a:xfrm>
          <a:prstGeom prst="roundRect">
            <a:avLst>
              <a:gd name="adj" fmla="val 14280"/>
            </a:avLst>
          </a:prstGeom>
          <a:solidFill>
            <a:srgbClr val="000000">
              <a:alpha val="3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0898" y="3668573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功耗水平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865169" y="3668573"/>
            <a:ext cx="12673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 (85mA)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80898" y="4106570"/>
            <a:ext cx="4181551" cy="57607"/>
          </a:xfrm>
          <a:prstGeom prst="roundRect">
            <a:avLst>
              <a:gd name="adj" fmla="val 793654"/>
            </a:avLst>
          </a:prstGeom>
          <a:solidFill>
            <a:srgbClr val="E0E0E0"/>
          </a:solidFill>
          <a:ln/>
        </p:spPr>
      </p:sp>
      <p:sp>
        <p:nvSpPr>
          <p:cNvPr id="13" name="Shape 10"/>
          <p:cNvSpPr/>
          <p:nvPr/>
        </p:nvSpPr>
        <p:spPr>
          <a:xfrm>
            <a:off x="780898" y="4106570"/>
            <a:ext cx="3552444" cy="57607"/>
          </a:xfrm>
          <a:prstGeom prst="roundRect">
            <a:avLst>
              <a:gd name="adj" fmla="val 793654"/>
            </a:avLst>
          </a:prstGeom>
          <a:solidFill>
            <a:srgbClr val="E5393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8251" y="4593031"/>
            <a:ext cx="20290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200Hz 感測採樣率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38251" y="5011826"/>
            <a:ext cx="2229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即時數據處理與傳輸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38251" y="5430622"/>
            <a:ext cx="20098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BLE 活躍連接模式</a:t>
            </a:r>
            <a:endParaRPr lang="en-US" sz="1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-1058" r="-1058" t="0" b="0"/>
          <a:stretch/>
        </p:blipFill>
        <p:spPr>
          <a:xfrm>
            <a:off x="5848502" y="3377794"/>
            <a:ext cx="314554" cy="3520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566867" y="3824935"/>
            <a:ext cx="886054" cy="437998"/>
          </a:xfrm>
          <a:prstGeom prst="roundRect">
            <a:avLst>
              <a:gd name="adj" fmla="val 90769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5709514" y="3872484"/>
            <a:ext cx="7717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3分鐘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5498287" y="4310482"/>
            <a:ext cx="11722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無動作檢測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704381" y="1933042"/>
            <a:ext cx="4886554" cy="4134002"/>
          </a:xfrm>
          <a:prstGeom prst="roundRect">
            <a:avLst>
              <a:gd name="adj" fmla="val 764"/>
            </a:avLst>
          </a:prstGeom>
          <a:solidFill>
            <a:srgbClr val="FFFFFF"/>
          </a:solidFill>
          <a:ln w="25400">
            <a:solidFill>
              <a:srgbClr val="FF9800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-80" r="-80" t="0" b="0"/>
          <a:stretch/>
        </p:blipFill>
        <p:spPr>
          <a:xfrm>
            <a:off x="6913778" y="2143354"/>
            <a:ext cx="286207" cy="4572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342632" y="2180844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9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待機模式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6913778" y="2733142"/>
            <a:ext cx="4239158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降低採樣率，保持BLE連接但減少廣播頻率，可立即恢復全功能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6913778" y="3525926"/>
            <a:ext cx="4466844" cy="780898"/>
          </a:xfrm>
          <a:prstGeom prst="roundRect">
            <a:avLst>
              <a:gd name="adj" fmla="val 14280"/>
            </a:avLst>
          </a:prstGeom>
          <a:solidFill>
            <a:srgbClr val="000000">
              <a:alpha val="3000"/>
            </a:srgbClr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7057339" y="3668573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功耗水平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10140696" y="3668573"/>
            <a:ext cx="12673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9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 (40mA)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7057339" y="4106570"/>
            <a:ext cx="4181551" cy="57607"/>
          </a:xfrm>
          <a:prstGeom prst="roundRect">
            <a:avLst>
              <a:gd name="adj" fmla="val 793654"/>
            </a:avLst>
          </a:prstGeom>
          <a:solidFill>
            <a:srgbClr val="E0E0E0"/>
          </a:solidFill>
          <a:ln/>
        </p:spPr>
      </p:sp>
      <p:sp>
        <p:nvSpPr>
          <p:cNvPr id="29" name="Shape 24"/>
          <p:cNvSpPr/>
          <p:nvPr/>
        </p:nvSpPr>
        <p:spPr>
          <a:xfrm>
            <a:off x="7057339" y="4106570"/>
            <a:ext cx="1676095" cy="57607"/>
          </a:xfrm>
          <a:prstGeom prst="roundRect">
            <a:avLst>
              <a:gd name="adj" fmla="val 793654"/>
            </a:avLst>
          </a:prstGeom>
          <a:solidFill>
            <a:srgbClr val="FF9800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913778" y="4593031"/>
            <a:ext cx="18955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50Hz 感測採樣率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6913778" y="5011826"/>
            <a:ext cx="154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動作喚醒檢測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6913778" y="5430622"/>
            <a:ext cx="20098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BLE 間歇連接模式</a:t>
            </a:r>
            <a:endParaRPr lang="en-US" sz="18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rcRect l="-1058" r="-1058" t="0" b="0"/>
          <a:stretch/>
        </p:blipFill>
        <p:spPr>
          <a:xfrm>
            <a:off x="12124944" y="3377794"/>
            <a:ext cx="314554" cy="352044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11775643" y="3824935"/>
            <a:ext cx="1019556" cy="437998"/>
          </a:xfrm>
          <a:prstGeom prst="roundRect">
            <a:avLst>
              <a:gd name="adj" fmla="val 90769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11918290" y="3872484"/>
            <a:ext cx="905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10分鐘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11773814" y="4310482"/>
            <a:ext cx="11722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持續無動作</a:t>
            </a:r>
            <a:endParaRPr lang="en-US" sz="1500" dirty="0"/>
          </a:p>
        </p:txBody>
      </p:sp>
      <p:sp>
        <p:nvSpPr>
          <p:cNvPr id="37" name="Shape 31"/>
          <p:cNvSpPr/>
          <p:nvPr/>
        </p:nvSpPr>
        <p:spPr>
          <a:xfrm>
            <a:off x="12980822" y="1933042"/>
            <a:ext cx="4886554" cy="4134002"/>
          </a:xfrm>
          <a:prstGeom prst="roundRect">
            <a:avLst>
              <a:gd name="adj" fmla="val 764"/>
            </a:avLst>
          </a:prstGeom>
          <a:solidFill>
            <a:srgbClr val="FFFFFF"/>
          </a:solidFill>
          <a:ln w="25400">
            <a:solidFill>
              <a:srgbClr val="2196F3"/>
            </a:solidFill>
            <a:prstDash val="solid"/>
          </a:ln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3190220" y="2143354"/>
            <a:ext cx="342900" cy="45720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13675766" y="2180844"/>
            <a:ext cx="171541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96F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深度睡眠模式</a:t>
            </a:r>
            <a:endParaRPr lang="en-US" sz="2000" dirty="0"/>
          </a:p>
        </p:txBody>
      </p:sp>
      <p:sp>
        <p:nvSpPr>
          <p:cNvPr id="40" name="Text 33"/>
          <p:cNvSpPr txBox="1"/>
          <p:nvPr/>
        </p:nvSpPr>
        <p:spPr>
          <a:xfrm>
            <a:off x="13190220" y="2733142"/>
            <a:ext cx="4467758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僅保留最低功能，BLE斷開連接，只有物理動作或按鈕才能喚醒系統</a:t>
            </a:r>
            <a:endParaRPr lang="en-US" sz="1800" dirty="0"/>
          </a:p>
        </p:txBody>
      </p:sp>
      <p:sp>
        <p:nvSpPr>
          <p:cNvPr id="41" name="Shape 34"/>
          <p:cNvSpPr/>
          <p:nvPr/>
        </p:nvSpPr>
        <p:spPr>
          <a:xfrm>
            <a:off x="13190220" y="3525926"/>
            <a:ext cx="4466844" cy="780898"/>
          </a:xfrm>
          <a:prstGeom prst="roundRect">
            <a:avLst>
              <a:gd name="adj" fmla="val 14280"/>
            </a:avLst>
          </a:prstGeom>
          <a:solidFill>
            <a:srgbClr val="000000">
              <a:alpha val="3000"/>
            </a:srgbClr>
          </a:solidFill>
          <a:ln/>
        </p:spPr>
      </p:sp>
      <p:sp>
        <p:nvSpPr>
          <p:cNvPr id="42" name="Text 35"/>
          <p:cNvSpPr txBox="1"/>
          <p:nvPr/>
        </p:nvSpPr>
        <p:spPr>
          <a:xfrm>
            <a:off x="13332866" y="3668573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功耗水平</a:t>
            </a:r>
            <a:endParaRPr lang="en-US" sz="1800" dirty="0"/>
          </a:p>
        </p:txBody>
      </p:sp>
      <p:sp>
        <p:nvSpPr>
          <p:cNvPr id="43" name="Text 36"/>
          <p:cNvSpPr txBox="1"/>
          <p:nvPr/>
        </p:nvSpPr>
        <p:spPr>
          <a:xfrm>
            <a:off x="16417138" y="3668573"/>
            <a:ext cx="12673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96F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 (15mA)</a:t>
            </a:r>
            <a:endParaRPr lang="en-US" sz="1800" dirty="0"/>
          </a:p>
        </p:txBody>
      </p:sp>
      <p:sp>
        <p:nvSpPr>
          <p:cNvPr id="44" name="Shape 37"/>
          <p:cNvSpPr/>
          <p:nvPr/>
        </p:nvSpPr>
        <p:spPr>
          <a:xfrm>
            <a:off x="13332866" y="4106570"/>
            <a:ext cx="4181551" cy="57607"/>
          </a:xfrm>
          <a:prstGeom prst="roundRect">
            <a:avLst>
              <a:gd name="adj" fmla="val 793654"/>
            </a:avLst>
          </a:prstGeom>
          <a:solidFill>
            <a:srgbClr val="E0E0E0"/>
          </a:solidFill>
          <a:ln/>
        </p:spPr>
      </p:sp>
      <p:sp>
        <p:nvSpPr>
          <p:cNvPr id="45" name="Shape 38"/>
          <p:cNvSpPr/>
          <p:nvPr/>
        </p:nvSpPr>
        <p:spPr>
          <a:xfrm>
            <a:off x="13332866" y="4106570"/>
            <a:ext cx="629107" cy="57607"/>
          </a:xfrm>
          <a:prstGeom prst="roundRect">
            <a:avLst>
              <a:gd name="adj" fmla="val 793654"/>
            </a:avLst>
          </a:prstGeom>
          <a:solidFill>
            <a:srgbClr val="2196F3"/>
          </a:solidFill>
          <a:ln/>
        </p:spPr>
      </p:sp>
      <p:sp>
        <p:nvSpPr>
          <p:cNvPr id="46" name="Text 39"/>
          <p:cNvSpPr txBox="1"/>
          <p:nvPr/>
        </p:nvSpPr>
        <p:spPr>
          <a:xfrm>
            <a:off x="13190220" y="4593031"/>
            <a:ext cx="21241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10Hz 動作檢測採樣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13190220" y="5011826"/>
            <a:ext cx="154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物理動作喚醒</a:t>
            </a:r>
            <a:endParaRPr lang="en-US" sz="1800" dirty="0"/>
          </a:p>
        </p:txBody>
      </p:sp>
      <p:sp>
        <p:nvSpPr>
          <p:cNvPr id="48" name="Text 41"/>
          <p:cNvSpPr txBox="1"/>
          <p:nvPr/>
        </p:nvSpPr>
        <p:spPr>
          <a:xfrm>
            <a:off x="13190220" y="5430622"/>
            <a:ext cx="15526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BLE 斷開連接</a:t>
            </a:r>
            <a:endParaRPr lang="en-US" sz="1800" dirty="0"/>
          </a:p>
        </p:txBody>
      </p:sp>
      <p:sp>
        <p:nvSpPr>
          <p:cNvPr id="49" name="Shape 42"/>
          <p:cNvSpPr/>
          <p:nvPr/>
        </p:nvSpPr>
        <p:spPr>
          <a:xfrm>
            <a:off x="428854" y="6193231"/>
            <a:ext cx="17431207" cy="1876349"/>
          </a:xfrm>
          <a:prstGeom prst="rect">
            <a:avLst/>
          </a:prstGeom>
          <a:solidFill>
            <a:srgbClr val="1F77D3">
              <a:alpha val="5000"/>
            </a:srgbClr>
          </a:solidFill>
          <a:ln/>
        </p:spPr>
      </p:sp>
      <p:sp>
        <p:nvSpPr>
          <p:cNvPr id="50" name="Shape 43"/>
          <p:cNvSpPr/>
          <p:nvPr/>
        </p:nvSpPr>
        <p:spPr>
          <a:xfrm>
            <a:off x="428854" y="6193231"/>
            <a:ext cx="38405" cy="1876349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51" name="Text 44"/>
          <p:cNvSpPr txBox="1"/>
          <p:nvPr/>
        </p:nvSpPr>
        <p:spPr>
          <a:xfrm>
            <a:off x="599846" y="6335878"/>
            <a:ext cx="24487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智能電源管理成果</a:t>
            </a:r>
            <a:endParaRPr lang="en-US" sz="2100" dirty="0"/>
          </a:p>
        </p:txBody>
      </p:sp>
      <p:sp>
        <p:nvSpPr>
          <p:cNvPr id="52" name="Text 45"/>
          <p:cNvSpPr txBox="1"/>
          <p:nvPr/>
        </p:nvSpPr>
        <p:spPr>
          <a:xfrm>
            <a:off x="2175358" y="6954926"/>
            <a:ext cx="140086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15小時</a:t>
            </a:r>
            <a:endParaRPr lang="en-US" sz="2700" dirty="0"/>
          </a:p>
        </p:txBody>
      </p:sp>
      <p:sp>
        <p:nvSpPr>
          <p:cNvPr id="53" name="Text 46"/>
          <p:cNvSpPr txBox="1"/>
          <p:nvPr/>
        </p:nvSpPr>
        <p:spPr>
          <a:xfrm>
            <a:off x="6641287" y="6954926"/>
            <a:ext cx="10287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40%</a:t>
            </a:r>
            <a:endParaRPr lang="en-US" sz="2700" dirty="0"/>
          </a:p>
        </p:txBody>
      </p:sp>
      <p:sp>
        <p:nvSpPr>
          <p:cNvPr id="54" name="Text 47"/>
          <p:cNvSpPr txBox="1"/>
          <p:nvPr/>
        </p:nvSpPr>
        <p:spPr>
          <a:xfrm>
            <a:off x="10916107" y="6954926"/>
            <a:ext cx="104790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60秒</a:t>
            </a:r>
            <a:endParaRPr lang="en-US" sz="2700" dirty="0"/>
          </a:p>
        </p:txBody>
      </p:sp>
      <p:sp>
        <p:nvSpPr>
          <p:cNvPr id="55" name="Text 48"/>
          <p:cNvSpPr txBox="1"/>
          <p:nvPr/>
        </p:nvSpPr>
        <p:spPr>
          <a:xfrm>
            <a:off x="15302484" y="6954926"/>
            <a:ext cx="8385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3天</a:t>
            </a:r>
            <a:endParaRPr lang="en-US" sz="2700" dirty="0"/>
          </a:p>
        </p:txBody>
      </p:sp>
      <p:sp>
        <p:nvSpPr>
          <p:cNvPr id="56" name="Text 49"/>
          <p:cNvSpPr txBox="1"/>
          <p:nvPr/>
        </p:nvSpPr>
        <p:spPr>
          <a:xfrm>
            <a:off x="2131466" y="7535570"/>
            <a:ext cx="13716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主動模式續航</a:t>
            </a:r>
            <a:endParaRPr lang="en-US" sz="1500" dirty="0"/>
          </a:p>
        </p:txBody>
      </p:sp>
      <p:sp>
        <p:nvSpPr>
          <p:cNvPr id="57" name="Text 50"/>
          <p:cNvSpPr txBox="1"/>
          <p:nvPr/>
        </p:nvSpPr>
        <p:spPr>
          <a:xfrm>
            <a:off x="6514186" y="7535570"/>
            <a:ext cx="11722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功耗降低率</a:t>
            </a:r>
            <a:endParaRPr lang="en-US" sz="1500" dirty="0"/>
          </a:p>
        </p:txBody>
      </p:sp>
      <p:sp>
        <p:nvSpPr>
          <p:cNvPr id="58" name="Text 51"/>
          <p:cNvSpPr txBox="1"/>
          <p:nvPr/>
        </p:nvSpPr>
        <p:spPr>
          <a:xfrm>
            <a:off x="10693908" y="7535570"/>
            <a:ext cx="13716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快速喚醒時間</a:t>
            </a:r>
            <a:endParaRPr lang="en-US" sz="1500" dirty="0"/>
          </a:p>
        </p:txBody>
      </p:sp>
      <p:sp>
        <p:nvSpPr>
          <p:cNvPr id="59" name="Text 52"/>
          <p:cNvSpPr txBox="1"/>
          <p:nvPr/>
        </p:nvSpPr>
        <p:spPr>
          <a:xfrm>
            <a:off x="14976043" y="7535570"/>
            <a:ext cx="13716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待機模式續航</a:t>
            </a:r>
            <a:endParaRPr lang="en-US" sz="1500" dirty="0"/>
          </a:p>
        </p:txBody>
      </p:sp>
      <p:pic>
        <p:nvPicPr>
          <p:cNvPr id="60" name="Image 5" descr="preencoded.png">    </p:cNvPr>
          <p:cNvPicPr>
            <a:picLocks noChangeAspect="1"/>
          </p:cNvPicPr>
          <p:nvPr/>
        </p:nvPicPr>
        <p:blipFill>
          <a:blip r:embed="rId6"/>
          <a:srcRect l="-1663" r="-1663" t="0" b="0"/>
          <a:stretch/>
        </p:blipFill>
        <p:spPr>
          <a:xfrm>
            <a:off x="428854" y="8275320"/>
            <a:ext cx="181051" cy="200254"/>
          </a:xfrm>
          <a:prstGeom prst="rect">
            <a:avLst/>
          </a:prstGeom>
        </p:spPr>
      </p:pic>
      <p:sp>
        <p:nvSpPr>
          <p:cNvPr id="61" name="Text 53"/>
          <p:cNvSpPr txBox="1"/>
          <p:nvPr/>
        </p:nvSpPr>
        <p:spPr>
          <a:xfrm>
            <a:off x="685800" y="8212226"/>
            <a:ext cx="36201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電池壽命提升40%，無需犧牲核心性能</a:t>
            </a:r>
            <a:endParaRPr lang="en-US" sz="1500" dirty="0"/>
          </a:p>
        </p:txBody>
      </p:sp>
      <p:sp>
        <p:nvSpPr>
          <p:cNvPr id="62" name="Text 54"/>
          <p:cNvSpPr txBox="1"/>
          <p:nvPr/>
        </p:nvSpPr>
        <p:spPr>
          <a:xfrm>
            <a:off x="13557809" y="8212226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14/43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76402" y="390449"/>
            <a:ext cx="44677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設計挑戰與解決方案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76402" y="1285646"/>
            <a:ext cx="77541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每個硬體突破背後，都有一系列經過反覆測試的工程解決方案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76402" y="1943100"/>
            <a:ext cx="4229100" cy="1933956"/>
          </a:xfrm>
          <a:prstGeom prst="rect">
            <a:avLst/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04288" y="2257654"/>
            <a:ext cx="5715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72184" y="2885846"/>
            <a:ext cx="24487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舒適性與球拍平衡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1332281" y="3362249"/>
            <a:ext cx="2686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>
                    <a:alpha val="8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如何確保不影響運動表現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76402" y="3876142"/>
            <a:ext cx="4229100" cy="44485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7395" y="41148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2007" y="4048049"/>
            <a:ext cx="1314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輕量化設計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72007" y="5074006"/>
            <a:ext cx="154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拍柄固定方案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972007" y="6099962"/>
            <a:ext cx="154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物理平衡測試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972007" y="7125919"/>
            <a:ext cx="1314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使用者體驗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29107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6" name="Shape 12"/>
          <p:cNvSpPr/>
          <p:nvPr/>
        </p:nvSpPr>
        <p:spPr>
          <a:xfrm>
            <a:off x="838505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7" name="Shape 13"/>
          <p:cNvSpPr/>
          <p:nvPr/>
        </p:nvSpPr>
        <p:spPr>
          <a:xfrm>
            <a:off x="1047902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8" name="Shape 14"/>
          <p:cNvSpPr/>
          <p:nvPr/>
        </p:nvSpPr>
        <p:spPr>
          <a:xfrm>
            <a:off x="1257300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9" name="Shape 15"/>
          <p:cNvSpPr/>
          <p:nvPr/>
        </p:nvSpPr>
        <p:spPr>
          <a:xfrm>
            <a:off x="1466698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" name="Shape 16"/>
          <p:cNvSpPr/>
          <p:nvPr/>
        </p:nvSpPr>
        <p:spPr>
          <a:xfrm>
            <a:off x="629107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" name="Shape 17"/>
          <p:cNvSpPr/>
          <p:nvPr/>
        </p:nvSpPr>
        <p:spPr>
          <a:xfrm>
            <a:off x="838505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2" name="Shape 18"/>
          <p:cNvSpPr/>
          <p:nvPr/>
        </p:nvSpPr>
        <p:spPr>
          <a:xfrm>
            <a:off x="1047902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3" name="Shape 19"/>
          <p:cNvSpPr/>
          <p:nvPr/>
        </p:nvSpPr>
        <p:spPr>
          <a:xfrm>
            <a:off x="1257300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4" name="Shape 20"/>
          <p:cNvSpPr/>
          <p:nvPr/>
        </p:nvSpPr>
        <p:spPr>
          <a:xfrm>
            <a:off x="1047902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5" name="Shape 21"/>
          <p:cNvSpPr/>
          <p:nvPr/>
        </p:nvSpPr>
        <p:spPr>
          <a:xfrm>
            <a:off x="1257300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" name="Shape 22"/>
          <p:cNvSpPr/>
          <p:nvPr/>
        </p:nvSpPr>
        <p:spPr>
          <a:xfrm>
            <a:off x="1466698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29107" y="4619549"/>
            <a:ext cx="33439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總重量僅13g，小於一個乒乓球重量</a:t>
            </a:r>
            <a:endParaRPr lang="en-US" sz="15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7395" y="5140757"/>
            <a:ext cx="228600" cy="22860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29107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0" name="Shape 25"/>
          <p:cNvSpPr/>
          <p:nvPr/>
        </p:nvSpPr>
        <p:spPr>
          <a:xfrm>
            <a:off x="838505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" name="Shape 26"/>
          <p:cNvSpPr/>
          <p:nvPr/>
        </p:nvSpPr>
        <p:spPr>
          <a:xfrm>
            <a:off x="1047902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629107" y="5645506"/>
            <a:ext cx="30010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特製矽膠夾持設計，穩固不鬆動</a:t>
            </a:r>
            <a:endParaRPr lang="en-US" sz="1500" dirty="0"/>
          </a:p>
        </p:txBody>
      </p:sp>
      <p:sp>
        <p:nvSpPr>
          <p:cNvPr id="33" name="Shape 28"/>
          <p:cNvSpPr/>
          <p:nvPr/>
        </p:nvSpPr>
        <p:spPr>
          <a:xfrm>
            <a:off x="1466698" y="5473598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7395" y="6166714"/>
            <a:ext cx="228600" cy="22860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629107" y="6671462"/>
            <a:ext cx="29343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進行了超過200次揮拍平衡測試</a:t>
            </a:r>
            <a:endParaRPr lang="en-US" sz="15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629107" y="7192670"/>
            <a:ext cx="286207" cy="228600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629107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8" name="Shape 31"/>
          <p:cNvSpPr/>
          <p:nvPr/>
        </p:nvSpPr>
        <p:spPr>
          <a:xfrm>
            <a:off x="838505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9" name="Shape 32"/>
          <p:cNvSpPr/>
          <p:nvPr/>
        </p:nvSpPr>
        <p:spPr>
          <a:xfrm>
            <a:off x="1257300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629107" y="7697419"/>
            <a:ext cx="34107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92%測試用戶表示感受不到裝置存在</a:t>
            </a:r>
            <a:endParaRPr lang="en-US" sz="1500" dirty="0"/>
          </a:p>
        </p:txBody>
      </p:sp>
      <p:sp>
        <p:nvSpPr>
          <p:cNvPr id="41" name="Shape 34"/>
          <p:cNvSpPr/>
          <p:nvPr/>
        </p:nvSpPr>
        <p:spPr>
          <a:xfrm>
            <a:off x="1466698" y="7526426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42" name="Shape 35"/>
          <p:cNvSpPr/>
          <p:nvPr/>
        </p:nvSpPr>
        <p:spPr>
          <a:xfrm>
            <a:off x="476402" y="8323783"/>
            <a:ext cx="4229100" cy="571500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43" name="Text 36"/>
          <p:cNvSpPr txBox="1"/>
          <p:nvPr/>
        </p:nvSpPr>
        <p:spPr>
          <a:xfrm>
            <a:off x="1702613" y="8438083"/>
            <a:ext cx="19531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輕量化突破 (13g)</a:t>
            </a:r>
            <a:endParaRPr lang="en-US" sz="1800" dirty="0"/>
          </a:p>
        </p:txBody>
      </p:sp>
      <p:sp>
        <p:nvSpPr>
          <p:cNvPr id="44" name="Shape 37"/>
          <p:cNvSpPr/>
          <p:nvPr/>
        </p:nvSpPr>
        <p:spPr>
          <a:xfrm>
            <a:off x="4845406" y="1943100"/>
            <a:ext cx="4229100" cy="1933956"/>
          </a:xfrm>
          <a:prstGeom prst="rect">
            <a:avLst/>
          </a:prstGeom>
          <a:solidFill>
            <a:srgbClr val="E53935">
              <a:alpha val="10000"/>
            </a:srgbClr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730898" y="2257654"/>
            <a:ext cx="457200" cy="457200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6400800" y="2885846"/>
            <a:ext cx="1334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數據精度</a:t>
            </a:r>
            <a:endParaRPr lang="en-US" sz="2100" dirty="0"/>
          </a:p>
        </p:txBody>
      </p:sp>
      <p:sp>
        <p:nvSpPr>
          <p:cNvPr id="47" name="Text 39"/>
          <p:cNvSpPr txBox="1"/>
          <p:nvPr/>
        </p:nvSpPr>
        <p:spPr>
          <a:xfrm>
            <a:off x="5702198" y="3362249"/>
            <a:ext cx="2686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>
                    <a:alpha val="8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如何確保動作識別準確性</a:t>
            </a:r>
            <a:endParaRPr lang="en-US" sz="1800" dirty="0"/>
          </a:p>
        </p:txBody>
      </p:sp>
      <p:sp>
        <p:nvSpPr>
          <p:cNvPr id="48" name="Shape 40"/>
          <p:cNvSpPr/>
          <p:nvPr/>
        </p:nvSpPr>
        <p:spPr>
          <a:xfrm>
            <a:off x="4845406" y="3876142"/>
            <a:ext cx="4229100" cy="44485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017313" y="4114800"/>
            <a:ext cx="228600" cy="228600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5341010" y="4048049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採樣頻率</a:t>
            </a:r>
            <a:endParaRPr lang="en-US" sz="1800" dirty="0"/>
          </a:p>
        </p:txBody>
      </p:sp>
      <p:sp>
        <p:nvSpPr>
          <p:cNvPr id="51" name="Text 42"/>
          <p:cNvSpPr txBox="1"/>
          <p:nvPr/>
        </p:nvSpPr>
        <p:spPr>
          <a:xfrm>
            <a:off x="5341010" y="5074006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校準算法</a:t>
            </a:r>
            <a:endParaRPr lang="en-US" sz="1800" dirty="0"/>
          </a:p>
        </p:txBody>
      </p:sp>
      <p:sp>
        <p:nvSpPr>
          <p:cNvPr id="52" name="Text 43"/>
          <p:cNvSpPr txBox="1"/>
          <p:nvPr/>
        </p:nvSpPr>
        <p:spPr>
          <a:xfrm>
            <a:off x="5341010" y="6099962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訊號處理</a:t>
            </a:r>
            <a:endParaRPr lang="en-US" sz="1800" dirty="0"/>
          </a:p>
        </p:txBody>
      </p:sp>
      <p:sp>
        <p:nvSpPr>
          <p:cNvPr id="53" name="Text 44"/>
          <p:cNvSpPr txBox="1"/>
          <p:nvPr/>
        </p:nvSpPr>
        <p:spPr>
          <a:xfrm>
            <a:off x="5341010" y="7125919"/>
            <a:ext cx="1314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準確率提升</a:t>
            </a:r>
            <a:endParaRPr lang="en-US" sz="1800" dirty="0"/>
          </a:p>
        </p:txBody>
      </p:sp>
      <p:sp>
        <p:nvSpPr>
          <p:cNvPr id="54" name="Shape 45"/>
          <p:cNvSpPr/>
          <p:nvPr/>
        </p:nvSpPr>
        <p:spPr>
          <a:xfrm>
            <a:off x="4998110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5" name="Shape 46"/>
          <p:cNvSpPr/>
          <p:nvPr/>
        </p:nvSpPr>
        <p:spPr>
          <a:xfrm>
            <a:off x="5207508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6" name="Shape 47"/>
          <p:cNvSpPr/>
          <p:nvPr/>
        </p:nvSpPr>
        <p:spPr>
          <a:xfrm>
            <a:off x="5416906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7" name="Shape 48"/>
          <p:cNvSpPr/>
          <p:nvPr/>
        </p:nvSpPr>
        <p:spPr>
          <a:xfrm>
            <a:off x="5627218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8" name="Shape 49"/>
          <p:cNvSpPr/>
          <p:nvPr/>
        </p:nvSpPr>
        <p:spPr>
          <a:xfrm>
            <a:off x="5836615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9" name="Shape 50"/>
          <p:cNvSpPr/>
          <p:nvPr/>
        </p:nvSpPr>
        <p:spPr>
          <a:xfrm>
            <a:off x="5627218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0" name="Shape 51"/>
          <p:cNvSpPr/>
          <p:nvPr/>
        </p:nvSpPr>
        <p:spPr>
          <a:xfrm>
            <a:off x="5836615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1" name="Text 52"/>
          <p:cNvSpPr txBox="1"/>
          <p:nvPr/>
        </p:nvSpPr>
        <p:spPr>
          <a:xfrm>
            <a:off x="4998110" y="4619549"/>
            <a:ext cx="33814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200Hz高頻採樣，捕捉微小動作變化</a:t>
            </a:r>
            <a:endParaRPr lang="en-US" sz="1500" dirty="0"/>
          </a:p>
        </p:txBody>
      </p:sp>
      <p:pic>
        <p:nvPicPr>
          <p:cNvPr id="62" name="Image 7" descr="preencoded.png">    </p:cNvPr>
          <p:cNvPicPr>
            <a:picLocks noChangeAspect="1"/>
          </p:cNvPicPr>
          <p:nvPr/>
        </p:nvPicPr>
        <p:blipFill>
          <a:blip r:embed="rId8"/>
          <a:srcRect l="-80" r="-80" t="0" b="0"/>
          <a:stretch/>
        </p:blipFill>
        <p:spPr>
          <a:xfrm>
            <a:off x="4998110" y="5140757"/>
            <a:ext cx="286207" cy="228600"/>
          </a:xfrm>
          <a:prstGeom prst="rect">
            <a:avLst/>
          </a:prstGeom>
        </p:spPr>
      </p:pic>
      <p:sp>
        <p:nvSpPr>
          <p:cNvPr id="63" name="Shape 53"/>
          <p:cNvSpPr/>
          <p:nvPr/>
        </p:nvSpPr>
        <p:spPr>
          <a:xfrm>
            <a:off x="4998110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4" name="Shape 54"/>
          <p:cNvSpPr/>
          <p:nvPr/>
        </p:nvSpPr>
        <p:spPr>
          <a:xfrm>
            <a:off x="5207508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5" name="Shape 55"/>
          <p:cNvSpPr/>
          <p:nvPr/>
        </p:nvSpPr>
        <p:spPr>
          <a:xfrm>
            <a:off x="5416906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6" name="Shape 56"/>
          <p:cNvSpPr/>
          <p:nvPr/>
        </p:nvSpPr>
        <p:spPr>
          <a:xfrm>
            <a:off x="5207508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7" name="Shape 57"/>
          <p:cNvSpPr/>
          <p:nvPr/>
        </p:nvSpPr>
        <p:spPr>
          <a:xfrm>
            <a:off x="5416906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8" name="Shape 58"/>
          <p:cNvSpPr/>
          <p:nvPr/>
        </p:nvSpPr>
        <p:spPr>
          <a:xfrm>
            <a:off x="5627218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9" name="Shape 59"/>
          <p:cNvSpPr/>
          <p:nvPr/>
        </p:nvSpPr>
        <p:spPr>
          <a:xfrm>
            <a:off x="5627218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0" name="Shape 60"/>
          <p:cNvSpPr/>
          <p:nvPr/>
        </p:nvSpPr>
        <p:spPr>
          <a:xfrm>
            <a:off x="5836615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1" name="Text 61"/>
          <p:cNvSpPr txBox="1"/>
          <p:nvPr/>
        </p:nvSpPr>
        <p:spPr>
          <a:xfrm>
            <a:off x="4998110" y="5645506"/>
            <a:ext cx="25914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自適應校準，消除硬體誤差</a:t>
            </a:r>
            <a:endParaRPr lang="en-US" sz="1500" dirty="0"/>
          </a:p>
        </p:txBody>
      </p:sp>
      <p:pic>
        <p:nvPicPr>
          <p:cNvPr id="7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017313" y="6166714"/>
            <a:ext cx="228600" cy="228600"/>
          </a:xfrm>
          <a:prstGeom prst="rect">
            <a:avLst/>
          </a:prstGeom>
        </p:spPr>
      </p:pic>
      <p:sp>
        <p:nvSpPr>
          <p:cNvPr id="73" name="Shape 62"/>
          <p:cNvSpPr/>
          <p:nvPr/>
        </p:nvSpPr>
        <p:spPr>
          <a:xfrm>
            <a:off x="4998110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4" name="Shape 63"/>
          <p:cNvSpPr/>
          <p:nvPr/>
        </p:nvSpPr>
        <p:spPr>
          <a:xfrm>
            <a:off x="5207508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5" name="Shape 64"/>
          <p:cNvSpPr/>
          <p:nvPr/>
        </p:nvSpPr>
        <p:spPr>
          <a:xfrm>
            <a:off x="5416906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6" name="Text 65"/>
          <p:cNvSpPr txBox="1"/>
          <p:nvPr/>
        </p:nvSpPr>
        <p:spPr>
          <a:xfrm>
            <a:off x="4998110" y="6671462"/>
            <a:ext cx="25914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卡爾曼濾波器去除雜訊干擾</a:t>
            </a:r>
            <a:endParaRPr lang="en-US" sz="1500" dirty="0"/>
          </a:p>
        </p:txBody>
      </p:sp>
      <p:sp>
        <p:nvSpPr>
          <p:cNvPr id="77" name="Shape 66"/>
          <p:cNvSpPr/>
          <p:nvPr/>
        </p:nvSpPr>
        <p:spPr>
          <a:xfrm>
            <a:off x="5836615" y="6500470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pic>
        <p:nvPicPr>
          <p:cNvPr id="78" name="Image 9" descr="preencoded.png">    </p:cNvPr>
          <p:cNvPicPr>
            <a:picLocks noChangeAspect="1"/>
          </p:cNvPicPr>
          <p:nvPr/>
        </p:nvPicPr>
        <p:blipFill>
          <a:blip r:embed="rId10"/>
          <a:srcRect l="-133" r="-133" t="0" b="0"/>
          <a:stretch/>
        </p:blipFill>
        <p:spPr>
          <a:xfrm>
            <a:off x="5045659" y="7192670"/>
            <a:ext cx="171907" cy="228600"/>
          </a:xfrm>
          <a:prstGeom prst="rect">
            <a:avLst/>
          </a:prstGeom>
        </p:spPr>
      </p:pic>
      <p:sp>
        <p:nvSpPr>
          <p:cNvPr id="79" name="Shape 67"/>
          <p:cNvSpPr/>
          <p:nvPr/>
        </p:nvSpPr>
        <p:spPr>
          <a:xfrm>
            <a:off x="4998110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0" name="Text 68"/>
          <p:cNvSpPr txBox="1"/>
          <p:nvPr/>
        </p:nvSpPr>
        <p:spPr>
          <a:xfrm>
            <a:off x="4998110" y="7697419"/>
            <a:ext cx="32196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初始65%→優化後85%識別準確率</a:t>
            </a:r>
            <a:endParaRPr lang="en-US" sz="1500" dirty="0"/>
          </a:p>
        </p:txBody>
      </p:sp>
      <p:sp>
        <p:nvSpPr>
          <p:cNvPr id="81" name="Shape 69"/>
          <p:cNvSpPr/>
          <p:nvPr/>
        </p:nvSpPr>
        <p:spPr>
          <a:xfrm>
            <a:off x="4845406" y="8323783"/>
            <a:ext cx="4229100" cy="571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82" name="Text 70"/>
          <p:cNvSpPr txBox="1"/>
          <p:nvPr/>
        </p:nvSpPr>
        <p:spPr>
          <a:xfrm>
            <a:off x="5858561" y="8438083"/>
            <a:ext cx="23820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200Hz採樣+校準算法</a:t>
            </a:r>
            <a:endParaRPr lang="en-US" sz="1800" dirty="0"/>
          </a:p>
        </p:txBody>
      </p:sp>
      <p:sp>
        <p:nvSpPr>
          <p:cNvPr id="83" name="Shape 71"/>
          <p:cNvSpPr/>
          <p:nvPr/>
        </p:nvSpPr>
        <p:spPr>
          <a:xfrm>
            <a:off x="9215323" y="1943100"/>
            <a:ext cx="4229100" cy="1933956"/>
          </a:xfrm>
          <a:prstGeom prst="rect">
            <a:avLst/>
          </a:prstGeom>
          <a:solidFill>
            <a:srgbClr val="4CAF50">
              <a:alpha val="10000"/>
            </a:srgbClr>
          </a:solidFill>
          <a:ln/>
        </p:spPr>
      </p:sp>
      <p:pic>
        <p:nvPicPr>
          <p:cNvPr id="84" name="Image 10" descr="preencoded.png">    </p:cNvPr>
          <p:cNvPicPr>
            <a:picLocks noChangeAspect="1"/>
          </p:cNvPicPr>
          <p:nvPr/>
        </p:nvPicPr>
        <p:blipFill>
          <a:blip r:embed="rId11"/>
          <a:srcRect l="-44" r="-44" t="0" b="0"/>
          <a:stretch/>
        </p:blipFill>
        <p:spPr>
          <a:xfrm>
            <a:off x="11071555" y="2257654"/>
            <a:ext cx="514807" cy="457200"/>
          </a:xfrm>
          <a:prstGeom prst="rect">
            <a:avLst/>
          </a:prstGeom>
        </p:spPr>
      </p:pic>
      <p:sp>
        <p:nvSpPr>
          <p:cNvPr id="85" name="Text 72"/>
          <p:cNvSpPr txBox="1"/>
          <p:nvPr/>
        </p:nvSpPr>
        <p:spPr>
          <a:xfrm>
            <a:off x="10769803" y="2885846"/>
            <a:ext cx="1334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CAF5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續航能力</a:t>
            </a:r>
            <a:endParaRPr lang="en-US" sz="2100" dirty="0"/>
          </a:p>
        </p:txBody>
      </p:sp>
      <p:sp>
        <p:nvSpPr>
          <p:cNvPr id="86" name="Text 73"/>
          <p:cNvSpPr txBox="1"/>
          <p:nvPr/>
        </p:nvSpPr>
        <p:spPr>
          <a:xfrm>
            <a:off x="10071202" y="3362249"/>
            <a:ext cx="2686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>
                    <a:alpha val="8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如何實現全天候訓練支援</a:t>
            </a:r>
            <a:endParaRPr lang="en-US" sz="1800" dirty="0"/>
          </a:p>
        </p:txBody>
      </p:sp>
      <p:sp>
        <p:nvSpPr>
          <p:cNvPr id="87" name="Shape 74"/>
          <p:cNvSpPr/>
          <p:nvPr/>
        </p:nvSpPr>
        <p:spPr>
          <a:xfrm>
            <a:off x="9215323" y="3876142"/>
            <a:ext cx="4229100" cy="44485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8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387230" y="4114800"/>
            <a:ext cx="228600" cy="228600"/>
          </a:xfrm>
          <a:prstGeom prst="rect">
            <a:avLst/>
          </a:prstGeom>
        </p:spPr>
      </p:pic>
      <p:sp>
        <p:nvSpPr>
          <p:cNvPr id="89" name="Text 75"/>
          <p:cNvSpPr txBox="1"/>
          <p:nvPr/>
        </p:nvSpPr>
        <p:spPr>
          <a:xfrm>
            <a:off x="9710928" y="4048049"/>
            <a:ext cx="1314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低功耗硬體</a:t>
            </a:r>
            <a:endParaRPr lang="en-US" sz="1800" dirty="0"/>
          </a:p>
        </p:txBody>
      </p:sp>
      <p:sp>
        <p:nvSpPr>
          <p:cNvPr id="90" name="Text 76"/>
          <p:cNvSpPr txBox="1"/>
          <p:nvPr/>
        </p:nvSpPr>
        <p:spPr>
          <a:xfrm>
            <a:off x="9710928" y="5074006"/>
            <a:ext cx="154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智能電源管理</a:t>
            </a:r>
            <a:endParaRPr lang="en-US" sz="1800" dirty="0"/>
          </a:p>
        </p:txBody>
      </p:sp>
      <p:sp>
        <p:nvSpPr>
          <p:cNvPr id="91" name="Text 77"/>
          <p:cNvSpPr txBox="1"/>
          <p:nvPr/>
        </p:nvSpPr>
        <p:spPr>
          <a:xfrm>
            <a:off x="9710928" y="6099962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電池優化</a:t>
            </a:r>
            <a:endParaRPr lang="en-US" sz="1800" dirty="0"/>
          </a:p>
        </p:txBody>
      </p:sp>
      <p:sp>
        <p:nvSpPr>
          <p:cNvPr id="92" name="Text 78"/>
          <p:cNvSpPr txBox="1"/>
          <p:nvPr/>
        </p:nvSpPr>
        <p:spPr>
          <a:xfrm>
            <a:off x="9710928" y="7125919"/>
            <a:ext cx="154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連續使用時間</a:t>
            </a:r>
            <a:endParaRPr lang="en-US" sz="1800" dirty="0"/>
          </a:p>
        </p:txBody>
      </p:sp>
      <p:sp>
        <p:nvSpPr>
          <p:cNvPr id="93" name="Shape 79"/>
          <p:cNvSpPr/>
          <p:nvPr/>
        </p:nvSpPr>
        <p:spPr>
          <a:xfrm>
            <a:off x="9368028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4" name="Shape 80"/>
          <p:cNvSpPr/>
          <p:nvPr/>
        </p:nvSpPr>
        <p:spPr>
          <a:xfrm>
            <a:off x="9577426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5" name="Shape 81"/>
          <p:cNvSpPr/>
          <p:nvPr/>
        </p:nvSpPr>
        <p:spPr>
          <a:xfrm>
            <a:off x="9786823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6" name="Shape 82"/>
          <p:cNvSpPr/>
          <p:nvPr/>
        </p:nvSpPr>
        <p:spPr>
          <a:xfrm>
            <a:off x="9996221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7" name="Shape 83"/>
          <p:cNvSpPr/>
          <p:nvPr/>
        </p:nvSpPr>
        <p:spPr>
          <a:xfrm>
            <a:off x="10205618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8" name="Shape 84"/>
          <p:cNvSpPr/>
          <p:nvPr/>
        </p:nvSpPr>
        <p:spPr>
          <a:xfrm>
            <a:off x="9786823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9" name="Shape 85"/>
          <p:cNvSpPr/>
          <p:nvPr/>
        </p:nvSpPr>
        <p:spPr>
          <a:xfrm>
            <a:off x="10205618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0" name="Text 86"/>
          <p:cNvSpPr txBox="1"/>
          <p:nvPr/>
        </p:nvSpPr>
        <p:spPr>
          <a:xfrm>
            <a:off x="9368028" y="4619549"/>
            <a:ext cx="34482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ESP32-C3 RISC-V處理器, 低功耗設計</a:t>
            </a:r>
            <a:endParaRPr lang="en-US" sz="1500" dirty="0"/>
          </a:p>
        </p:txBody>
      </p:sp>
      <p:pic>
        <p:nvPicPr>
          <p:cNvPr id="101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9387230" y="5140757"/>
            <a:ext cx="228600" cy="228600"/>
          </a:xfrm>
          <a:prstGeom prst="rect">
            <a:avLst/>
          </a:prstGeom>
        </p:spPr>
      </p:pic>
      <p:sp>
        <p:nvSpPr>
          <p:cNvPr id="102" name="Shape 87"/>
          <p:cNvSpPr/>
          <p:nvPr/>
        </p:nvSpPr>
        <p:spPr>
          <a:xfrm>
            <a:off x="9368028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3" name="Shape 88"/>
          <p:cNvSpPr/>
          <p:nvPr/>
        </p:nvSpPr>
        <p:spPr>
          <a:xfrm>
            <a:off x="9577426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4" name="Shape 89"/>
          <p:cNvSpPr/>
          <p:nvPr/>
        </p:nvSpPr>
        <p:spPr>
          <a:xfrm>
            <a:off x="9996221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5" name="Shape 90"/>
          <p:cNvSpPr/>
          <p:nvPr/>
        </p:nvSpPr>
        <p:spPr>
          <a:xfrm>
            <a:off x="9368028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6" name="Shape 91"/>
          <p:cNvSpPr/>
          <p:nvPr/>
        </p:nvSpPr>
        <p:spPr>
          <a:xfrm>
            <a:off x="9786823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7" name="Shape 92"/>
          <p:cNvSpPr/>
          <p:nvPr/>
        </p:nvSpPr>
        <p:spPr>
          <a:xfrm>
            <a:off x="9996221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8" name="Shape 93"/>
          <p:cNvSpPr/>
          <p:nvPr/>
        </p:nvSpPr>
        <p:spPr>
          <a:xfrm>
            <a:off x="9786823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9" name="Shape 94"/>
          <p:cNvSpPr/>
          <p:nvPr/>
        </p:nvSpPr>
        <p:spPr>
          <a:xfrm>
            <a:off x="10205618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0" name="Text 95"/>
          <p:cNvSpPr txBox="1"/>
          <p:nvPr/>
        </p:nvSpPr>
        <p:spPr>
          <a:xfrm>
            <a:off x="9368028" y="5645506"/>
            <a:ext cx="23911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靜止自動進入低功耗模式</a:t>
            </a:r>
            <a:endParaRPr lang="en-US" sz="1500" dirty="0"/>
          </a:p>
        </p:txBody>
      </p:sp>
      <p:pic>
        <p:nvPicPr>
          <p:cNvPr id="111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44" b="-44"/>
          <a:stretch/>
        </p:blipFill>
        <p:spPr>
          <a:xfrm>
            <a:off x="9372600" y="6166714"/>
            <a:ext cx="256946" cy="228600"/>
          </a:xfrm>
          <a:prstGeom prst="rect">
            <a:avLst/>
          </a:prstGeom>
        </p:spPr>
      </p:pic>
      <p:sp>
        <p:nvSpPr>
          <p:cNvPr id="112" name="Shape 96"/>
          <p:cNvSpPr/>
          <p:nvPr/>
        </p:nvSpPr>
        <p:spPr>
          <a:xfrm>
            <a:off x="9577426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3" name="Shape 97"/>
          <p:cNvSpPr/>
          <p:nvPr/>
        </p:nvSpPr>
        <p:spPr>
          <a:xfrm>
            <a:off x="9577426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4" name="Shape 98"/>
          <p:cNvSpPr/>
          <p:nvPr/>
        </p:nvSpPr>
        <p:spPr>
          <a:xfrm>
            <a:off x="9996221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5" name="Text 99"/>
          <p:cNvSpPr txBox="1"/>
          <p:nvPr/>
        </p:nvSpPr>
        <p:spPr>
          <a:xfrm>
            <a:off x="9368028" y="6671462"/>
            <a:ext cx="27624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180mAh鋰電池，高能量密度</a:t>
            </a:r>
            <a:endParaRPr lang="en-US" sz="1500" dirty="0"/>
          </a:p>
        </p:txBody>
      </p:sp>
      <p:sp>
        <p:nvSpPr>
          <p:cNvPr id="116" name="Shape 100"/>
          <p:cNvSpPr/>
          <p:nvPr/>
        </p:nvSpPr>
        <p:spPr>
          <a:xfrm>
            <a:off x="10205618" y="6500470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pic>
        <p:nvPicPr>
          <p:cNvPr id="117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9387230" y="7192670"/>
            <a:ext cx="228600" cy="228600"/>
          </a:xfrm>
          <a:prstGeom prst="rect">
            <a:avLst/>
          </a:prstGeom>
        </p:spPr>
      </p:pic>
      <p:sp>
        <p:nvSpPr>
          <p:cNvPr id="118" name="Shape 101"/>
          <p:cNvSpPr/>
          <p:nvPr/>
        </p:nvSpPr>
        <p:spPr>
          <a:xfrm>
            <a:off x="9368028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9" name="Text 102"/>
          <p:cNvSpPr txBox="1"/>
          <p:nvPr/>
        </p:nvSpPr>
        <p:spPr>
          <a:xfrm>
            <a:off x="9368028" y="7697419"/>
            <a:ext cx="28200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單次充電支援15小時訓練使用</a:t>
            </a:r>
            <a:endParaRPr lang="en-US" sz="1500" dirty="0"/>
          </a:p>
        </p:txBody>
      </p:sp>
      <p:sp>
        <p:nvSpPr>
          <p:cNvPr id="120" name="Shape 103"/>
          <p:cNvSpPr/>
          <p:nvPr/>
        </p:nvSpPr>
        <p:spPr>
          <a:xfrm>
            <a:off x="9215323" y="8323783"/>
            <a:ext cx="4229100" cy="571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1" name="Text 104"/>
          <p:cNvSpPr txBox="1"/>
          <p:nvPr/>
        </p:nvSpPr>
        <p:spPr>
          <a:xfrm>
            <a:off x="10167214" y="8438083"/>
            <a:ext cx="24963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智能電源管理 (15小時)</a:t>
            </a:r>
            <a:endParaRPr lang="en-US" sz="1800" dirty="0"/>
          </a:p>
        </p:txBody>
      </p:sp>
      <p:sp>
        <p:nvSpPr>
          <p:cNvPr id="122" name="Shape 105"/>
          <p:cNvSpPr/>
          <p:nvPr/>
        </p:nvSpPr>
        <p:spPr>
          <a:xfrm>
            <a:off x="13585241" y="1943100"/>
            <a:ext cx="4229100" cy="1933956"/>
          </a:xfrm>
          <a:prstGeom prst="rect">
            <a:avLst/>
          </a:prstGeom>
          <a:solidFill>
            <a:srgbClr val="9C27B0">
              <a:alpha val="10000"/>
            </a:srgbClr>
          </a:solidFill>
          <a:ln/>
        </p:spPr>
      </p:sp>
      <p:pic>
        <p:nvPicPr>
          <p:cNvPr id="123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15469819" y="2257654"/>
            <a:ext cx="457200" cy="457200"/>
          </a:xfrm>
          <a:prstGeom prst="rect">
            <a:avLst/>
          </a:prstGeom>
        </p:spPr>
      </p:pic>
      <p:sp>
        <p:nvSpPr>
          <p:cNvPr id="124" name="Text 106"/>
          <p:cNvSpPr txBox="1"/>
          <p:nvPr/>
        </p:nvSpPr>
        <p:spPr>
          <a:xfrm>
            <a:off x="15139721" y="2885846"/>
            <a:ext cx="1334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C27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成本控制</a:t>
            </a:r>
            <a:endParaRPr lang="en-US" sz="2100" dirty="0"/>
          </a:p>
        </p:txBody>
      </p:sp>
      <p:sp>
        <p:nvSpPr>
          <p:cNvPr id="125" name="Text 107"/>
          <p:cNvSpPr txBox="1"/>
          <p:nvPr/>
        </p:nvSpPr>
        <p:spPr>
          <a:xfrm>
            <a:off x="14784019" y="3362249"/>
            <a:ext cx="2000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>
                    <a:alpha val="8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如何實現普惠價格</a:t>
            </a:r>
            <a:endParaRPr lang="en-US" sz="1800" dirty="0"/>
          </a:p>
        </p:txBody>
      </p:sp>
      <p:sp>
        <p:nvSpPr>
          <p:cNvPr id="126" name="Shape 108"/>
          <p:cNvSpPr/>
          <p:nvPr/>
        </p:nvSpPr>
        <p:spPr>
          <a:xfrm>
            <a:off x="13585241" y="3876142"/>
            <a:ext cx="4229100" cy="44485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7" name="Image 16" descr="preencoded.png">    </p:cNvPr>
          <p:cNvPicPr>
            <a:picLocks noChangeAspect="1"/>
          </p:cNvPicPr>
          <p:nvPr/>
        </p:nvPicPr>
        <p:blipFill>
          <a:blip r:embed="rId17"/>
          <a:srcRect l="-57" r="-57" t="0" b="0"/>
          <a:stretch/>
        </p:blipFill>
        <p:spPr>
          <a:xfrm>
            <a:off x="13770864" y="4114800"/>
            <a:ext cx="200254" cy="228600"/>
          </a:xfrm>
          <a:prstGeom prst="rect">
            <a:avLst/>
          </a:prstGeom>
        </p:spPr>
      </p:pic>
      <p:sp>
        <p:nvSpPr>
          <p:cNvPr id="128" name="Text 109"/>
          <p:cNvSpPr txBox="1"/>
          <p:nvPr/>
        </p:nvSpPr>
        <p:spPr>
          <a:xfrm>
            <a:off x="14079931" y="4048049"/>
            <a:ext cx="154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C27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開源硬體選擇</a:t>
            </a:r>
            <a:endParaRPr lang="en-US" sz="1800" dirty="0"/>
          </a:p>
        </p:txBody>
      </p:sp>
      <p:sp>
        <p:nvSpPr>
          <p:cNvPr id="129" name="Text 110"/>
          <p:cNvSpPr txBox="1"/>
          <p:nvPr/>
        </p:nvSpPr>
        <p:spPr>
          <a:xfrm>
            <a:off x="14079931" y="5074006"/>
            <a:ext cx="154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C27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批量生產優化</a:t>
            </a:r>
            <a:endParaRPr lang="en-US" sz="1800" dirty="0"/>
          </a:p>
        </p:txBody>
      </p:sp>
      <p:sp>
        <p:nvSpPr>
          <p:cNvPr id="130" name="Text 111"/>
          <p:cNvSpPr txBox="1"/>
          <p:nvPr/>
        </p:nvSpPr>
        <p:spPr>
          <a:xfrm>
            <a:off x="14079931" y="6099962"/>
            <a:ext cx="15526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C27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PCB設計優化</a:t>
            </a:r>
            <a:endParaRPr lang="en-US" sz="1800" dirty="0"/>
          </a:p>
        </p:txBody>
      </p:sp>
      <p:sp>
        <p:nvSpPr>
          <p:cNvPr id="131" name="Text 112"/>
          <p:cNvSpPr txBox="1"/>
          <p:nvPr/>
        </p:nvSpPr>
        <p:spPr>
          <a:xfrm>
            <a:off x="14079931" y="7125919"/>
            <a:ext cx="154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C27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最終售價估算</a:t>
            </a:r>
            <a:endParaRPr lang="en-US" sz="1800" dirty="0"/>
          </a:p>
        </p:txBody>
      </p:sp>
      <p:sp>
        <p:nvSpPr>
          <p:cNvPr id="132" name="Shape 113"/>
          <p:cNvSpPr/>
          <p:nvPr/>
        </p:nvSpPr>
        <p:spPr>
          <a:xfrm>
            <a:off x="13737031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3" name="Shape 114"/>
          <p:cNvSpPr/>
          <p:nvPr/>
        </p:nvSpPr>
        <p:spPr>
          <a:xfrm>
            <a:off x="13947343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4" name="Shape 115"/>
          <p:cNvSpPr/>
          <p:nvPr/>
        </p:nvSpPr>
        <p:spPr>
          <a:xfrm>
            <a:off x="14156741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5" name="Shape 116"/>
          <p:cNvSpPr/>
          <p:nvPr/>
        </p:nvSpPr>
        <p:spPr>
          <a:xfrm>
            <a:off x="14366138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6" name="Shape 117"/>
          <p:cNvSpPr/>
          <p:nvPr/>
        </p:nvSpPr>
        <p:spPr>
          <a:xfrm>
            <a:off x="14575536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7" name="Shape 118"/>
          <p:cNvSpPr/>
          <p:nvPr/>
        </p:nvSpPr>
        <p:spPr>
          <a:xfrm>
            <a:off x="14156741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8" name="Shape 119"/>
          <p:cNvSpPr/>
          <p:nvPr/>
        </p:nvSpPr>
        <p:spPr>
          <a:xfrm>
            <a:off x="14366138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9" name="Shape 120"/>
          <p:cNvSpPr/>
          <p:nvPr/>
        </p:nvSpPr>
        <p:spPr>
          <a:xfrm>
            <a:off x="14575536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0" name="Text 121"/>
          <p:cNvSpPr txBox="1"/>
          <p:nvPr/>
        </p:nvSpPr>
        <p:spPr>
          <a:xfrm>
            <a:off x="13737031" y="4619549"/>
            <a:ext cx="31345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使用高性價比ESP32和MPU-6050</a:t>
            </a:r>
            <a:endParaRPr lang="en-US" sz="1500" dirty="0"/>
          </a:p>
        </p:txBody>
      </p:sp>
      <p:pic>
        <p:nvPicPr>
          <p:cNvPr id="141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44" b="-44"/>
          <a:stretch/>
        </p:blipFill>
        <p:spPr>
          <a:xfrm>
            <a:off x="13742518" y="5140757"/>
            <a:ext cx="256946" cy="228600"/>
          </a:xfrm>
          <a:prstGeom prst="rect">
            <a:avLst/>
          </a:prstGeom>
        </p:spPr>
      </p:pic>
      <p:sp>
        <p:nvSpPr>
          <p:cNvPr id="142" name="Shape 122"/>
          <p:cNvSpPr/>
          <p:nvPr/>
        </p:nvSpPr>
        <p:spPr>
          <a:xfrm>
            <a:off x="13737031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3" name="Shape 123"/>
          <p:cNvSpPr/>
          <p:nvPr/>
        </p:nvSpPr>
        <p:spPr>
          <a:xfrm>
            <a:off x="13947343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4" name="Shape 124"/>
          <p:cNvSpPr/>
          <p:nvPr/>
        </p:nvSpPr>
        <p:spPr>
          <a:xfrm>
            <a:off x="13737031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5" name="Shape 125"/>
          <p:cNvSpPr/>
          <p:nvPr/>
        </p:nvSpPr>
        <p:spPr>
          <a:xfrm>
            <a:off x="13947343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6" name="Shape 126"/>
          <p:cNvSpPr/>
          <p:nvPr/>
        </p:nvSpPr>
        <p:spPr>
          <a:xfrm>
            <a:off x="14156741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7" name="Shape 127"/>
          <p:cNvSpPr/>
          <p:nvPr/>
        </p:nvSpPr>
        <p:spPr>
          <a:xfrm>
            <a:off x="14156741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8" name="Shape 128"/>
          <p:cNvSpPr/>
          <p:nvPr/>
        </p:nvSpPr>
        <p:spPr>
          <a:xfrm>
            <a:off x="14366138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9" name="Shape 129"/>
          <p:cNvSpPr/>
          <p:nvPr/>
        </p:nvSpPr>
        <p:spPr>
          <a:xfrm>
            <a:off x="14575536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50" name="Text 130"/>
          <p:cNvSpPr txBox="1"/>
          <p:nvPr/>
        </p:nvSpPr>
        <p:spPr>
          <a:xfrm>
            <a:off x="13737031" y="5645506"/>
            <a:ext cx="28483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100+單位起訂可降低30%成本</a:t>
            </a:r>
            <a:endParaRPr lang="en-US" sz="1500" dirty="0"/>
          </a:p>
        </p:txBody>
      </p:sp>
      <p:pic>
        <p:nvPicPr>
          <p:cNvPr id="151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13756234" y="6166714"/>
            <a:ext cx="228600" cy="228600"/>
          </a:xfrm>
          <a:prstGeom prst="rect">
            <a:avLst/>
          </a:prstGeom>
        </p:spPr>
      </p:pic>
      <p:sp>
        <p:nvSpPr>
          <p:cNvPr id="152" name="Shape 131"/>
          <p:cNvSpPr/>
          <p:nvPr/>
        </p:nvSpPr>
        <p:spPr>
          <a:xfrm>
            <a:off x="14366138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53" name="Shape 132"/>
          <p:cNvSpPr/>
          <p:nvPr/>
        </p:nvSpPr>
        <p:spPr>
          <a:xfrm>
            <a:off x="13737031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54" name="Text 133"/>
          <p:cNvSpPr txBox="1"/>
          <p:nvPr/>
        </p:nvSpPr>
        <p:spPr>
          <a:xfrm>
            <a:off x="13737031" y="6671462"/>
            <a:ext cx="21909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單層設計降低生產成本</a:t>
            </a:r>
            <a:endParaRPr lang="en-US" sz="1500" dirty="0"/>
          </a:p>
        </p:txBody>
      </p:sp>
      <p:sp>
        <p:nvSpPr>
          <p:cNvPr id="155" name="Shape 134"/>
          <p:cNvSpPr/>
          <p:nvPr/>
        </p:nvSpPr>
        <p:spPr>
          <a:xfrm>
            <a:off x="14575536" y="6500470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pic>
        <p:nvPicPr>
          <p:cNvPr id="156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80" b="-80"/>
          <a:stretch/>
        </p:blipFill>
        <p:spPr>
          <a:xfrm>
            <a:off x="13799210" y="7192670"/>
            <a:ext cx="142646" cy="228600"/>
          </a:xfrm>
          <a:prstGeom prst="rect">
            <a:avLst/>
          </a:prstGeom>
        </p:spPr>
      </p:pic>
      <p:sp>
        <p:nvSpPr>
          <p:cNvPr id="157" name="Shape 135"/>
          <p:cNvSpPr/>
          <p:nvPr/>
        </p:nvSpPr>
        <p:spPr>
          <a:xfrm>
            <a:off x="13947343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58" name="Text 136"/>
          <p:cNvSpPr txBox="1"/>
          <p:nvPr/>
        </p:nvSpPr>
        <p:spPr>
          <a:xfrm>
            <a:off x="13737031" y="7697419"/>
            <a:ext cx="25246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硬體成本控制在170港元內</a:t>
            </a:r>
            <a:endParaRPr lang="en-US" sz="1500" dirty="0"/>
          </a:p>
        </p:txBody>
      </p:sp>
      <p:sp>
        <p:nvSpPr>
          <p:cNvPr id="159" name="Shape 137"/>
          <p:cNvSpPr/>
          <p:nvPr/>
        </p:nvSpPr>
        <p:spPr>
          <a:xfrm>
            <a:off x="13585241" y="8323783"/>
            <a:ext cx="4229100" cy="5715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60" name="Text 138"/>
          <p:cNvSpPr txBox="1"/>
          <p:nvPr/>
        </p:nvSpPr>
        <p:spPr>
          <a:xfrm>
            <a:off x="14716354" y="8438083"/>
            <a:ext cx="21433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開源硬體+批量生產</a:t>
            </a:r>
            <a:endParaRPr lang="en-US" sz="1800" dirty="0"/>
          </a:p>
        </p:txBody>
      </p:sp>
      <p:pic>
        <p:nvPicPr>
          <p:cNvPr id="161" name="Image 20" descr="preencoded.png">    </p:cNvPr>
          <p:cNvPicPr>
            <a:picLocks noChangeAspect="1"/>
          </p:cNvPicPr>
          <p:nvPr/>
        </p:nvPicPr>
        <p:blipFill>
          <a:blip r:embed="rId21"/>
          <a:srcRect l="-837" r="-837" t="0" b="0"/>
          <a:stretch/>
        </p:blipFill>
        <p:spPr>
          <a:xfrm>
            <a:off x="476402" y="9263786"/>
            <a:ext cx="152705" cy="200254"/>
          </a:xfrm>
          <a:prstGeom prst="rect">
            <a:avLst/>
          </a:prstGeom>
        </p:spPr>
      </p:pic>
      <p:sp>
        <p:nvSpPr>
          <p:cNvPr id="162" name="Text 139"/>
          <p:cNvSpPr txBox="1"/>
          <p:nvPr/>
        </p:nvSpPr>
        <p:spPr>
          <a:xfrm>
            <a:off x="705002" y="9200693"/>
            <a:ext cx="60487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每個挑戰都經過反覆實驗與測試，確保解決方案兼顧性能與實用性</a:t>
            </a:r>
            <a:endParaRPr lang="en-US" sz="1500" dirty="0"/>
          </a:p>
        </p:txBody>
      </p:sp>
      <p:sp>
        <p:nvSpPr>
          <p:cNvPr id="163" name="Text 140"/>
          <p:cNvSpPr txBox="1"/>
          <p:nvPr/>
        </p:nvSpPr>
        <p:spPr>
          <a:xfrm>
            <a:off x="13510260" y="9200693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15/43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28854" y="371246"/>
            <a:ext cx="522945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通信協議:BLE 5.0 GATT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28854" y="1343254"/>
            <a:ext cx="91540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低延遲、穩定可靠的藍牙低功耗通信方案，實現球拍與手機端的數據交換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28854" y="1933042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6" name="Shape 4"/>
          <p:cNvSpPr/>
          <p:nvPr/>
        </p:nvSpPr>
        <p:spPr>
          <a:xfrm>
            <a:off x="428854" y="4992624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7" name="Shape 5"/>
          <p:cNvSpPr/>
          <p:nvPr/>
        </p:nvSpPr>
        <p:spPr>
          <a:xfrm>
            <a:off x="428854" y="8113471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8" name="Shape 6"/>
          <p:cNvSpPr/>
          <p:nvPr/>
        </p:nvSpPr>
        <p:spPr>
          <a:xfrm>
            <a:off x="428854" y="11172139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75158" y="1952244"/>
            <a:ext cx="381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123798" y="1933042"/>
            <a:ext cx="19723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設備掃描與連接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23798" y="2428646"/>
            <a:ext cx="8305495" cy="2361895"/>
          </a:xfrm>
          <a:prstGeom prst="roundRect">
            <a:avLst>
              <a:gd name="adj" fmla="val 23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-1624" r="-1624" t="0" b="0"/>
          <a:stretch/>
        </p:blipFill>
        <p:spPr>
          <a:xfrm>
            <a:off x="1257300" y="2624328"/>
            <a:ext cx="276149" cy="23774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75158" y="5011826"/>
            <a:ext cx="381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575158" y="8131759"/>
            <a:ext cx="381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1123798" y="4992624"/>
            <a:ext cx="18480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GATT服務發現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123798" y="8113471"/>
            <a:ext cx="14676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特徵值訂閱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9558223" y="2428646"/>
            <a:ext cx="8305495" cy="2361895"/>
          </a:xfrm>
          <a:prstGeom prst="roundRect">
            <a:avLst>
              <a:gd name="adj" fmla="val 23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123798" y="5488229"/>
            <a:ext cx="8305495" cy="2419502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558223" y="5488229"/>
            <a:ext cx="8305495" cy="2419502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123798" y="8608162"/>
            <a:ext cx="8305495" cy="2361895"/>
          </a:xfrm>
          <a:prstGeom prst="roundRect">
            <a:avLst>
              <a:gd name="adj" fmla="val 23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558223" y="8608162"/>
            <a:ext cx="8305495" cy="2361895"/>
          </a:xfrm>
          <a:prstGeom prst="roundRect">
            <a:avLst>
              <a:gd name="adj" fmla="val 23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1609344" y="2562149"/>
            <a:ext cx="13908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廣播與發現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0073030" y="2562149"/>
            <a:ext cx="11530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連接建立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0043770" y="5621731"/>
            <a:ext cx="13908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特徵值映射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543507" y="8741664"/>
            <a:ext cx="11530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數據通知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0006279" y="8741664"/>
            <a:ext cx="11530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訂閱配置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257300" y="2991002"/>
            <a:ext cx="80494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ESP32-C3每500ms廣播一次，設備名稱包含唯一MAC地址，手機App掃描並過濾"SmartRacket_"前綴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691726" y="2991002"/>
            <a:ext cx="8086954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使用BLE 5.0 GAP協議建立連接，支援即連即用(Instant Connect)模式，連接時間小於100ms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9691726" y="9170518"/>
            <a:ext cx="70015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App可動態調整訂閱配置，根據訓練模式切換不同數據流頻率與內容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257300" y="3696919"/>
            <a:ext cx="8039405" cy="952805"/>
          </a:xfrm>
          <a:prstGeom prst="roundRect">
            <a:avLst>
              <a:gd name="adj" fmla="val 7678"/>
            </a:avLst>
          </a:prstGeom>
          <a:solidFill>
            <a:srgbClr val="1F77D3">
              <a:alpha val="5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1257300" y="3696919"/>
            <a:ext cx="28346" cy="95280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32" name="Shape 29"/>
          <p:cNvSpPr/>
          <p:nvPr/>
        </p:nvSpPr>
        <p:spPr>
          <a:xfrm>
            <a:off x="9691726" y="9557309"/>
            <a:ext cx="8039405" cy="952805"/>
          </a:xfrm>
          <a:prstGeom prst="roundRect">
            <a:avLst>
              <a:gd name="adj" fmla="val 7678"/>
            </a:avLst>
          </a:prstGeom>
          <a:solidFill>
            <a:srgbClr val="1F77D3">
              <a:alpha val="5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9691726" y="9557309"/>
            <a:ext cx="28346" cy="95280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380744" y="3792931"/>
            <a:ext cx="1905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廣播間隔: 500ms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1380744" y="4173322"/>
            <a:ext cx="2953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廣播功率: 0dBm (節能模式)</a:t>
            </a:r>
            <a:endParaRPr lang="en-US" sz="180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rcRect l="-1231" r="-1231" t="0" b="0"/>
          <a:stretch/>
        </p:blipFill>
        <p:spPr>
          <a:xfrm>
            <a:off x="9691726" y="2624328"/>
            <a:ext cx="304495" cy="237744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1571854" y="5621731"/>
            <a:ext cx="9052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主服務</a:t>
            </a:r>
            <a:endParaRPr lang="en-US" sz="1800" dirty="0"/>
          </a:p>
        </p:txBody>
      </p:sp>
      <p:sp>
        <p:nvSpPr>
          <p:cNvPr id="38" name="Text 34"/>
          <p:cNvSpPr txBox="1"/>
          <p:nvPr/>
        </p:nvSpPr>
        <p:spPr>
          <a:xfrm>
            <a:off x="1257300" y="6049670"/>
            <a:ext cx="7944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連接後自動發現三項核心服務：動作數據服務、電池狀態服務、設備信息服務</a:t>
            </a:r>
            <a:endParaRPr lang="en-US" sz="1800" dirty="0"/>
          </a:p>
        </p:txBody>
      </p:sp>
      <p:sp>
        <p:nvSpPr>
          <p:cNvPr id="39" name="Text 35"/>
          <p:cNvSpPr txBox="1"/>
          <p:nvPr/>
        </p:nvSpPr>
        <p:spPr>
          <a:xfrm>
            <a:off x="9691726" y="6049670"/>
            <a:ext cx="73636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每個服務包含多個特徵值，通過特徵值UUID識別並訪問不同類型的數據</a:t>
            </a:r>
            <a:endParaRPr lang="en-US" sz="1800" dirty="0"/>
          </a:p>
        </p:txBody>
      </p:sp>
      <p:sp>
        <p:nvSpPr>
          <p:cNvPr id="40" name="Shape 36"/>
          <p:cNvSpPr/>
          <p:nvPr/>
        </p:nvSpPr>
        <p:spPr>
          <a:xfrm>
            <a:off x="9691726" y="3696919"/>
            <a:ext cx="8039405" cy="952805"/>
          </a:xfrm>
          <a:prstGeom prst="roundRect">
            <a:avLst>
              <a:gd name="adj" fmla="val 7678"/>
            </a:avLst>
          </a:prstGeom>
          <a:solidFill>
            <a:srgbClr val="1F77D3">
              <a:alpha val="5000"/>
            </a:srgbClr>
          </a:solidFill>
          <a:ln/>
        </p:spPr>
      </p:sp>
      <p:sp>
        <p:nvSpPr>
          <p:cNvPr id="41" name="Shape 37"/>
          <p:cNvSpPr/>
          <p:nvPr/>
        </p:nvSpPr>
        <p:spPr>
          <a:xfrm>
            <a:off x="9691726" y="3696919"/>
            <a:ext cx="28346" cy="95280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42" name="Shape 38"/>
          <p:cNvSpPr/>
          <p:nvPr/>
        </p:nvSpPr>
        <p:spPr>
          <a:xfrm>
            <a:off x="1257300" y="6436462"/>
            <a:ext cx="8039405" cy="1333195"/>
          </a:xfrm>
          <a:prstGeom prst="roundRect">
            <a:avLst>
              <a:gd name="adj" fmla="val 3919"/>
            </a:avLst>
          </a:prstGeom>
          <a:solidFill>
            <a:srgbClr val="1F77D3">
              <a:alpha val="5000"/>
            </a:srgbClr>
          </a:solidFill>
          <a:ln/>
        </p:spPr>
      </p:sp>
      <p:sp>
        <p:nvSpPr>
          <p:cNvPr id="43" name="Shape 39"/>
          <p:cNvSpPr/>
          <p:nvPr/>
        </p:nvSpPr>
        <p:spPr>
          <a:xfrm>
            <a:off x="1257300" y="6436462"/>
            <a:ext cx="28346" cy="133319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9815170" y="3792931"/>
            <a:ext cx="1562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連接超時: 3秒</a:t>
            </a:r>
            <a:endParaRPr lang="en-US" sz="1800" dirty="0"/>
          </a:p>
        </p:txBody>
      </p:sp>
      <p:sp>
        <p:nvSpPr>
          <p:cNvPr id="45" name="Text 41"/>
          <p:cNvSpPr txBox="1"/>
          <p:nvPr/>
        </p:nvSpPr>
        <p:spPr>
          <a:xfrm>
            <a:off x="9815170" y="4173322"/>
            <a:ext cx="20290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連接延遲: &lt;100ms</a:t>
            </a:r>
            <a:endParaRPr lang="en-US" sz="1800" dirty="0"/>
          </a:p>
        </p:txBody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57300" y="5682996"/>
            <a:ext cx="237744" cy="237744"/>
          </a:xfrm>
          <a:prstGeom prst="rect">
            <a:avLst/>
          </a:prstGeom>
        </p:spPr>
      </p:pic>
      <p:sp>
        <p:nvSpPr>
          <p:cNvPr id="47" name="Shape 42"/>
          <p:cNvSpPr/>
          <p:nvPr/>
        </p:nvSpPr>
        <p:spPr>
          <a:xfrm>
            <a:off x="9691726" y="6436462"/>
            <a:ext cx="8039405" cy="952805"/>
          </a:xfrm>
          <a:prstGeom prst="roundRect">
            <a:avLst>
              <a:gd name="adj" fmla="val 7678"/>
            </a:avLst>
          </a:prstGeom>
          <a:solidFill>
            <a:srgbClr val="1F77D3">
              <a:alpha val="5000"/>
            </a:srgbClr>
          </a:solidFill>
          <a:ln/>
        </p:spPr>
      </p:sp>
      <p:sp>
        <p:nvSpPr>
          <p:cNvPr id="48" name="Shape 43"/>
          <p:cNvSpPr/>
          <p:nvPr/>
        </p:nvSpPr>
        <p:spPr>
          <a:xfrm>
            <a:off x="9691726" y="6436462"/>
            <a:ext cx="28346" cy="95280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1380744" y="6531559"/>
            <a:ext cx="25246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動作數據UUID: 0xFEA0</a:t>
            </a:r>
            <a:endParaRPr lang="en-US" sz="1800" dirty="0"/>
          </a:p>
        </p:txBody>
      </p:sp>
      <p:sp>
        <p:nvSpPr>
          <p:cNvPr id="50" name="Text 45"/>
          <p:cNvSpPr txBox="1"/>
          <p:nvPr/>
        </p:nvSpPr>
        <p:spPr>
          <a:xfrm>
            <a:off x="1380744" y="6912864"/>
            <a:ext cx="2505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電池狀態UUID: 0x180F</a:t>
            </a:r>
            <a:endParaRPr lang="en-US" sz="1800" dirty="0"/>
          </a:p>
        </p:txBody>
      </p:sp>
      <p:sp>
        <p:nvSpPr>
          <p:cNvPr id="51" name="Text 46"/>
          <p:cNvSpPr txBox="1"/>
          <p:nvPr/>
        </p:nvSpPr>
        <p:spPr>
          <a:xfrm>
            <a:off x="1380744" y="7294169"/>
            <a:ext cx="25246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設備信息UUID: 0x180A</a:t>
            </a:r>
            <a:endParaRPr lang="en-US" sz="1800" dirty="0"/>
          </a:p>
        </p:txBody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rcRect l="-1624" r="-1624" t="0" b="0"/>
          <a:stretch/>
        </p:blipFill>
        <p:spPr>
          <a:xfrm>
            <a:off x="9691726" y="5682996"/>
            <a:ext cx="276149" cy="237744"/>
          </a:xfrm>
          <a:prstGeom prst="rect">
            <a:avLst/>
          </a:prstGeom>
        </p:spPr>
      </p:pic>
      <p:sp>
        <p:nvSpPr>
          <p:cNvPr id="53" name="Text 47"/>
          <p:cNvSpPr txBox="1"/>
          <p:nvPr/>
        </p:nvSpPr>
        <p:spPr>
          <a:xfrm>
            <a:off x="1257300" y="9170518"/>
            <a:ext cx="80202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App訂閱動作數據特徵值，ESP32-C3主動推送數據，無需輪詢，降低延遲與電源消耗</a:t>
            </a:r>
            <a:endParaRPr lang="en-US" sz="1800" dirty="0"/>
          </a:p>
        </p:txBody>
      </p:sp>
      <p:sp>
        <p:nvSpPr>
          <p:cNvPr id="54" name="Shape 48"/>
          <p:cNvSpPr/>
          <p:nvPr/>
        </p:nvSpPr>
        <p:spPr>
          <a:xfrm>
            <a:off x="1257300" y="9877349"/>
            <a:ext cx="8039405" cy="952805"/>
          </a:xfrm>
          <a:prstGeom prst="roundRect">
            <a:avLst>
              <a:gd name="adj" fmla="val 7678"/>
            </a:avLst>
          </a:prstGeom>
          <a:solidFill>
            <a:srgbClr val="1F77D3">
              <a:alpha val="5000"/>
            </a:srgbClr>
          </a:solidFill>
          <a:ln/>
        </p:spPr>
      </p:sp>
      <p:sp>
        <p:nvSpPr>
          <p:cNvPr id="55" name="Shape 49"/>
          <p:cNvSpPr/>
          <p:nvPr/>
        </p:nvSpPr>
        <p:spPr>
          <a:xfrm>
            <a:off x="1257300" y="9877349"/>
            <a:ext cx="28346" cy="95280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9815170" y="6531559"/>
            <a:ext cx="23628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特徵發現時間: &lt;50ms</a:t>
            </a:r>
            <a:endParaRPr lang="en-US" sz="1800" dirty="0"/>
          </a:p>
        </p:txBody>
      </p:sp>
      <p:sp>
        <p:nvSpPr>
          <p:cNvPr id="57" name="Text 51"/>
          <p:cNvSpPr txBox="1"/>
          <p:nvPr/>
        </p:nvSpPr>
        <p:spPr>
          <a:xfrm>
            <a:off x="9815170" y="6912864"/>
            <a:ext cx="1562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特徵數量: 5個</a:t>
            </a:r>
            <a:endParaRPr lang="en-US" sz="1800" dirty="0"/>
          </a:p>
        </p:txBody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rcRect l="-330" r="-330" t="0" b="0"/>
          <a:stretch/>
        </p:blipFill>
        <p:spPr>
          <a:xfrm>
            <a:off x="1257300" y="8803843"/>
            <a:ext cx="209398" cy="237744"/>
          </a:xfrm>
          <a:prstGeom prst="rect">
            <a:avLst/>
          </a:prstGeom>
        </p:spPr>
      </p:pic>
      <p:sp>
        <p:nvSpPr>
          <p:cNvPr id="59" name="Text 52"/>
          <p:cNvSpPr txBox="1"/>
          <p:nvPr/>
        </p:nvSpPr>
        <p:spPr>
          <a:xfrm>
            <a:off x="1380744" y="9972446"/>
            <a:ext cx="2514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通知間隔: 5ms (200Hz)</a:t>
            </a:r>
            <a:endParaRPr lang="en-US" sz="1800" dirty="0"/>
          </a:p>
        </p:txBody>
      </p:sp>
      <p:sp>
        <p:nvSpPr>
          <p:cNvPr id="60" name="Text 53"/>
          <p:cNvSpPr txBox="1"/>
          <p:nvPr/>
        </p:nvSpPr>
        <p:spPr>
          <a:xfrm>
            <a:off x="1380744" y="10352837"/>
            <a:ext cx="22384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通知大小: 20字節/包</a:t>
            </a:r>
            <a:endParaRPr lang="en-US" sz="1800" dirty="0"/>
          </a:p>
        </p:txBody>
      </p:sp>
      <p:pic>
        <p:nvPicPr>
          <p:cNvPr id="6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691726" y="8803843"/>
            <a:ext cx="237744" cy="237744"/>
          </a:xfrm>
          <a:prstGeom prst="rect">
            <a:avLst/>
          </a:prstGeom>
        </p:spPr>
      </p:pic>
      <p:sp>
        <p:nvSpPr>
          <p:cNvPr id="62" name="Text 54"/>
          <p:cNvSpPr txBox="1"/>
          <p:nvPr/>
        </p:nvSpPr>
        <p:spPr>
          <a:xfrm>
            <a:off x="575158" y="11191342"/>
            <a:ext cx="381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2100" dirty="0"/>
          </a:p>
        </p:txBody>
      </p:sp>
      <p:sp>
        <p:nvSpPr>
          <p:cNvPr id="63" name="Text 55"/>
          <p:cNvSpPr txBox="1"/>
          <p:nvPr/>
        </p:nvSpPr>
        <p:spPr>
          <a:xfrm>
            <a:off x="1123798" y="11172139"/>
            <a:ext cx="14676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數據流傳輸</a:t>
            </a:r>
            <a:endParaRPr lang="en-US" sz="2000" dirty="0"/>
          </a:p>
        </p:txBody>
      </p:sp>
      <p:sp>
        <p:nvSpPr>
          <p:cNvPr id="64" name="Shape 56"/>
          <p:cNvSpPr/>
          <p:nvPr/>
        </p:nvSpPr>
        <p:spPr>
          <a:xfrm>
            <a:off x="1123798" y="11667744"/>
            <a:ext cx="8305495" cy="2038198"/>
          </a:xfrm>
          <a:prstGeom prst="roundRect">
            <a:avLst>
              <a:gd name="adj" fmla="val 31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pic>
        <p:nvPicPr>
          <p:cNvPr id="6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257300" y="11862511"/>
            <a:ext cx="237744" cy="237744"/>
          </a:xfrm>
          <a:prstGeom prst="rect">
            <a:avLst/>
          </a:prstGeom>
        </p:spPr>
      </p:pic>
      <p:sp>
        <p:nvSpPr>
          <p:cNvPr id="66" name="Shape 57"/>
          <p:cNvSpPr/>
          <p:nvPr/>
        </p:nvSpPr>
        <p:spPr>
          <a:xfrm>
            <a:off x="428854" y="13911682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67" name="Text 58"/>
          <p:cNvSpPr txBox="1"/>
          <p:nvPr/>
        </p:nvSpPr>
        <p:spPr>
          <a:xfrm>
            <a:off x="575158" y="13930884"/>
            <a:ext cx="381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2100" dirty="0"/>
          </a:p>
        </p:txBody>
      </p:sp>
      <p:sp>
        <p:nvSpPr>
          <p:cNvPr id="68" name="Text 59"/>
          <p:cNvSpPr txBox="1"/>
          <p:nvPr/>
        </p:nvSpPr>
        <p:spPr>
          <a:xfrm>
            <a:off x="1123798" y="13911682"/>
            <a:ext cx="171541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斷線重連機制</a:t>
            </a:r>
            <a:endParaRPr lang="en-US" sz="2000" dirty="0"/>
          </a:p>
        </p:txBody>
      </p:sp>
      <p:sp>
        <p:nvSpPr>
          <p:cNvPr id="69" name="Shape 60"/>
          <p:cNvSpPr/>
          <p:nvPr/>
        </p:nvSpPr>
        <p:spPr>
          <a:xfrm>
            <a:off x="9558223" y="11667744"/>
            <a:ext cx="8305495" cy="2038198"/>
          </a:xfrm>
          <a:prstGeom prst="roundRect">
            <a:avLst>
              <a:gd name="adj" fmla="val 31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70" name="Shape 61"/>
          <p:cNvSpPr/>
          <p:nvPr/>
        </p:nvSpPr>
        <p:spPr>
          <a:xfrm>
            <a:off x="1123798" y="14407286"/>
            <a:ext cx="8305495" cy="2038198"/>
          </a:xfrm>
          <a:prstGeom prst="roundRect">
            <a:avLst>
              <a:gd name="adj" fmla="val 31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71" name="Shape 62"/>
          <p:cNvSpPr/>
          <p:nvPr/>
        </p:nvSpPr>
        <p:spPr>
          <a:xfrm>
            <a:off x="9558223" y="14407286"/>
            <a:ext cx="8305495" cy="2038198"/>
          </a:xfrm>
          <a:prstGeom prst="roundRect">
            <a:avLst>
              <a:gd name="adj" fmla="val 31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72" name="Text 63"/>
          <p:cNvSpPr txBox="1"/>
          <p:nvPr/>
        </p:nvSpPr>
        <p:spPr>
          <a:xfrm>
            <a:off x="1571854" y="11801246"/>
            <a:ext cx="11530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數據打包</a:t>
            </a:r>
            <a:endParaRPr lang="en-US" sz="1800" dirty="0"/>
          </a:p>
        </p:txBody>
      </p:sp>
      <p:sp>
        <p:nvSpPr>
          <p:cNvPr id="73" name="Text 64"/>
          <p:cNvSpPr txBox="1"/>
          <p:nvPr/>
        </p:nvSpPr>
        <p:spPr>
          <a:xfrm>
            <a:off x="10006279" y="11801246"/>
            <a:ext cx="11530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數據保護</a:t>
            </a:r>
            <a:endParaRPr lang="en-US" sz="1800" dirty="0"/>
          </a:p>
        </p:txBody>
      </p:sp>
      <p:sp>
        <p:nvSpPr>
          <p:cNvPr id="74" name="Text 65"/>
          <p:cNvSpPr txBox="1"/>
          <p:nvPr/>
        </p:nvSpPr>
        <p:spPr>
          <a:xfrm>
            <a:off x="1571854" y="14540789"/>
            <a:ext cx="11530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自動重連</a:t>
            </a:r>
            <a:endParaRPr lang="en-US" sz="1800" dirty="0"/>
          </a:p>
        </p:txBody>
      </p:sp>
      <p:sp>
        <p:nvSpPr>
          <p:cNvPr id="75" name="Text 66"/>
          <p:cNvSpPr txBox="1"/>
          <p:nvPr/>
        </p:nvSpPr>
        <p:spPr>
          <a:xfrm>
            <a:off x="10043770" y="14540789"/>
            <a:ext cx="11530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會話保持</a:t>
            </a:r>
            <a:endParaRPr lang="en-US" sz="1800" dirty="0"/>
          </a:p>
        </p:txBody>
      </p:sp>
      <p:sp>
        <p:nvSpPr>
          <p:cNvPr id="76" name="Text 67"/>
          <p:cNvSpPr txBox="1"/>
          <p:nvPr/>
        </p:nvSpPr>
        <p:spPr>
          <a:xfrm>
            <a:off x="1257300" y="12230100"/>
            <a:ext cx="70774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每個數據包包含加速度(X/Y/Z)、角速度(X/Y/Z)、採樣時間戳及校驗和</a:t>
            </a:r>
            <a:endParaRPr lang="en-US" sz="1800" dirty="0"/>
          </a:p>
        </p:txBody>
      </p:sp>
      <p:sp>
        <p:nvSpPr>
          <p:cNvPr id="77" name="Text 68"/>
          <p:cNvSpPr txBox="1"/>
          <p:nvPr/>
        </p:nvSpPr>
        <p:spPr>
          <a:xfrm>
            <a:off x="9691726" y="12230100"/>
            <a:ext cx="74962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使用CRC16校驗確保數據完整性，低錯誤率傳輸設計提高訓練數據可靠性</a:t>
            </a:r>
            <a:endParaRPr lang="en-US" sz="1800" dirty="0"/>
          </a:p>
        </p:txBody>
      </p:sp>
      <p:sp>
        <p:nvSpPr>
          <p:cNvPr id="78" name="Shape 69"/>
          <p:cNvSpPr/>
          <p:nvPr/>
        </p:nvSpPr>
        <p:spPr>
          <a:xfrm>
            <a:off x="1257300" y="12615977"/>
            <a:ext cx="8039405" cy="952805"/>
          </a:xfrm>
          <a:prstGeom prst="roundRect">
            <a:avLst>
              <a:gd name="adj" fmla="val 7678"/>
            </a:avLst>
          </a:prstGeom>
          <a:solidFill>
            <a:srgbClr val="1F77D3">
              <a:alpha val="5000"/>
            </a:srgbClr>
          </a:solidFill>
          <a:ln/>
        </p:spPr>
      </p:sp>
      <p:sp>
        <p:nvSpPr>
          <p:cNvPr id="79" name="Shape 70"/>
          <p:cNvSpPr/>
          <p:nvPr/>
        </p:nvSpPr>
        <p:spPr>
          <a:xfrm>
            <a:off x="1257300" y="12615977"/>
            <a:ext cx="28346" cy="95280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80" name="Shape 71"/>
          <p:cNvSpPr/>
          <p:nvPr/>
        </p:nvSpPr>
        <p:spPr>
          <a:xfrm>
            <a:off x="9691726" y="12615977"/>
            <a:ext cx="8039405" cy="952805"/>
          </a:xfrm>
          <a:prstGeom prst="roundRect">
            <a:avLst>
              <a:gd name="adj" fmla="val 7678"/>
            </a:avLst>
          </a:prstGeom>
          <a:solidFill>
            <a:srgbClr val="1F77D3">
              <a:alpha val="5000"/>
            </a:srgbClr>
          </a:solidFill>
          <a:ln/>
        </p:spPr>
      </p:sp>
      <p:sp>
        <p:nvSpPr>
          <p:cNvPr id="81" name="Shape 72"/>
          <p:cNvSpPr/>
          <p:nvPr/>
        </p:nvSpPr>
        <p:spPr>
          <a:xfrm>
            <a:off x="9691726" y="12615977"/>
            <a:ext cx="28346" cy="95280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82" name="Text 73"/>
          <p:cNvSpPr txBox="1"/>
          <p:nvPr/>
        </p:nvSpPr>
        <p:spPr>
          <a:xfrm>
            <a:off x="9815170" y="9652406"/>
            <a:ext cx="27532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訂閱模式: 標準/高頻/節能</a:t>
            </a:r>
            <a:endParaRPr lang="en-US" sz="1800" dirty="0"/>
          </a:p>
        </p:txBody>
      </p:sp>
      <p:sp>
        <p:nvSpPr>
          <p:cNvPr id="83" name="Text 74"/>
          <p:cNvSpPr txBox="1"/>
          <p:nvPr/>
        </p:nvSpPr>
        <p:spPr>
          <a:xfrm>
            <a:off x="9815170" y="10032797"/>
            <a:ext cx="22384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配置方法: CCCD寫入</a:t>
            </a:r>
            <a:endParaRPr lang="en-US" sz="1800" dirty="0"/>
          </a:p>
        </p:txBody>
      </p:sp>
      <p:sp>
        <p:nvSpPr>
          <p:cNvPr id="84" name="Text 75"/>
          <p:cNvSpPr txBox="1"/>
          <p:nvPr/>
        </p:nvSpPr>
        <p:spPr>
          <a:xfrm>
            <a:off x="1380744" y="12711989"/>
            <a:ext cx="29626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數據格式: 二進制(提高效率)</a:t>
            </a:r>
            <a:endParaRPr lang="en-US" sz="1800" dirty="0"/>
          </a:p>
        </p:txBody>
      </p:sp>
      <p:sp>
        <p:nvSpPr>
          <p:cNvPr id="85" name="Text 76"/>
          <p:cNvSpPr txBox="1"/>
          <p:nvPr/>
        </p:nvSpPr>
        <p:spPr>
          <a:xfrm>
            <a:off x="1380744" y="13092379"/>
            <a:ext cx="20007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傳輸速率: 32Kbps</a:t>
            </a:r>
            <a:endParaRPr lang="en-US" sz="1800" dirty="0"/>
          </a:p>
        </p:txBody>
      </p:sp>
      <p:pic>
        <p:nvPicPr>
          <p:cNvPr id="8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691726" y="11862511"/>
            <a:ext cx="237744" cy="237744"/>
          </a:xfrm>
          <a:prstGeom prst="rect">
            <a:avLst/>
          </a:prstGeom>
        </p:spPr>
      </p:pic>
      <p:sp>
        <p:nvSpPr>
          <p:cNvPr id="87" name="Text 77"/>
          <p:cNvSpPr txBox="1"/>
          <p:nvPr/>
        </p:nvSpPr>
        <p:spPr>
          <a:xfrm>
            <a:off x="1257300" y="14968728"/>
            <a:ext cx="74587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App端保存上次連接設備信息，斷線後自動嘗試重連，無需用戶手動干預</a:t>
            </a:r>
            <a:endParaRPr lang="en-US" sz="1800" dirty="0"/>
          </a:p>
        </p:txBody>
      </p:sp>
      <p:sp>
        <p:nvSpPr>
          <p:cNvPr id="88" name="Text 78"/>
          <p:cNvSpPr txBox="1"/>
          <p:nvPr/>
        </p:nvSpPr>
        <p:spPr>
          <a:xfrm>
            <a:off x="9691726" y="14968728"/>
            <a:ext cx="7715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斷線重連後恢復之前的訓練會話，保存臨時數據緩存，確保訓練資料連續性</a:t>
            </a:r>
            <a:endParaRPr lang="en-US" sz="1800" dirty="0"/>
          </a:p>
        </p:txBody>
      </p:sp>
      <p:sp>
        <p:nvSpPr>
          <p:cNvPr id="89" name="Shape 79"/>
          <p:cNvSpPr/>
          <p:nvPr/>
        </p:nvSpPr>
        <p:spPr>
          <a:xfrm>
            <a:off x="1257300" y="15355519"/>
            <a:ext cx="8039405" cy="952805"/>
          </a:xfrm>
          <a:prstGeom prst="roundRect">
            <a:avLst>
              <a:gd name="adj" fmla="val 7678"/>
            </a:avLst>
          </a:prstGeom>
          <a:solidFill>
            <a:srgbClr val="1F77D3">
              <a:alpha val="5000"/>
            </a:srgbClr>
          </a:solidFill>
          <a:ln/>
        </p:spPr>
      </p:sp>
      <p:sp>
        <p:nvSpPr>
          <p:cNvPr id="90" name="Shape 80"/>
          <p:cNvSpPr/>
          <p:nvPr/>
        </p:nvSpPr>
        <p:spPr>
          <a:xfrm>
            <a:off x="1257300" y="15355519"/>
            <a:ext cx="28346" cy="95280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91" name="Text 81"/>
          <p:cNvSpPr txBox="1"/>
          <p:nvPr/>
        </p:nvSpPr>
        <p:spPr>
          <a:xfrm>
            <a:off x="9815170" y="12711989"/>
            <a:ext cx="17629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錯誤率: &lt;0.01%</a:t>
            </a:r>
            <a:endParaRPr lang="en-US" sz="1800" dirty="0"/>
          </a:p>
        </p:txBody>
      </p:sp>
      <p:sp>
        <p:nvSpPr>
          <p:cNvPr id="92" name="Text 82"/>
          <p:cNvSpPr txBox="1"/>
          <p:nvPr/>
        </p:nvSpPr>
        <p:spPr>
          <a:xfrm>
            <a:off x="9815170" y="13092379"/>
            <a:ext cx="25813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丟包處理: 插值重建算法</a:t>
            </a:r>
            <a:endParaRPr lang="en-US" sz="1800" dirty="0"/>
          </a:p>
        </p:txBody>
      </p:sp>
      <p:pic>
        <p:nvPicPr>
          <p:cNvPr id="9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257300" y="14602054"/>
            <a:ext cx="237744" cy="237744"/>
          </a:xfrm>
          <a:prstGeom prst="rect">
            <a:avLst/>
          </a:prstGeom>
        </p:spPr>
      </p:pic>
      <p:sp>
        <p:nvSpPr>
          <p:cNvPr id="94" name="Text 83"/>
          <p:cNvSpPr txBox="1"/>
          <p:nvPr/>
        </p:nvSpPr>
        <p:spPr>
          <a:xfrm>
            <a:off x="1380744" y="15450617"/>
            <a:ext cx="20199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重連嘗試: 最多3次</a:t>
            </a:r>
            <a:endParaRPr lang="en-US" sz="1800" dirty="0"/>
          </a:p>
        </p:txBody>
      </p:sp>
      <p:sp>
        <p:nvSpPr>
          <p:cNvPr id="95" name="Text 84"/>
          <p:cNvSpPr txBox="1"/>
          <p:nvPr/>
        </p:nvSpPr>
        <p:spPr>
          <a:xfrm>
            <a:off x="1380744" y="15831922"/>
            <a:ext cx="25813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重連間隔: 指數增長策略</a:t>
            </a:r>
            <a:endParaRPr lang="en-US" sz="1800" dirty="0"/>
          </a:p>
        </p:txBody>
      </p:sp>
      <p:pic>
        <p:nvPicPr>
          <p:cNvPr id="96" name="Image 9" descr="preencoded.png">    </p:cNvPr>
          <p:cNvPicPr>
            <a:picLocks noChangeAspect="1"/>
          </p:cNvPicPr>
          <p:nvPr/>
        </p:nvPicPr>
        <p:blipFill>
          <a:blip r:embed="rId10"/>
          <a:srcRect l="-1624" r="-1624" t="0" b="0"/>
          <a:stretch/>
        </p:blipFill>
        <p:spPr>
          <a:xfrm>
            <a:off x="9691726" y="14602054"/>
            <a:ext cx="276149" cy="237744"/>
          </a:xfrm>
          <a:prstGeom prst="rect">
            <a:avLst/>
          </a:prstGeom>
        </p:spPr>
      </p:pic>
      <p:pic>
        <p:nvPicPr>
          <p:cNvPr id="97" name="Image 10" descr="preencoded.png">    </p:cNvPr>
          <p:cNvPicPr>
            <a:picLocks noChangeAspect="1"/>
          </p:cNvPicPr>
          <p:nvPr/>
        </p:nvPicPr>
        <p:blipFill>
          <a:blip r:embed="rId11"/>
          <a:srcRect l="-1648" r="-1648" t="0" b="0"/>
          <a:stretch/>
        </p:blipFill>
        <p:spPr>
          <a:xfrm>
            <a:off x="9691726" y="15355519"/>
            <a:ext cx="171907" cy="190195"/>
          </a:xfrm>
          <a:prstGeom prst="rect">
            <a:avLst/>
          </a:prstGeom>
        </p:spPr>
      </p:pic>
      <p:sp>
        <p:nvSpPr>
          <p:cNvPr id="98" name="Text 85"/>
          <p:cNvSpPr txBox="1"/>
          <p:nvPr/>
        </p:nvSpPr>
        <p:spPr>
          <a:xfrm>
            <a:off x="9920326" y="15365578"/>
            <a:ext cx="2105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連接恢復後立即同步緩存數據</a:t>
            </a:r>
            <a:endParaRPr lang="en-US" sz="1200" dirty="0"/>
          </a:p>
        </p:txBody>
      </p:sp>
      <p:pic>
        <p:nvPicPr>
          <p:cNvPr id="99" name="Image 11" descr="preencoded.png">    </p:cNvPr>
          <p:cNvPicPr>
            <a:picLocks noChangeAspect="1"/>
          </p:cNvPicPr>
          <p:nvPr/>
        </p:nvPicPr>
        <p:blipFill>
          <a:blip r:embed="rId12"/>
          <a:srcRect l="-1648" r="-1648" t="0" b="0"/>
          <a:stretch/>
        </p:blipFill>
        <p:spPr>
          <a:xfrm>
            <a:off x="9691726" y="15631668"/>
            <a:ext cx="171907" cy="190195"/>
          </a:xfrm>
          <a:prstGeom prst="rect">
            <a:avLst/>
          </a:prstGeom>
        </p:spPr>
      </p:pic>
      <p:sp>
        <p:nvSpPr>
          <p:cNvPr id="100" name="Text 86"/>
          <p:cNvSpPr txBox="1"/>
          <p:nvPr/>
        </p:nvSpPr>
        <p:spPr>
          <a:xfrm>
            <a:off x="9920326" y="15641726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無縫切換，用戶體驗不中斷</a:t>
            </a:r>
            <a:endParaRPr lang="en-US" sz="1200" dirty="0"/>
          </a:p>
        </p:txBody>
      </p:sp>
      <p:sp>
        <p:nvSpPr>
          <p:cNvPr id="101" name="Shape 87"/>
          <p:cNvSpPr/>
          <p:nvPr/>
        </p:nvSpPr>
        <p:spPr>
          <a:xfrm>
            <a:off x="428854" y="16784726"/>
            <a:ext cx="17431207" cy="2286000"/>
          </a:xfrm>
          <a:prstGeom prst="rect">
            <a:avLst/>
          </a:prstGeom>
          <a:solidFill>
            <a:srgbClr val="1F77D3">
              <a:alpha val="5000"/>
            </a:srgbClr>
          </a:solidFill>
          <a:ln/>
        </p:spPr>
      </p:sp>
      <p:sp>
        <p:nvSpPr>
          <p:cNvPr id="102" name="Shape 88"/>
          <p:cNvSpPr/>
          <p:nvPr/>
        </p:nvSpPr>
        <p:spPr>
          <a:xfrm>
            <a:off x="428854" y="16784726"/>
            <a:ext cx="38405" cy="2286000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103" name="Text 89"/>
          <p:cNvSpPr txBox="1"/>
          <p:nvPr/>
        </p:nvSpPr>
        <p:spPr>
          <a:xfrm>
            <a:off x="599846" y="16927373"/>
            <a:ext cx="39438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BLE 5.0 GATT協議的核心優勢</a:t>
            </a:r>
            <a:endParaRPr lang="en-US" sz="2100" dirty="0"/>
          </a:p>
        </p:txBody>
      </p:sp>
      <p:sp>
        <p:nvSpPr>
          <p:cNvPr id="104" name="Shape 90"/>
          <p:cNvSpPr/>
          <p:nvPr/>
        </p:nvSpPr>
        <p:spPr>
          <a:xfrm>
            <a:off x="666598" y="17441266"/>
            <a:ext cx="5581498" cy="1495044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pic>
        <p:nvPicPr>
          <p:cNvPr id="10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1018" b="-1018"/>
          <a:stretch/>
        </p:blipFill>
        <p:spPr>
          <a:xfrm>
            <a:off x="3311042" y="17635118"/>
            <a:ext cx="286207" cy="333756"/>
          </a:xfrm>
          <a:prstGeom prst="rect">
            <a:avLst/>
          </a:prstGeom>
        </p:spPr>
      </p:pic>
      <p:sp>
        <p:nvSpPr>
          <p:cNvPr id="106" name="Shape 91"/>
          <p:cNvSpPr/>
          <p:nvPr/>
        </p:nvSpPr>
        <p:spPr>
          <a:xfrm>
            <a:off x="6375197" y="17441266"/>
            <a:ext cx="5581498" cy="1495044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07" name="Shape 92"/>
          <p:cNvSpPr/>
          <p:nvPr/>
        </p:nvSpPr>
        <p:spPr>
          <a:xfrm>
            <a:off x="12083796" y="17441266"/>
            <a:ext cx="5581498" cy="1495044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08" name="Text 93"/>
          <p:cNvSpPr txBox="1"/>
          <p:nvPr/>
        </p:nvSpPr>
        <p:spPr>
          <a:xfrm>
            <a:off x="3092501" y="18098719"/>
            <a:ext cx="905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低延遲</a:t>
            </a:r>
            <a:endParaRPr lang="en-US" sz="1800" dirty="0"/>
          </a:p>
        </p:txBody>
      </p:sp>
      <p:sp>
        <p:nvSpPr>
          <p:cNvPr id="109" name="Text 94"/>
          <p:cNvSpPr txBox="1"/>
          <p:nvPr/>
        </p:nvSpPr>
        <p:spPr>
          <a:xfrm>
            <a:off x="8801100" y="18098719"/>
            <a:ext cx="905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低功耗</a:t>
            </a:r>
            <a:endParaRPr lang="en-US" sz="1800" dirty="0"/>
          </a:p>
        </p:txBody>
      </p:sp>
      <p:sp>
        <p:nvSpPr>
          <p:cNvPr id="110" name="Text 95"/>
          <p:cNvSpPr txBox="1"/>
          <p:nvPr/>
        </p:nvSpPr>
        <p:spPr>
          <a:xfrm>
            <a:off x="1161288" y="18498312"/>
            <a:ext cx="47631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端到端通信延遲&lt;15ms，即時反饋無感知延遲</a:t>
            </a:r>
            <a:endParaRPr lang="en-US" sz="1800" dirty="0"/>
          </a:p>
        </p:txBody>
      </p:sp>
      <p:pic>
        <p:nvPicPr>
          <p:cNvPr id="111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570" b="-570"/>
          <a:stretch/>
        </p:blipFill>
        <p:spPr>
          <a:xfrm>
            <a:off x="8977579" y="17635118"/>
            <a:ext cx="371246" cy="333756"/>
          </a:xfrm>
          <a:prstGeom prst="rect">
            <a:avLst/>
          </a:prstGeom>
        </p:spPr>
      </p:pic>
      <p:sp>
        <p:nvSpPr>
          <p:cNvPr id="112" name="Text 96"/>
          <p:cNvSpPr txBox="1"/>
          <p:nvPr/>
        </p:nvSpPr>
        <p:spPr>
          <a:xfrm>
            <a:off x="14388998" y="18098719"/>
            <a:ext cx="11530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穩定連接</a:t>
            </a:r>
            <a:endParaRPr lang="en-US" sz="1800" dirty="0"/>
          </a:p>
        </p:txBody>
      </p:sp>
      <p:sp>
        <p:nvSpPr>
          <p:cNvPr id="113" name="Text 97"/>
          <p:cNvSpPr txBox="1"/>
          <p:nvPr/>
        </p:nvSpPr>
        <p:spPr>
          <a:xfrm>
            <a:off x="6864401" y="18498312"/>
            <a:ext cx="47722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優化連接參數，單次充電支持15小時持續訓練</a:t>
            </a:r>
            <a:endParaRPr lang="en-US" sz="1800" dirty="0"/>
          </a:p>
        </p:txBody>
      </p:sp>
      <p:pic>
        <p:nvPicPr>
          <p:cNvPr id="11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4704466" y="17635118"/>
            <a:ext cx="333756" cy="333756"/>
          </a:xfrm>
          <a:prstGeom prst="rect">
            <a:avLst/>
          </a:prstGeom>
        </p:spPr>
      </p:pic>
      <p:sp>
        <p:nvSpPr>
          <p:cNvPr id="115" name="Text 98"/>
          <p:cNvSpPr txBox="1"/>
          <p:nvPr/>
        </p:nvSpPr>
        <p:spPr>
          <a:xfrm>
            <a:off x="12525451" y="18498312"/>
            <a:ext cx="48673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10米範圍內無障礙物穩定傳輸，丟包率&lt;0.01%</a:t>
            </a:r>
            <a:endParaRPr lang="en-US" sz="1800" dirty="0"/>
          </a:p>
        </p:txBody>
      </p:sp>
      <p:pic>
        <p:nvPicPr>
          <p:cNvPr id="116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5569" b="-15569"/>
          <a:stretch/>
        </p:blipFill>
        <p:spPr>
          <a:xfrm>
            <a:off x="428854" y="9569196"/>
            <a:ext cx="152705" cy="200254"/>
          </a:xfrm>
          <a:prstGeom prst="rect">
            <a:avLst/>
          </a:prstGeom>
        </p:spPr>
      </p:pic>
      <p:sp>
        <p:nvSpPr>
          <p:cNvPr id="117" name="Text 99"/>
          <p:cNvSpPr txBox="1"/>
          <p:nvPr/>
        </p:nvSpPr>
        <p:spPr>
          <a:xfrm>
            <a:off x="657454" y="9506102"/>
            <a:ext cx="38962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藍牙5.0技術為即時數據傳輸提供穩定基礎</a:t>
            </a:r>
            <a:endParaRPr lang="en-US" sz="1500" dirty="0"/>
          </a:p>
        </p:txBody>
      </p:sp>
      <p:sp>
        <p:nvSpPr>
          <p:cNvPr id="118" name="Text 100"/>
          <p:cNvSpPr txBox="1"/>
          <p:nvPr/>
        </p:nvSpPr>
        <p:spPr>
          <a:xfrm>
            <a:off x="13557809" y="9506102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16/43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81305" y="390449"/>
            <a:ext cx="511515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ML模型設計與特徵工程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81305" y="1505102"/>
            <a:ext cx="8449056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智能球拍的ML模型開發經歷了四個關鍵階段。最初的挑戰是：如何從簡單的IMU傳感器數據中，準確識別複雜的乒乓球技術動作？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81305" y="2474366"/>
            <a:ext cx="8401507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我們通過特徵工程的方法，將原始加速度和角速度數據轉化為具有判別力的特徵向量，再透過輕量化模型實現嵌入式端的高效推論。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305" y="3444545"/>
            <a:ext cx="8392363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這個過程的核心挑戰是平衡準確率與計算資源——如何在ESP32這樣的低功耗設備上，提供足夠準確的動作識別能力？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1305" y="4404665"/>
            <a:ext cx="8477402" cy="1371600"/>
          </a:xfrm>
          <a:prstGeom prst="rect">
            <a:avLst/>
          </a:prstGeom>
          <a:solidFill>
            <a:srgbClr val="1F77D3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81305" y="4404665"/>
            <a:ext cx="47549" cy="1371600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9846" y="4576572"/>
            <a:ext cx="8058607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突破點：我們發現通過時域特徵（峰值/均值/標準差）與頻域特徵（FFT頻譜）的組合，可以顯著提高分類準確率，同時保持模型大小僅為50KB，實現低延遲推論。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853574" y="381305"/>
            <a:ext cx="7629754" cy="7705649"/>
          </a:xfrm>
          <a:prstGeom prst="roundRect">
            <a:avLst>
              <a:gd name="adj" fmla="val 2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635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2132259" y="676656"/>
            <a:ext cx="32863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特徵工程與模型開發流程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139782" y="1590142"/>
            <a:ext cx="666598" cy="666598"/>
          </a:xfrm>
          <a:prstGeom prst="ellipse">
            <a:avLst/>
          </a:prstGeom>
          <a:solidFill>
            <a:srgbClr val="1F77D3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-90" r="-90" t="0" b="0"/>
          <a:stretch/>
        </p:blipFill>
        <p:spPr>
          <a:xfrm>
            <a:off x="10282428" y="1771193"/>
            <a:ext cx="381305" cy="30449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0139782" y="3333902"/>
            <a:ext cx="666598" cy="666598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39782" y="5076749"/>
            <a:ext cx="666598" cy="666598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16" name="Shape 13"/>
          <p:cNvSpPr/>
          <p:nvPr/>
        </p:nvSpPr>
        <p:spPr>
          <a:xfrm>
            <a:off x="10139782" y="6590995"/>
            <a:ext cx="666598" cy="666598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044123" y="1285646"/>
            <a:ext cx="22101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IMU原始數據收集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1044123" y="2799893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特徵提取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1044123" y="4772254"/>
            <a:ext cx="19723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輕量決策樹模型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1044123" y="6286500"/>
            <a:ext cx="171541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離線推論實現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11044123" y="1723644"/>
            <a:ext cx="33247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從MPU-6050採集200Hz的原始數據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1044123" y="3238805"/>
            <a:ext cx="17812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計算關鍵特徵向量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1044123" y="5210251"/>
            <a:ext cx="3200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訓練輕量化模型以適配嵌入式環境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1044123" y="6724498"/>
            <a:ext cx="17629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實現本地化AI推論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1044123" y="2104949"/>
            <a:ext cx="1609344" cy="362102"/>
          </a:xfrm>
          <a:prstGeom prst="roundRect">
            <a:avLst>
              <a:gd name="adj" fmla="val 132908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2748565" y="2104949"/>
            <a:ext cx="1609344" cy="362102"/>
          </a:xfrm>
          <a:prstGeom prst="roundRect">
            <a:avLst>
              <a:gd name="adj" fmla="val 132908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4452092" y="2104949"/>
            <a:ext cx="819302" cy="362102"/>
          </a:xfrm>
          <a:prstGeom prst="roundRect">
            <a:avLst>
              <a:gd name="adj" fmla="val 132908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11044123" y="4076395"/>
            <a:ext cx="819302" cy="362102"/>
          </a:xfrm>
          <a:prstGeom prst="roundRect">
            <a:avLst>
              <a:gd name="adj" fmla="val 132908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1958523" y="4076395"/>
            <a:ext cx="1000354" cy="362102"/>
          </a:xfrm>
          <a:prstGeom prst="roundRect">
            <a:avLst>
              <a:gd name="adj" fmla="val 132908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11044123" y="5590642"/>
            <a:ext cx="819302" cy="362102"/>
          </a:xfrm>
          <a:prstGeom prst="roundRect">
            <a:avLst>
              <a:gd name="adj" fmla="val 132908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11958523" y="5590642"/>
            <a:ext cx="1609344" cy="362102"/>
          </a:xfrm>
          <a:prstGeom prst="roundRect">
            <a:avLst>
              <a:gd name="adj" fmla="val 132908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13656564" y="5590642"/>
            <a:ext cx="1181405" cy="362102"/>
          </a:xfrm>
          <a:prstGeom prst="roundRect">
            <a:avLst>
              <a:gd name="adj" fmla="val 132908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12301423" y="7105802"/>
            <a:ext cx="1352398" cy="362102"/>
          </a:xfrm>
          <a:prstGeom prst="roundRect">
            <a:avLst>
              <a:gd name="adj" fmla="val 132908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13748004" y="7105802"/>
            <a:ext cx="1190549" cy="362102"/>
          </a:xfrm>
          <a:prstGeom prst="roundRect">
            <a:avLst>
              <a:gd name="adj" fmla="val 132908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1186770" y="2152498"/>
            <a:ext cx="14575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3軸加速度 (x,y,z)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12891211" y="2152498"/>
            <a:ext cx="14575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3軸角速度 (x,y,z)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4595653" y="2152498"/>
            <a:ext cx="6675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時間戳</a:t>
            </a:r>
            <a:endParaRPr lang="en-US" sz="140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-50" r="-50" t="0" b="0"/>
          <a:stretch/>
        </p:blipFill>
        <p:spPr>
          <a:xfrm>
            <a:off x="10358323" y="3514954"/>
            <a:ext cx="228600" cy="304495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11186770" y="4123944"/>
            <a:ext cx="6675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過零率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12101170" y="4123944"/>
            <a:ext cx="8485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信號能量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11044123" y="3619195"/>
            <a:ext cx="1571854" cy="362102"/>
          </a:xfrm>
          <a:prstGeom prst="roundRect">
            <a:avLst>
              <a:gd name="adj" fmla="val 132908"/>
            </a:avLst>
          </a:prstGeom>
          <a:solidFill>
            <a:srgbClr val="E53935">
              <a:alpha val="10000"/>
            </a:srgbClr>
          </a:solidFill>
          <a:ln/>
        </p:spPr>
      </p:sp>
      <p:sp>
        <p:nvSpPr>
          <p:cNvPr id="42" name="Shape 38"/>
          <p:cNvSpPr/>
          <p:nvPr/>
        </p:nvSpPr>
        <p:spPr>
          <a:xfrm>
            <a:off x="12709246" y="3619195"/>
            <a:ext cx="1285646" cy="362102"/>
          </a:xfrm>
          <a:prstGeom prst="roundRect">
            <a:avLst>
              <a:gd name="adj" fmla="val 132908"/>
            </a:avLst>
          </a:prstGeom>
          <a:solidFill>
            <a:srgbClr val="E53935">
              <a:alpha val="10000"/>
            </a:srgbClr>
          </a:solidFill>
          <a:ln/>
        </p:spPr>
      </p:sp>
      <p:sp>
        <p:nvSpPr>
          <p:cNvPr id="43" name="Shape 39"/>
          <p:cNvSpPr/>
          <p:nvPr/>
        </p:nvSpPr>
        <p:spPr>
          <a:xfrm>
            <a:off x="14089990" y="3619195"/>
            <a:ext cx="1248156" cy="362102"/>
          </a:xfrm>
          <a:prstGeom prst="roundRect">
            <a:avLst>
              <a:gd name="adj" fmla="val 132908"/>
            </a:avLst>
          </a:prstGeom>
          <a:solidFill>
            <a:srgbClr val="E53935">
              <a:alpha val="10000"/>
            </a:srgbClr>
          </a:solidFill>
          <a:ln/>
        </p:spPr>
      </p:sp>
      <p:sp>
        <p:nvSpPr>
          <p:cNvPr id="44" name="Shape 40"/>
          <p:cNvSpPr/>
          <p:nvPr/>
        </p:nvSpPr>
        <p:spPr>
          <a:xfrm>
            <a:off x="15429586" y="3619195"/>
            <a:ext cx="1314907" cy="362102"/>
          </a:xfrm>
          <a:prstGeom prst="roundRect">
            <a:avLst>
              <a:gd name="adj" fmla="val 132908"/>
            </a:avLst>
          </a:prstGeom>
          <a:solidFill>
            <a:srgbClr val="E53935">
              <a:alpha val="10000"/>
            </a:srgbClr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11186770" y="3666744"/>
            <a:ext cx="14200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峰值 (max/min)</a:t>
            </a:r>
            <a:endParaRPr lang="en-US" sz="1400" dirty="0"/>
          </a:p>
        </p:txBody>
      </p:sp>
      <p:sp>
        <p:nvSpPr>
          <p:cNvPr id="46" name="Text 42"/>
          <p:cNvSpPr txBox="1"/>
          <p:nvPr/>
        </p:nvSpPr>
        <p:spPr>
          <a:xfrm>
            <a:off x="12851892" y="3666744"/>
            <a:ext cx="11338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均值 (mean)</a:t>
            </a:r>
            <a:endParaRPr lang="en-US" sz="1400" dirty="0"/>
          </a:p>
        </p:txBody>
      </p:sp>
      <p:sp>
        <p:nvSpPr>
          <p:cNvPr id="47" name="Text 43"/>
          <p:cNvSpPr txBox="1"/>
          <p:nvPr/>
        </p:nvSpPr>
        <p:spPr>
          <a:xfrm>
            <a:off x="14232636" y="3666744"/>
            <a:ext cx="10954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標準差 (std)</a:t>
            </a:r>
            <a:endParaRPr lang="en-US" sz="1400" dirty="0"/>
          </a:p>
        </p:txBody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rcRect l="-107" r="-107" t="0" b="0"/>
          <a:stretch/>
        </p:blipFill>
        <p:spPr>
          <a:xfrm>
            <a:off x="10339121" y="5257800"/>
            <a:ext cx="267005" cy="304495"/>
          </a:xfrm>
          <a:prstGeom prst="rect">
            <a:avLst/>
          </a:prstGeom>
        </p:spPr>
      </p:pic>
      <p:sp>
        <p:nvSpPr>
          <p:cNvPr id="49" name="Shape 44"/>
          <p:cNvSpPr/>
          <p:nvPr/>
        </p:nvSpPr>
        <p:spPr>
          <a:xfrm>
            <a:off x="11044123" y="7105802"/>
            <a:ext cx="1162202" cy="362102"/>
          </a:xfrm>
          <a:prstGeom prst="roundRect">
            <a:avLst>
              <a:gd name="adj" fmla="val 132908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11186770" y="5639105"/>
            <a:ext cx="6675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決策樹</a:t>
            </a:r>
            <a:endParaRPr lang="en-US" sz="1400" dirty="0"/>
          </a:p>
        </p:txBody>
      </p:sp>
      <p:sp>
        <p:nvSpPr>
          <p:cNvPr id="51" name="Text 46"/>
          <p:cNvSpPr txBox="1"/>
          <p:nvPr/>
        </p:nvSpPr>
        <p:spPr>
          <a:xfrm>
            <a:off x="12101170" y="5639105"/>
            <a:ext cx="14575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模型大小僅50KB</a:t>
            </a:r>
            <a:endParaRPr lang="en-US" sz="1400" dirty="0"/>
          </a:p>
        </p:txBody>
      </p:sp>
      <p:sp>
        <p:nvSpPr>
          <p:cNvPr id="52" name="Text 47"/>
          <p:cNvSpPr txBox="1"/>
          <p:nvPr/>
        </p:nvSpPr>
        <p:spPr>
          <a:xfrm>
            <a:off x="13799210" y="5639105"/>
            <a:ext cx="102961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85%準確率</a:t>
            </a:r>
            <a:endParaRPr lang="en-US" sz="1400" dirty="0"/>
          </a:p>
        </p:txBody>
      </p:sp>
      <p:pic>
        <p:nvPicPr>
          <p:cNvPr id="53" name="Image 3" descr="preencoded.png">    </p:cNvPr>
          <p:cNvPicPr>
            <a:picLocks noChangeAspect="1"/>
          </p:cNvPicPr>
          <p:nvPr/>
        </p:nvPicPr>
        <p:blipFill>
          <a:blip r:embed="rId4"/>
          <a:srcRect l="-50" r="-50" t="0" b="0"/>
          <a:stretch/>
        </p:blipFill>
        <p:spPr>
          <a:xfrm>
            <a:off x="10358323" y="6772046"/>
            <a:ext cx="228600" cy="304495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11186770" y="7153351"/>
            <a:ext cx="10104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ESP32運算</a:t>
            </a:r>
            <a:endParaRPr lang="en-US" sz="1400" dirty="0"/>
          </a:p>
        </p:txBody>
      </p:sp>
      <p:sp>
        <p:nvSpPr>
          <p:cNvPr id="55" name="Text 49"/>
          <p:cNvSpPr txBox="1"/>
          <p:nvPr/>
        </p:nvSpPr>
        <p:spPr>
          <a:xfrm>
            <a:off x="12444070" y="7153351"/>
            <a:ext cx="12006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無需雲端連接</a:t>
            </a:r>
            <a:endParaRPr lang="en-US" sz="1400" dirty="0"/>
          </a:p>
        </p:txBody>
      </p:sp>
      <p:sp>
        <p:nvSpPr>
          <p:cNvPr id="56" name="Text 50"/>
          <p:cNvSpPr txBox="1"/>
          <p:nvPr/>
        </p:nvSpPr>
        <p:spPr>
          <a:xfrm>
            <a:off x="13891565" y="7153351"/>
            <a:ext cx="10387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&lt;50ms延遲</a:t>
            </a:r>
            <a:endParaRPr lang="en-US" sz="1400" dirty="0"/>
          </a:p>
        </p:txBody>
      </p:sp>
      <p:sp>
        <p:nvSpPr>
          <p:cNvPr id="57" name="Text 51"/>
          <p:cNvSpPr txBox="1"/>
          <p:nvPr/>
        </p:nvSpPr>
        <p:spPr>
          <a:xfrm>
            <a:off x="15573146" y="3666744"/>
            <a:ext cx="11622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FFT頻譜分量</a:t>
            </a:r>
            <a:endParaRPr lang="en-US" sz="1400" dirty="0"/>
          </a:p>
        </p:txBody>
      </p:sp>
      <p:sp>
        <p:nvSpPr>
          <p:cNvPr id="58" name="Text 52"/>
          <p:cNvSpPr txBox="1"/>
          <p:nvPr/>
        </p:nvSpPr>
        <p:spPr>
          <a:xfrm>
            <a:off x="12037162" y="8620049"/>
            <a:ext cx="886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85%</a:t>
            </a:r>
            <a:endParaRPr lang="en-US" sz="2400" dirty="0"/>
          </a:p>
        </p:txBody>
      </p:sp>
      <p:sp>
        <p:nvSpPr>
          <p:cNvPr id="59" name="Text 53"/>
          <p:cNvSpPr txBox="1"/>
          <p:nvPr/>
        </p:nvSpPr>
        <p:spPr>
          <a:xfrm>
            <a:off x="12889382" y="8620049"/>
            <a:ext cx="10104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50KB</a:t>
            </a:r>
            <a:endParaRPr lang="en-US" sz="2400" dirty="0"/>
          </a:p>
        </p:txBody>
      </p:sp>
      <p:sp>
        <p:nvSpPr>
          <p:cNvPr id="60" name="Text 54"/>
          <p:cNvSpPr txBox="1"/>
          <p:nvPr/>
        </p:nvSpPr>
        <p:spPr>
          <a:xfrm>
            <a:off x="13683996" y="8620049"/>
            <a:ext cx="12198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&lt;50ms</a:t>
            </a:r>
            <a:endParaRPr lang="en-US" sz="2400" dirty="0"/>
          </a:p>
        </p:txBody>
      </p:sp>
      <p:sp>
        <p:nvSpPr>
          <p:cNvPr id="61" name="Text 55"/>
          <p:cNvSpPr txBox="1"/>
          <p:nvPr/>
        </p:nvSpPr>
        <p:spPr>
          <a:xfrm>
            <a:off x="14832482" y="8620049"/>
            <a:ext cx="7150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6種</a:t>
            </a:r>
            <a:endParaRPr lang="en-US" sz="2400" dirty="0"/>
          </a:p>
        </p:txBody>
      </p:sp>
      <p:sp>
        <p:nvSpPr>
          <p:cNvPr id="62" name="Text 56"/>
          <p:cNvSpPr txBox="1"/>
          <p:nvPr/>
        </p:nvSpPr>
        <p:spPr>
          <a:xfrm>
            <a:off x="11855196" y="9115654"/>
            <a:ext cx="11722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模型準確率</a:t>
            </a:r>
            <a:endParaRPr lang="en-US" sz="1500" dirty="0"/>
          </a:p>
        </p:txBody>
      </p:sp>
      <p:sp>
        <p:nvSpPr>
          <p:cNvPr id="63" name="Text 57"/>
          <p:cNvSpPr txBox="1"/>
          <p:nvPr/>
        </p:nvSpPr>
        <p:spPr>
          <a:xfrm>
            <a:off x="12871094" y="9115654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模型大小</a:t>
            </a:r>
            <a:endParaRPr lang="en-US" sz="1500" dirty="0"/>
          </a:p>
        </p:txBody>
      </p:sp>
      <p:sp>
        <p:nvSpPr>
          <p:cNvPr id="64" name="Text 58"/>
          <p:cNvSpPr txBox="1"/>
          <p:nvPr/>
        </p:nvSpPr>
        <p:spPr>
          <a:xfrm>
            <a:off x="13769950" y="9115654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推論延遲</a:t>
            </a:r>
            <a:endParaRPr lang="en-US" sz="1500" dirty="0"/>
          </a:p>
        </p:txBody>
      </p:sp>
      <p:sp>
        <p:nvSpPr>
          <p:cNvPr id="65" name="Text 59"/>
          <p:cNvSpPr txBox="1"/>
          <p:nvPr/>
        </p:nvSpPr>
        <p:spPr>
          <a:xfrm>
            <a:off x="14668805" y="9115654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動作分類</a:t>
            </a:r>
            <a:endParaRPr lang="en-US" sz="1500" dirty="0"/>
          </a:p>
        </p:txBody>
      </p:sp>
      <p:sp>
        <p:nvSpPr>
          <p:cNvPr id="66" name="Text 60"/>
          <p:cNvSpPr txBox="1"/>
          <p:nvPr/>
        </p:nvSpPr>
        <p:spPr>
          <a:xfrm>
            <a:off x="14143939" y="9829800"/>
            <a:ext cx="39054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17/43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96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485546"/>
            <a:ext cx="46104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性能優化:準確率提升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552651"/>
            <a:ext cx="79443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透過個性化校準、資料清洗與特徵選擇,顯著提升系統效能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1695" y="2667305"/>
            <a:ext cx="8191195" cy="3047695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1695" y="6096305"/>
            <a:ext cx="8191195" cy="3047695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34195" y="6096305"/>
            <a:ext cx="8191195" cy="3047695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38744" y="2905049"/>
            <a:ext cx="476402" cy="476402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63102" y="3029407"/>
            <a:ext cx="228600" cy="228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334195" y="2667305"/>
            <a:ext cx="8191195" cy="3047695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6811244" y="2905049"/>
            <a:ext cx="476402" cy="476402"/>
          </a:xfrm>
          <a:prstGeom prst="ellipse">
            <a:avLst/>
          </a:prstGeom>
          <a:solidFill>
            <a:srgbClr val="E53935">
              <a:alpha val="1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238744" y="6334049"/>
            <a:ext cx="476402" cy="476402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6811244" y="6334049"/>
            <a:ext cx="476402" cy="476402"/>
          </a:xfrm>
          <a:prstGeom prst="ellipse">
            <a:avLst/>
          </a:prstGeom>
          <a:solidFill>
            <a:srgbClr val="E53935">
              <a:alpha val="10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47902" y="2952598"/>
            <a:ext cx="857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準確率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620402" y="2952598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模型大小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047902" y="6381598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推論延遲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620402" y="6381598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動作識別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047902" y="3457346"/>
            <a:ext cx="1772107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85%</a:t>
            </a:r>
            <a:endParaRPr lang="en-US" sz="4800" dirty="0"/>
          </a:p>
        </p:txBody>
      </p:sp>
      <p:sp>
        <p:nvSpPr>
          <p:cNvPr id="19" name="Text 16"/>
          <p:cNvSpPr txBox="1"/>
          <p:nvPr/>
        </p:nvSpPr>
        <p:spPr>
          <a:xfrm>
            <a:off x="9620402" y="3457346"/>
            <a:ext cx="20199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50KB</a:t>
            </a:r>
            <a:endParaRPr lang="en-US" sz="4800" dirty="0"/>
          </a:p>
        </p:txBody>
      </p:sp>
      <p:sp>
        <p:nvSpPr>
          <p:cNvPr id="20" name="Text 17"/>
          <p:cNvSpPr txBox="1"/>
          <p:nvPr/>
        </p:nvSpPr>
        <p:spPr>
          <a:xfrm>
            <a:off x="1047902" y="6886346"/>
            <a:ext cx="24295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&lt;50ms</a:t>
            </a:r>
            <a:endParaRPr lang="en-US" sz="4800" dirty="0"/>
          </a:p>
        </p:txBody>
      </p:sp>
      <p:sp>
        <p:nvSpPr>
          <p:cNvPr id="21" name="Text 18"/>
          <p:cNvSpPr txBox="1"/>
          <p:nvPr/>
        </p:nvSpPr>
        <p:spPr>
          <a:xfrm>
            <a:off x="9620402" y="6886346"/>
            <a:ext cx="1429207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6種</a:t>
            </a:r>
            <a:endParaRPr lang="en-US" sz="4800" dirty="0"/>
          </a:p>
        </p:txBody>
      </p:sp>
      <p:sp>
        <p:nvSpPr>
          <p:cNvPr id="22" name="Text 19"/>
          <p:cNvSpPr txBox="1"/>
          <p:nvPr/>
        </p:nvSpPr>
        <p:spPr>
          <a:xfrm>
            <a:off x="1047902" y="4496105"/>
            <a:ext cx="48106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通過個性化校準算法,動作識別準確率大幅提升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620402" y="4496105"/>
            <a:ext cx="41248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輕量決策樹模型設計,實現高效離線推論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047902" y="7925105"/>
            <a:ext cx="43534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優化算法實現即時反饋,確保訓練體驗流暢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9620402" y="7925105"/>
            <a:ext cx="44769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精確識別6種乒乓球基本動作,支援動態擴展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047902" y="5171846"/>
            <a:ext cx="762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優化前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058607" y="5171846"/>
            <a:ext cx="762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優化後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1047902" y="5553151"/>
            <a:ext cx="7619695" cy="75895"/>
          </a:xfrm>
          <a:prstGeom prst="roundRect">
            <a:avLst>
              <a:gd name="adj" fmla="val 602411"/>
            </a:avLst>
          </a:prstGeom>
          <a:solidFill>
            <a:srgbClr val="EEEEEE"/>
          </a:solidFill>
          <a:ln/>
        </p:spPr>
      </p:sp>
      <p:sp>
        <p:nvSpPr>
          <p:cNvPr id="29" name="Shape 26"/>
          <p:cNvSpPr/>
          <p:nvPr/>
        </p:nvSpPr>
        <p:spPr>
          <a:xfrm>
            <a:off x="1047902" y="5553151"/>
            <a:ext cx="4953305" cy="75895"/>
          </a:xfrm>
          <a:prstGeom prst="roundRect">
            <a:avLst>
              <a:gd name="adj" fmla="val 602411"/>
            </a:avLst>
          </a:prstGeom>
          <a:solidFill>
            <a:srgbClr val="CCCCCC"/>
          </a:solidFill>
          <a:ln/>
        </p:spPr>
      </p:sp>
      <p:sp>
        <p:nvSpPr>
          <p:cNvPr id="30" name="Shape 27"/>
          <p:cNvSpPr/>
          <p:nvPr/>
        </p:nvSpPr>
        <p:spPr>
          <a:xfrm>
            <a:off x="972007" y="5629046"/>
            <a:ext cx="1524305" cy="7589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47902" y="5648249"/>
            <a:ext cx="6382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65%</a:t>
            </a:r>
            <a:endParaRPr lang="en-US" sz="18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224" b="-1224"/>
          <a:stretch/>
        </p:blipFill>
        <p:spPr>
          <a:xfrm>
            <a:off x="1655064" y="5699455"/>
            <a:ext cx="219456" cy="256946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2017166" y="5629046"/>
            <a:ext cx="7342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85%</a:t>
            </a:r>
            <a:endParaRPr lang="en-US" sz="20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935602" y="3029407"/>
            <a:ext cx="228600" cy="2286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9620402" y="5067605"/>
            <a:ext cx="18196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原始模型 250KB</a:t>
            </a:r>
            <a:endParaRPr lang="en-US" sz="18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224" b="-1224"/>
          <a:stretch/>
        </p:blipFill>
        <p:spPr>
          <a:xfrm>
            <a:off x="11407140" y="5117897"/>
            <a:ext cx="219456" cy="256946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1769242" y="5048402"/>
            <a:ext cx="8293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50KB</a:t>
            </a:r>
            <a:endParaRPr lang="en-US" sz="20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rcRect l="-57" r="-57" t="0" b="0"/>
          <a:stretch/>
        </p:blipFill>
        <p:spPr>
          <a:xfrm>
            <a:off x="8376818" y="6458407"/>
            <a:ext cx="200254" cy="22860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1047902" y="8496605"/>
            <a:ext cx="18388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初始版本 120ms</a:t>
            </a:r>
            <a:endParaRPr lang="en-US" sz="18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224" b="-1224"/>
          <a:stretch/>
        </p:blipFill>
        <p:spPr>
          <a:xfrm>
            <a:off x="2855671" y="8546897"/>
            <a:ext cx="219456" cy="256946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9620402" y="8496605"/>
            <a:ext cx="19531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初始支援 3種動作</a:t>
            </a:r>
            <a:endParaRPr lang="en-US" sz="1800" dirty="0"/>
          </a:p>
        </p:txBody>
      </p:sp>
      <p:sp>
        <p:nvSpPr>
          <p:cNvPr id="42" name="Text 34"/>
          <p:cNvSpPr txBox="1"/>
          <p:nvPr/>
        </p:nvSpPr>
        <p:spPr>
          <a:xfrm>
            <a:off x="3217774" y="8477402"/>
            <a:ext cx="10003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&lt;50ms</a:t>
            </a:r>
            <a:endParaRPr lang="en-US" sz="200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rcRect l="-80" r="-80" t="0" b="0"/>
          <a:stretch/>
        </p:blipFill>
        <p:spPr>
          <a:xfrm>
            <a:off x="16907256" y="6458407"/>
            <a:ext cx="286207" cy="228600"/>
          </a:xfrm>
          <a:prstGeom prst="rect">
            <a:avLst/>
          </a:prstGeom>
        </p:spPr>
      </p:pic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224" b="-1224"/>
          <a:stretch/>
        </p:blipFill>
        <p:spPr>
          <a:xfrm>
            <a:off x="11541557" y="8546897"/>
            <a:ext cx="219456" cy="256946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11903659" y="8477402"/>
            <a:ext cx="16102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6種全面覆蓋</a:t>
            </a:r>
            <a:endParaRPr lang="en-US" sz="200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4" b="-44"/>
          <a:stretch/>
        </p:blipFill>
        <p:spPr>
          <a:xfrm>
            <a:off x="761695" y="9687154"/>
            <a:ext cx="256946" cy="22860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1095451" y="9620402"/>
            <a:ext cx="51819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優化前後效能提升 • 個性化校準 • 輕量高效設計</a:t>
            </a:r>
            <a:endParaRPr lang="en-US" sz="1800" dirty="0"/>
          </a:p>
        </p:txBody>
      </p:sp>
      <p:sp>
        <p:nvSpPr>
          <p:cNvPr id="48" name="Text 37"/>
          <p:cNvSpPr txBox="1"/>
          <p:nvPr/>
        </p:nvSpPr>
        <p:spPr>
          <a:xfrm>
            <a:off x="13224053" y="9620402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18/43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34770" y="743407"/>
            <a:ext cx="74112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Android 原生應用(Samsung優化)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733702" y="1686154"/>
            <a:ext cx="6077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為三星設備精心優化的高效能、低延遲使用體驗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429354" y="8962949"/>
            <a:ext cx="95098" cy="95098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6" name="Shape 4"/>
          <p:cNvSpPr/>
          <p:nvPr/>
        </p:nvSpPr>
        <p:spPr>
          <a:xfrm>
            <a:off x="4619549" y="8962949"/>
            <a:ext cx="95098" cy="95098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7" name="Shape 5"/>
          <p:cNvSpPr/>
          <p:nvPr/>
        </p:nvSpPr>
        <p:spPr>
          <a:xfrm>
            <a:off x="4809744" y="8962949"/>
            <a:ext cx="95098" cy="95098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9430207" y="476402"/>
            <a:ext cx="8382305" cy="1495044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39605" y="647395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1F77D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57" r="-57" t="0" b="0"/>
          <a:stretch/>
        </p:blipFill>
        <p:spPr>
          <a:xfrm>
            <a:off x="9777679" y="771754"/>
            <a:ext cx="200254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258654" y="657454"/>
            <a:ext cx="1886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即時反饋系統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0258654" y="1143000"/>
            <a:ext cx="7344461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透過ML動作分類，實時識別球拍動作，提供1-10分即時評分與針對性建議，延遲低於50ms。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430207" y="2154326"/>
            <a:ext cx="8382305" cy="1495044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639605" y="2325319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E53935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63049" y="2449678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258654" y="2335378"/>
            <a:ext cx="1886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訓練歷史追蹤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10258654" y="2820924"/>
            <a:ext cx="72585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自動記錄每次訓練的動作分佈、質量評分與持續時間，生成詳細訓練日誌，清晰呈現進步曲線。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9430207" y="3832250"/>
            <a:ext cx="8382305" cy="1495044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639605" y="4004158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43A04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763049" y="4127602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258654" y="4013302"/>
            <a:ext cx="1886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3A04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數據分析引擎</a:t>
            </a:r>
            <a:endParaRPr lang="en-US" sz="2100" dirty="0"/>
          </a:p>
        </p:txBody>
      </p:sp>
      <p:sp>
        <p:nvSpPr>
          <p:cNvPr id="22" name="Text 17"/>
          <p:cNvSpPr txBox="1"/>
          <p:nvPr/>
        </p:nvSpPr>
        <p:spPr>
          <a:xfrm>
            <a:off x="10258654" y="4498848"/>
            <a:ext cx="7344461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運用輕量級ML模型在本地進行動作模式識別，分析技術弱點，提供個性化訓練建議，無需雲端處理。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9430207" y="5510174"/>
            <a:ext cx="8382305" cy="1495044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639605" y="5682082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1F77D3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-133" r="-133" t="0" b="0"/>
          <a:stretch/>
        </p:blipFill>
        <p:spPr>
          <a:xfrm>
            <a:off x="9791395" y="5805526"/>
            <a:ext cx="171907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258654" y="5691226"/>
            <a:ext cx="26005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Samsung生態整合</a:t>
            </a:r>
            <a:endParaRPr lang="en-US" sz="2100" dirty="0"/>
          </a:p>
        </p:txBody>
      </p:sp>
      <p:sp>
        <p:nvSpPr>
          <p:cNvPr id="27" name="Text 21"/>
          <p:cNvSpPr txBox="1"/>
          <p:nvPr/>
        </p:nvSpPr>
        <p:spPr>
          <a:xfrm>
            <a:off x="10258654" y="6176772"/>
            <a:ext cx="74295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深度整合Galaxy Watch，實現心率與運動數據協同分析，「高光一刻」功能支援一鍵分享至三星社群。</a:t>
            </a:r>
            <a:endParaRPr lang="en-US" sz="18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-1324" r="-1324" t="0" b="0"/>
          <a:stretch/>
        </p:blipFill>
        <p:spPr>
          <a:xfrm>
            <a:off x="476402" y="9855403"/>
            <a:ext cx="256946" cy="20025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09244" y="9791395"/>
            <a:ext cx="55915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原生Android開發，專為Samsung設備優化性能與UI/UX體驗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13510260" y="9791395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19/43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3047695" y="2342693"/>
            <a:ext cx="3238805" cy="6476695"/>
          </a:xfrm>
          <a:prstGeom prst="roundRect">
            <a:avLst>
              <a:gd name="adj" fmla="val 3321"/>
            </a:avLst>
          </a:prstGeom>
          <a:solidFill>
            <a:srgbClr val="222222"/>
          </a:solidFill>
          <a:ln/>
          <a:effectLst>
            <a:outerShdw sx="100000" sy="100000" kx="0" ky="0" algn="bl" rotWithShape="0" blurRad="292100" dist="101600" dir="5400000">
              <a:srgbClr val="000000">
                <a:alpha val="2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161995" y="2804465"/>
            <a:ext cx="3010205" cy="5876849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/>
        </p:spPr>
      </p:sp>
      <p:sp>
        <p:nvSpPr>
          <p:cNvPr id="33" name="Shape 26"/>
          <p:cNvSpPr/>
          <p:nvPr/>
        </p:nvSpPr>
        <p:spPr>
          <a:xfrm>
            <a:off x="3161995" y="2804465"/>
            <a:ext cx="3010205" cy="571500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3353105" y="2961742"/>
            <a:ext cx="17867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3161995" y="3375965"/>
            <a:ext cx="3010205" cy="53053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6" name="Shape 29"/>
          <p:cNvSpPr/>
          <p:nvPr/>
        </p:nvSpPr>
        <p:spPr>
          <a:xfrm>
            <a:off x="3305556" y="3518611"/>
            <a:ext cx="2723998" cy="5020056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7" name="Shape 30"/>
          <p:cNvSpPr/>
          <p:nvPr/>
        </p:nvSpPr>
        <p:spPr>
          <a:xfrm>
            <a:off x="3448202" y="3662172"/>
            <a:ext cx="2438705" cy="1705356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3448202" y="5509260"/>
            <a:ext cx="2438705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3448202" y="7367321"/>
            <a:ext cx="2438705" cy="1000354"/>
          </a:xfrm>
          <a:prstGeom prst="roundRect">
            <a:avLst>
              <a:gd name="adj" fmla="val 130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40" name="Text 33"/>
          <p:cNvSpPr txBox="1"/>
          <p:nvPr/>
        </p:nvSpPr>
        <p:spPr>
          <a:xfrm>
            <a:off x="3590849" y="3804818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即時反饋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3590849" y="4995367"/>
            <a:ext cx="2009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正手攻 | 速度良好 | 角度穩定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3590849" y="5652821"/>
            <a:ext cx="2152498" cy="1429207"/>
          </a:xfrm>
          <a:prstGeom prst="roundRect">
            <a:avLst>
              <a:gd name="adj" fmla="val 3412"/>
            </a:avLst>
          </a:prstGeom>
          <a:solidFill>
            <a:srgbClr val="F5F5F5"/>
          </a:solidFill>
          <a:ln/>
        </p:spPr>
      </p:sp>
      <p:sp>
        <p:nvSpPr>
          <p:cNvPr id="43" name="Shape 36"/>
          <p:cNvSpPr/>
          <p:nvPr/>
        </p:nvSpPr>
        <p:spPr>
          <a:xfrm>
            <a:off x="4981651" y="4185209"/>
            <a:ext cx="761695" cy="761695"/>
          </a:xfrm>
          <a:prstGeom prst="ellipse">
            <a:avLst/>
          </a:prstGeom>
          <a:noFill/>
          <a:ln w="63500">
            <a:solidFill>
              <a:srgbClr val="1F77D3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3590849" y="4147718"/>
            <a:ext cx="12957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8.2</a:t>
            </a:r>
            <a:endParaRPr lang="en-US" sz="450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24" b="-24"/>
          <a:stretch/>
        </p:blipFill>
        <p:spPr>
          <a:xfrm>
            <a:off x="5124298" y="4376318"/>
            <a:ext cx="476402" cy="381305"/>
          </a:xfrm>
          <a:prstGeom prst="rect">
            <a:avLst/>
          </a:prstGeom>
        </p:spPr>
      </p:pic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476902" y="6028639"/>
            <a:ext cx="381305" cy="381305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3562502" y="7481621"/>
            <a:ext cx="734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改進建議</a:t>
            </a:r>
            <a:endParaRPr lang="en-US" sz="1200" dirty="0"/>
          </a:p>
        </p:txBody>
      </p:sp>
      <p:sp>
        <p:nvSpPr>
          <p:cNvPr id="48" name="Text 39"/>
          <p:cNvSpPr txBox="1"/>
          <p:nvPr/>
        </p:nvSpPr>
        <p:spPr>
          <a:xfrm>
            <a:off x="3562502" y="7757770"/>
            <a:ext cx="21387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• 手腕更加放鬆，提高揮拍流暢度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3562502" y="8005572"/>
            <a:ext cx="2272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• 接觸點略微提前，改善擊球穩定性</a:t>
            </a:r>
            <a:endParaRPr lang="en-US" sz="1000" dirty="0"/>
          </a:p>
        </p:txBody>
      </p:sp>
      <p:sp>
        <p:nvSpPr>
          <p:cNvPr id="50" name="Text 41"/>
          <p:cNvSpPr txBox="1"/>
          <p:nvPr/>
        </p:nvSpPr>
        <p:spPr>
          <a:xfrm>
            <a:off x="4267505" y="6505042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即時數據圖表</a:t>
            </a:r>
            <a:endParaRPr lang="en-US" sz="1000" dirty="0"/>
          </a:p>
        </p:txBody>
      </p:sp>
      <p:sp>
        <p:nvSpPr>
          <p:cNvPr id="51" name="Shape 42"/>
          <p:cNvSpPr/>
          <p:nvPr/>
        </p:nvSpPr>
        <p:spPr>
          <a:xfrm>
            <a:off x="3161995" y="8105242"/>
            <a:ext cx="3010205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3"/>
          <p:cNvSpPr/>
          <p:nvPr/>
        </p:nvSpPr>
        <p:spPr>
          <a:xfrm>
            <a:off x="3161995" y="8105242"/>
            <a:ext cx="3010205" cy="9144"/>
          </a:xfrm>
          <a:prstGeom prst="rect">
            <a:avLst/>
          </a:prstGeom>
          <a:solidFill>
            <a:srgbClr val="E0E0E0"/>
          </a:solidFill>
          <a:ln/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rcRect l="-1282" r="-1282" t="0" b="0"/>
          <a:stretch/>
        </p:blipFill>
        <p:spPr>
          <a:xfrm>
            <a:off x="3439973" y="8214970"/>
            <a:ext cx="219456" cy="19019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3453689" y="8434426"/>
            <a:ext cx="267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主頁</a:t>
            </a:r>
            <a:endParaRPr lang="en-US" sz="800" dirty="0"/>
          </a:p>
        </p:txBody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213555" y="8214970"/>
            <a:ext cx="190195" cy="190195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4213555" y="8434426"/>
            <a:ext cx="267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歷史</a:t>
            </a:r>
            <a:endParaRPr lang="en-US" sz="800" dirty="0"/>
          </a:p>
        </p:txBody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958791" y="8214970"/>
            <a:ext cx="190195" cy="190195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4958791" y="8434426"/>
            <a:ext cx="267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分析</a:t>
            </a:r>
            <a:endParaRPr lang="en-US" sz="800" dirty="0"/>
          </a:p>
        </p:txBody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704027" y="8214970"/>
            <a:ext cx="190195" cy="190195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5704027" y="8434426"/>
            <a:ext cx="267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設置</a:t>
            </a:r>
            <a:endParaRPr lang="en-US" sz="800" dirty="0"/>
          </a:p>
        </p:txBody>
      </p:sp>
      <p:sp>
        <p:nvSpPr>
          <p:cNvPr id="61" name="Shape 48"/>
          <p:cNvSpPr/>
          <p:nvPr/>
        </p:nvSpPr>
        <p:spPr>
          <a:xfrm>
            <a:off x="3952951" y="2486254"/>
            <a:ext cx="1429207" cy="276149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62" name="Shape 49"/>
          <p:cNvSpPr/>
          <p:nvPr/>
        </p:nvSpPr>
        <p:spPr>
          <a:xfrm>
            <a:off x="16231514" y="190195"/>
            <a:ext cx="1867205" cy="457200"/>
          </a:xfrm>
          <a:prstGeom prst="roundRect">
            <a:avLst>
              <a:gd name="adj" fmla="val 20833"/>
            </a:avLst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63" name="Image 11" descr="preencoded.png">    </p:cNvPr>
          <p:cNvPicPr>
            <a:picLocks noChangeAspect="1"/>
          </p:cNvPicPr>
          <p:nvPr/>
        </p:nvPicPr>
        <p:blipFill>
          <a:blip r:embed="rId12"/>
          <a:srcRect l="-837" r="-837" t="0" b="0"/>
          <a:stretch/>
        </p:blipFill>
        <p:spPr>
          <a:xfrm>
            <a:off x="16374161" y="319126"/>
            <a:ext cx="152705" cy="200254"/>
          </a:xfrm>
          <a:prstGeom prst="rect">
            <a:avLst/>
          </a:prstGeom>
        </p:spPr>
      </p:pic>
      <p:sp>
        <p:nvSpPr>
          <p:cNvPr id="64" name="Text 50"/>
          <p:cNvSpPr txBox="1"/>
          <p:nvPr/>
        </p:nvSpPr>
        <p:spPr>
          <a:xfrm>
            <a:off x="16602761" y="267005"/>
            <a:ext cx="15051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Samsung 優化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580644"/>
            <a:ext cx="30961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即時反饋系統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837944"/>
            <a:ext cx="8258861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的核心是即時反饋系統，為乒乓球訓練提供即時、精準的數據分析。系統能在每次揮拍後50毫秒內提供完整反饋，讓訓練效果立竿見影。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2855671"/>
            <a:ext cx="8401507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以往教練需要長時間觀察才能發現問題，現在每一次揮拍都能獲得即時量化數據，讓運動員立即調整，形成高效率的學習迴路。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1500" y="3863340"/>
            <a:ext cx="8287207" cy="1067105"/>
          </a:xfrm>
          <a:prstGeom prst="rect">
            <a:avLst/>
          </a:prstGeom>
          <a:solidFill>
            <a:srgbClr val="1F77D3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3863340"/>
            <a:ext cx="47549" cy="106710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9244" y="4054450"/>
            <a:ext cx="79443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核心價值：將過去需要專業設備和分析師才能獲得的即時動作分析，變成人人可負擔的日常訓練輔助，讓數據驅動訓練普及化。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844430" y="571500"/>
            <a:ext cx="7457846" cy="2257654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635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129723" y="928116"/>
            <a:ext cx="666598" cy="666598"/>
          </a:xfrm>
          <a:prstGeom prst="ellipse">
            <a:avLst/>
          </a:prstGeom>
          <a:solidFill>
            <a:srgbClr val="1F77D3">
              <a:alpha val="15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19918" y="1119226"/>
            <a:ext cx="286207" cy="28620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844430" y="3114446"/>
            <a:ext cx="7457846" cy="2257654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635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844430" y="5657393"/>
            <a:ext cx="7457846" cy="2600554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635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0129723" y="3471977"/>
            <a:ext cx="666598" cy="666598"/>
          </a:xfrm>
          <a:prstGeom prst="ellipse">
            <a:avLst/>
          </a:prstGeom>
          <a:solidFill>
            <a:srgbClr val="1F77D3">
              <a:alpha val="1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0129723" y="6014923"/>
            <a:ext cx="666598" cy="666598"/>
          </a:xfrm>
          <a:prstGeom prst="ellipse">
            <a:avLst/>
          </a:prstGeom>
          <a:solidFill>
            <a:srgbClr val="1F77D3">
              <a:alpha val="15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34979" y="866851"/>
            <a:ext cx="1334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動作分類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11034979" y="3409798"/>
            <a:ext cx="1334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動作評分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11034979" y="1361542"/>
            <a:ext cx="29151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識別6種不同的乒乓球動作類型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129723" y="1857146"/>
            <a:ext cx="703905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系統可精確辨別正手攻球、反手攻球、正手推擋、反手推擋、發球與接發球六種基本動作，準確率達85%，為後續評分與分析提供基礎。</a:t>
            </a:r>
            <a:endParaRPr lang="en-US" sz="1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-266" r="-266" t="0" b="0"/>
          <a:stretch/>
        </p:blipFill>
        <p:spPr>
          <a:xfrm>
            <a:off x="10301630" y="3662172"/>
            <a:ext cx="323698" cy="286207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034979" y="5952744"/>
            <a:ext cx="1334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訓練日誌</a:t>
            </a:r>
            <a:endParaRPr lang="en-US" sz="2100" dirty="0"/>
          </a:p>
        </p:txBody>
      </p:sp>
      <p:sp>
        <p:nvSpPr>
          <p:cNvPr id="22" name="Text 18"/>
          <p:cNvSpPr txBox="1"/>
          <p:nvPr/>
        </p:nvSpPr>
        <p:spPr>
          <a:xfrm>
            <a:off x="11034979" y="3905402"/>
            <a:ext cx="19915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0-10分量化評估系統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11034979" y="6448349"/>
            <a:ext cx="21909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完整記錄每次揮拍數據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10129723" y="4400093"/>
            <a:ext cx="70299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每次揮拍都會根據速度、角度、穩定性、連貫性四個維度進行綜合評分，提供0-10分的量化反饋，並針對不足之處給出具體改進建議。</a:t>
            </a:r>
            <a:endParaRPr lang="en-US" sz="18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319918" y="6205118"/>
            <a:ext cx="286207" cy="286207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0129723" y="6943039"/>
            <a:ext cx="7029907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系統會自動記錄所有揮拍數據，包括時間、類型、評分、關鍵參數等，並生成進步曲線和訓練報告，幫助使用者追蹤長期進步和發現訓練盲點。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13953744" y="9734702"/>
            <a:ext cx="39054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20/43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0" y="2147926"/>
            <a:ext cx="40105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高光一刻功能介紹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71900" y="3129077"/>
            <a:ext cx="109444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受NVIDIA Instant Replay技術啟發，提供革命性的訓練片段捕捉體驗，讓每個精彩瞬間不再錯過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80744" y="3414370"/>
            <a:ext cx="2857500" cy="2857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7D3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508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5" b="-45"/>
          <a:stretch/>
        </p:blipFill>
        <p:spPr>
          <a:xfrm>
            <a:off x="2681021" y="3823106"/>
            <a:ext cx="256946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00046" y="4351630"/>
            <a:ext cx="1457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靈感來源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781251" y="4838090"/>
            <a:ext cx="2229307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源自NVIDIA Instant Replay遊戲錄製技術，將尖端科技應用於運動訓練領域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952744" y="3414370"/>
            <a:ext cx="2857500" cy="2857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3935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508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10044" y="3823106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72046" y="4351630"/>
            <a:ext cx="1457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循環錄製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353251" y="4838090"/>
            <a:ext cx="2229307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自動持續錄製最近3分鐘訓練畫面，確保每個精彩瞬間都能被捕捉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9477756" y="4367174"/>
            <a:ext cx="2857500" cy="2857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3935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508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-743" r="-743" t="0" b="0"/>
          <a:stretch/>
        </p:blipFill>
        <p:spPr>
          <a:xfrm>
            <a:off x="10753344" y="4775911"/>
            <a:ext cx="304495" cy="3429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296144" y="5304434"/>
            <a:ext cx="1457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一鍵保存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9877349" y="5789981"/>
            <a:ext cx="2229307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擊球精彩時只需輕觸按鈕，系統自動保存、整理並標記精彩片段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14049756" y="4367174"/>
            <a:ext cx="2857500" cy="2857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7D3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508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5307056" y="4913071"/>
            <a:ext cx="342900" cy="342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716354" y="5441594"/>
            <a:ext cx="17629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高效率分享</a:t>
            </a:r>
            <a:endParaRPr lang="en-US" sz="2400" dirty="0"/>
          </a:p>
        </p:txBody>
      </p:sp>
      <p:sp>
        <p:nvSpPr>
          <p:cNvPr id="20" name="Text 14"/>
          <p:cNvSpPr txBox="1"/>
          <p:nvPr/>
        </p:nvSpPr>
        <p:spPr>
          <a:xfrm>
            <a:off x="14445691" y="5927141"/>
            <a:ext cx="2238451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自動化流程節省95%影片編輯時間，3秒內完成精彩片段分享</a:t>
            </a:r>
            <a:endParaRPr lang="en-US" sz="18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-736" r="-736" t="0" b="0"/>
          <a:stretch/>
        </p:blipFill>
        <p:spPr>
          <a:xfrm>
            <a:off x="571500" y="9855403"/>
            <a:ext cx="228600" cy="20025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75995" y="9791395"/>
            <a:ext cx="54388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高光一刻：讓每次揮拍的完美瞬間都能被記錄、分享與傳承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3415162" y="9791395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21/43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8287207" y="4772254"/>
            <a:ext cx="1714500" cy="1714500"/>
          </a:xfrm>
          <a:prstGeom prst="ellipse">
            <a:avLst/>
          </a:prstGeom>
          <a:solidFill>
            <a:srgbClr val="1F77D3"/>
          </a:solidFill>
          <a:ln/>
          <a:effectLst>
            <a:outerShdw sx="100000" sy="100000" kx="0" ky="0" algn="bl" rotWithShape="0" blurRad="139700" dist="50800" dir="5400000">
              <a:srgbClr val="000000">
                <a:alpha val="20000"/>
              </a:srgbClr>
            </a:outerShdw>
          </a:effectLst>
        </p:spPr>
      </p:sp>
      <p:sp>
        <p:nvSpPr>
          <p:cNvPr id="25" name="Text 18"/>
          <p:cNvSpPr txBox="1"/>
          <p:nvPr/>
        </p:nvSpPr>
        <p:spPr>
          <a:xfrm>
            <a:off x="8534095" y="5410505"/>
            <a:ext cx="1457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高光一刻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28854" y="371246"/>
            <a:ext cx="40105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高光一刻技術實現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28854" y="1343254"/>
            <a:ext cx="63633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自動捕捉最精彩的訓練瞬間，一鍵保存，省時高效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28854" y="1933042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75158" y="1952244"/>
            <a:ext cx="381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123798" y="1943100"/>
            <a:ext cx="1886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循環緩存系統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23798" y="2476195"/>
            <a:ext cx="16735349" cy="1904695"/>
          </a:xfrm>
          <a:prstGeom prst="roundRect">
            <a:avLst>
              <a:gd name="adj" fmla="val 3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57300" y="2671877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28854" y="4589374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11" name="Shape 8"/>
          <p:cNvSpPr/>
          <p:nvPr/>
        </p:nvSpPr>
        <p:spPr>
          <a:xfrm>
            <a:off x="428854" y="6959498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5158" y="4608576"/>
            <a:ext cx="381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575158" y="6978701"/>
            <a:ext cx="381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1123798" y="4598518"/>
            <a:ext cx="1334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觸發機制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1123798" y="6969557"/>
            <a:ext cx="1334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快速保存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123798" y="5132527"/>
            <a:ext cx="8305495" cy="1619402"/>
          </a:xfrm>
          <a:prstGeom prst="roundRect">
            <a:avLst>
              <a:gd name="adj" fmla="val 49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558223" y="5132527"/>
            <a:ext cx="8305495" cy="1619402"/>
          </a:xfrm>
          <a:prstGeom prst="roundRect">
            <a:avLst>
              <a:gd name="adj" fmla="val 49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123798" y="7502652"/>
            <a:ext cx="16735349" cy="1904695"/>
          </a:xfrm>
          <a:prstGeom prst="roundRect">
            <a:avLst>
              <a:gd name="adj" fmla="val 3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1571854" y="2609698"/>
            <a:ext cx="17721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持續緩存3分鐘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543507" y="5265115"/>
            <a:ext cx="11530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物理按鈕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948672" y="5265115"/>
            <a:ext cx="11338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App遙控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257300" y="3038551"/>
            <a:ext cx="69723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高效能緩存機制，持續記錄最近3分鐘的訓練數據與動作分析，無需手動啟動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57300" y="5693969"/>
            <a:ext cx="46296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硬體裝置上的專用按鍵，訓練中隨時輕按即可保存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691726" y="5693969"/>
            <a:ext cx="43918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通過手機App遠程觸發，適合教練或旁觀者操作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257300" y="3389681"/>
            <a:ext cx="271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內存緩衝區優化設計，最小化設備負擔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257300" y="3674974"/>
            <a:ext cx="271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低功耗運行模式，對電池消耗影響微小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257300" y="3961181"/>
            <a:ext cx="2410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本地存儲，不上傳雲端，保護隱私</a:t>
            </a:r>
            <a:endParaRPr lang="en-US" sz="12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rcRect l="-330" r="-330" t="0" b="0"/>
          <a:stretch/>
        </p:blipFill>
        <p:spPr>
          <a:xfrm>
            <a:off x="1257300" y="5327294"/>
            <a:ext cx="209398" cy="237744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1257300" y="6045098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即時響應，訓練不中斷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1257300" y="6331306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適合自主訓練，無需協助</a:t>
            </a:r>
            <a:endParaRPr lang="en-US" sz="12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rcRect l="-769" r="-769" t="0" b="0"/>
          <a:stretch/>
        </p:blipFill>
        <p:spPr>
          <a:xfrm>
            <a:off x="9691726" y="5327294"/>
            <a:ext cx="181051" cy="237744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1543507" y="7636154"/>
            <a:ext cx="12865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2-3秒完成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691726" y="6045098"/>
            <a:ext cx="2410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視角更全面，不受運動員視野限制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9691726" y="6331306"/>
            <a:ext cx="256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教練可遠距離控制，不干擾訓練流程</a:t>
            </a:r>
            <a:endParaRPr lang="en-US" sz="12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rcRect l="-330" r="-330" t="0" b="0"/>
          <a:stretch/>
        </p:blipFill>
        <p:spPr>
          <a:xfrm>
            <a:off x="1257300" y="7697419"/>
            <a:ext cx="209398" cy="237744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428854" y="9615830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575158" y="9635033"/>
            <a:ext cx="381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2100" dirty="0"/>
          </a:p>
        </p:txBody>
      </p:sp>
      <p:sp>
        <p:nvSpPr>
          <p:cNvPr id="38" name="Text 32"/>
          <p:cNvSpPr txBox="1"/>
          <p:nvPr/>
        </p:nvSpPr>
        <p:spPr>
          <a:xfrm>
            <a:off x="1123798" y="9624974"/>
            <a:ext cx="1334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智能剪輯</a:t>
            </a:r>
            <a:endParaRPr lang="en-US" sz="2100" dirty="0"/>
          </a:p>
        </p:txBody>
      </p:sp>
      <p:sp>
        <p:nvSpPr>
          <p:cNvPr id="39" name="Shape 33"/>
          <p:cNvSpPr/>
          <p:nvPr/>
        </p:nvSpPr>
        <p:spPr>
          <a:xfrm>
            <a:off x="1123798" y="10158070"/>
            <a:ext cx="16735349" cy="1904695"/>
          </a:xfrm>
          <a:prstGeom prst="roundRect">
            <a:avLst>
              <a:gd name="adj" fmla="val 3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40" name="Text 34"/>
          <p:cNvSpPr txBox="1"/>
          <p:nvPr/>
        </p:nvSpPr>
        <p:spPr>
          <a:xfrm>
            <a:off x="1571854" y="10291572"/>
            <a:ext cx="21150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自動識別精彩片段</a:t>
            </a:r>
            <a:endParaRPr lang="en-US" sz="1800" dirty="0"/>
          </a:p>
        </p:txBody>
      </p:sp>
      <p:sp>
        <p:nvSpPr>
          <p:cNvPr id="41" name="Text 35"/>
          <p:cNvSpPr txBox="1"/>
          <p:nvPr/>
        </p:nvSpPr>
        <p:spPr>
          <a:xfrm>
            <a:off x="1257300" y="8064094"/>
            <a:ext cx="59344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觸發後，系統迅速將緩存中的數據打包保存，整個過程僅需2-3秒</a:t>
            </a:r>
            <a:endParaRPr lang="en-US" sz="1500" dirty="0"/>
          </a:p>
        </p:txBody>
      </p:sp>
      <p:sp>
        <p:nvSpPr>
          <p:cNvPr id="42" name="Text 36"/>
          <p:cNvSpPr txBox="1"/>
          <p:nvPr/>
        </p:nvSpPr>
        <p:spPr>
          <a:xfrm>
            <a:off x="1257300" y="10720426"/>
            <a:ext cx="66586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基於機器學習模型，系統能從保存的數據中自動識別最有價值的精彩片段</a:t>
            </a:r>
            <a:endParaRPr lang="en-US" sz="1500" dirty="0"/>
          </a:p>
        </p:txBody>
      </p:sp>
      <p:sp>
        <p:nvSpPr>
          <p:cNvPr id="43" name="Text 37"/>
          <p:cNvSpPr txBox="1"/>
          <p:nvPr/>
        </p:nvSpPr>
        <p:spPr>
          <a:xfrm>
            <a:off x="1257300" y="8415223"/>
            <a:ext cx="3629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高效壓縮算法，保證數據完整性的同時降低存儲要求</a:t>
            </a:r>
            <a:endParaRPr lang="en-US" sz="1200" dirty="0"/>
          </a:p>
        </p:txBody>
      </p:sp>
      <p:sp>
        <p:nvSpPr>
          <p:cNvPr id="44" name="Text 38"/>
          <p:cNvSpPr txBox="1"/>
          <p:nvPr/>
        </p:nvSpPr>
        <p:spPr>
          <a:xfrm>
            <a:off x="1257300" y="8701430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觸發前30秒和觸發後30秒自動加入保存範圍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1257300" y="8986723"/>
            <a:ext cx="2867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自動添加時間標記，便於後續查找與管理</a:t>
            </a:r>
            <a:endParaRPr lang="en-US" sz="1200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257300" y="10353751"/>
            <a:ext cx="237744" cy="237744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1257300" y="11071555"/>
            <a:ext cx="256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識別技術動作高峰點和質量最佳瞬間</a:t>
            </a:r>
            <a:endParaRPr lang="en-US" sz="1200" dirty="0"/>
          </a:p>
        </p:txBody>
      </p:sp>
      <p:sp>
        <p:nvSpPr>
          <p:cNvPr id="48" name="Text 41"/>
          <p:cNvSpPr txBox="1"/>
          <p:nvPr/>
        </p:nvSpPr>
        <p:spPr>
          <a:xfrm>
            <a:off x="1257300" y="11356848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用戶可自定義剪輯偏好與重點關注的動作類型</a:t>
            </a:r>
            <a:endParaRPr lang="en-US" sz="1200" dirty="0"/>
          </a:p>
        </p:txBody>
      </p:sp>
      <p:sp>
        <p:nvSpPr>
          <p:cNvPr id="49" name="Text 42"/>
          <p:cNvSpPr txBox="1"/>
          <p:nvPr/>
        </p:nvSpPr>
        <p:spPr>
          <a:xfrm>
            <a:off x="1257300" y="11643055"/>
            <a:ext cx="256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一鍵分享至社交平台或教練評估系統</a:t>
            </a:r>
            <a:endParaRPr lang="en-US" sz="1200" dirty="0"/>
          </a:p>
        </p:txBody>
      </p:sp>
      <p:sp>
        <p:nvSpPr>
          <p:cNvPr id="50" name="Shape 43"/>
          <p:cNvSpPr/>
          <p:nvPr/>
        </p:nvSpPr>
        <p:spPr>
          <a:xfrm>
            <a:off x="428854" y="12404750"/>
            <a:ext cx="17431207" cy="2609698"/>
          </a:xfrm>
          <a:prstGeom prst="rect">
            <a:avLst/>
          </a:prstGeom>
          <a:solidFill>
            <a:srgbClr val="1F77D3">
              <a:alpha val="5000"/>
            </a:srgbClr>
          </a:solidFill>
          <a:ln/>
        </p:spPr>
      </p:sp>
      <p:sp>
        <p:nvSpPr>
          <p:cNvPr id="51" name="Shape 44"/>
          <p:cNvSpPr/>
          <p:nvPr/>
        </p:nvSpPr>
        <p:spPr>
          <a:xfrm>
            <a:off x="428854" y="12404750"/>
            <a:ext cx="38405" cy="2609698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52" name="Text 45"/>
          <p:cNvSpPr txBox="1"/>
          <p:nvPr/>
        </p:nvSpPr>
        <p:spPr>
          <a:xfrm>
            <a:off x="599846" y="12547397"/>
            <a:ext cx="24487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高光一刻技術優勢</a:t>
            </a:r>
            <a:endParaRPr lang="en-US" sz="2100" dirty="0"/>
          </a:p>
        </p:txBody>
      </p:sp>
      <p:sp>
        <p:nvSpPr>
          <p:cNvPr id="53" name="Text 46"/>
          <p:cNvSpPr txBox="1"/>
          <p:nvPr/>
        </p:nvSpPr>
        <p:spPr>
          <a:xfrm>
            <a:off x="599846" y="13023799"/>
            <a:ext cx="119448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基於NVIDIA Instant Replay技術理念，我們開發的高光一刻功能完全適配智能球拍場景，解決運動員無法捕捉自身精彩瞬間的痛點。</a:t>
            </a:r>
            <a:endParaRPr lang="en-US" sz="1500" dirty="0"/>
          </a:p>
        </p:txBody>
      </p:sp>
      <p:sp>
        <p:nvSpPr>
          <p:cNvPr id="54" name="Shape 47"/>
          <p:cNvSpPr/>
          <p:nvPr/>
        </p:nvSpPr>
        <p:spPr>
          <a:xfrm>
            <a:off x="666598" y="13424306"/>
            <a:ext cx="5581498" cy="1457554"/>
          </a:xfrm>
          <a:prstGeom prst="roundRect">
            <a:avLst>
              <a:gd name="adj" fmla="val 41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018" b="-1018"/>
          <a:stretch/>
        </p:blipFill>
        <p:spPr>
          <a:xfrm>
            <a:off x="3311042" y="13617245"/>
            <a:ext cx="286207" cy="333756"/>
          </a:xfrm>
          <a:prstGeom prst="rect">
            <a:avLst/>
          </a:prstGeom>
        </p:spPr>
      </p:pic>
      <p:sp>
        <p:nvSpPr>
          <p:cNvPr id="56" name="Shape 48"/>
          <p:cNvSpPr/>
          <p:nvPr/>
        </p:nvSpPr>
        <p:spPr>
          <a:xfrm>
            <a:off x="6375197" y="13424306"/>
            <a:ext cx="5581498" cy="1457554"/>
          </a:xfrm>
          <a:prstGeom prst="roundRect">
            <a:avLst>
              <a:gd name="adj" fmla="val 41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57" name="Text 49"/>
          <p:cNvSpPr txBox="1"/>
          <p:nvPr/>
        </p:nvSpPr>
        <p:spPr>
          <a:xfrm>
            <a:off x="3092501" y="14080846"/>
            <a:ext cx="905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即時性</a:t>
            </a:r>
            <a:endParaRPr lang="en-US" sz="1800" dirty="0"/>
          </a:p>
        </p:txBody>
      </p:sp>
      <p:sp>
        <p:nvSpPr>
          <p:cNvPr id="58" name="Text 50"/>
          <p:cNvSpPr txBox="1"/>
          <p:nvPr/>
        </p:nvSpPr>
        <p:spPr>
          <a:xfrm>
            <a:off x="8801100" y="14080846"/>
            <a:ext cx="905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效率性</a:t>
            </a:r>
            <a:endParaRPr lang="en-US" sz="1800" dirty="0"/>
          </a:p>
        </p:txBody>
      </p:sp>
      <p:sp>
        <p:nvSpPr>
          <p:cNvPr id="59" name="Text 51"/>
          <p:cNvSpPr txBox="1"/>
          <p:nvPr/>
        </p:nvSpPr>
        <p:spPr>
          <a:xfrm>
            <a:off x="2031797" y="14481353"/>
            <a:ext cx="30010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瞬間完成保存，不中斷訓練流程</a:t>
            </a:r>
            <a:endParaRPr lang="en-US" sz="1500" dirty="0"/>
          </a:p>
        </p:txBody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570" b="-570"/>
          <a:stretch/>
        </p:blipFill>
        <p:spPr>
          <a:xfrm>
            <a:off x="8977579" y="13617245"/>
            <a:ext cx="371246" cy="333756"/>
          </a:xfrm>
          <a:prstGeom prst="rect">
            <a:avLst/>
          </a:prstGeom>
        </p:spPr>
      </p:pic>
      <p:sp>
        <p:nvSpPr>
          <p:cNvPr id="61" name="Shape 52"/>
          <p:cNvSpPr/>
          <p:nvPr/>
        </p:nvSpPr>
        <p:spPr>
          <a:xfrm>
            <a:off x="12083796" y="13424306"/>
            <a:ext cx="5581498" cy="1457554"/>
          </a:xfrm>
          <a:prstGeom prst="roundRect">
            <a:avLst>
              <a:gd name="adj" fmla="val 41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2" name="Text 53"/>
          <p:cNvSpPr txBox="1"/>
          <p:nvPr/>
        </p:nvSpPr>
        <p:spPr>
          <a:xfrm>
            <a:off x="7737653" y="14481353"/>
            <a:ext cx="30102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智能剪輯減少90%無用數據存儲</a:t>
            </a:r>
            <a:endParaRPr lang="en-US" sz="1500" dirty="0"/>
          </a:p>
        </p:txBody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921" b="-921"/>
          <a:stretch/>
        </p:blipFill>
        <p:spPr>
          <a:xfrm>
            <a:off x="14666976" y="13617245"/>
            <a:ext cx="409651" cy="333756"/>
          </a:xfrm>
          <a:prstGeom prst="rect">
            <a:avLst/>
          </a:prstGeom>
        </p:spPr>
      </p:pic>
      <p:sp>
        <p:nvSpPr>
          <p:cNvPr id="64" name="Text 54"/>
          <p:cNvSpPr txBox="1"/>
          <p:nvPr/>
        </p:nvSpPr>
        <p:spPr>
          <a:xfrm>
            <a:off x="14509699" y="14080846"/>
            <a:ext cx="905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易用性</a:t>
            </a:r>
            <a:endParaRPr lang="en-US" sz="1800" dirty="0"/>
          </a:p>
        </p:txBody>
      </p:sp>
      <p:sp>
        <p:nvSpPr>
          <p:cNvPr id="65" name="Text 55"/>
          <p:cNvSpPr txBox="1"/>
          <p:nvPr/>
        </p:nvSpPr>
        <p:spPr>
          <a:xfrm>
            <a:off x="13550494" y="14481353"/>
            <a:ext cx="28008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一鍵操作，無需專業剪輯知識</a:t>
            </a:r>
            <a:endParaRPr lang="en-US" sz="1500" dirty="0"/>
          </a:p>
        </p:txBody>
      </p:sp>
      <p:pic>
        <p:nvPicPr>
          <p:cNvPr id="66" name="Image 8" descr="preencoded.png">    </p:cNvPr>
          <p:cNvPicPr>
            <a:picLocks noChangeAspect="1"/>
          </p:cNvPicPr>
          <p:nvPr/>
        </p:nvPicPr>
        <p:blipFill>
          <a:blip r:embed="rId9"/>
          <a:srcRect l="-837" r="-837" t="0" b="0"/>
          <a:stretch/>
        </p:blipFill>
        <p:spPr>
          <a:xfrm>
            <a:off x="428854" y="9569196"/>
            <a:ext cx="152705" cy="200254"/>
          </a:xfrm>
          <a:prstGeom prst="rect">
            <a:avLst/>
          </a:prstGeom>
        </p:spPr>
      </p:pic>
      <p:sp>
        <p:nvSpPr>
          <p:cNvPr id="67" name="Text 56"/>
          <p:cNvSpPr txBox="1"/>
          <p:nvPr/>
        </p:nvSpPr>
        <p:spPr>
          <a:xfrm>
            <a:off x="657454" y="9506102"/>
            <a:ext cx="48390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受NVIDIA Instant Replay啟發，為運動訓練量身定制</a:t>
            </a:r>
            <a:endParaRPr lang="en-US" sz="1500" dirty="0"/>
          </a:p>
        </p:txBody>
      </p:sp>
      <p:sp>
        <p:nvSpPr>
          <p:cNvPr id="68" name="Text 57"/>
          <p:cNvSpPr txBox="1"/>
          <p:nvPr/>
        </p:nvSpPr>
        <p:spPr>
          <a:xfrm>
            <a:off x="13557809" y="9506102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22/43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485546"/>
            <a:ext cx="40105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高光一刻用戶價值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552651"/>
            <a:ext cx="63349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一鍵保存精彩片段，節省編輯時間與存儲空間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1695" y="2572207"/>
            <a:ext cx="8191195" cy="3047695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34195" y="2572207"/>
            <a:ext cx="8191195" cy="3047695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34195" y="6001207"/>
            <a:ext cx="8191195" cy="3047695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38744" y="2809951"/>
            <a:ext cx="476402" cy="476402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63102" y="2933395"/>
            <a:ext cx="228600" cy="228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1695" y="6001207"/>
            <a:ext cx="8191195" cy="3047695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6811244" y="2809951"/>
            <a:ext cx="476402" cy="476402"/>
          </a:xfrm>
          <a:prstGeom prst="ellipse">
            <a:avLst/>
          </a:prstGeom>
          <a:solidFill>
            <a:srgbClr val="E53935">
              <a:alpha val="1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238744" y="6238951"/>
            <a:ext cx="476402" cy="476402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6811244" y="6238951"/>
            <a:ext cx="476402" cy="476402"/>
          </a:xfrm>
          <a:prstGeom prst="ellipse">
            <a:avLst/>
          </a:prstGeom>
          <a:solidFill>
            <a:srgbClr val="E53935">
              <a:alpha val="10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47902" y="2857500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編輯時間節省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620402" y="2857500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存儲空間節省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047902" y="6286500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分享完成時間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620402" y="6286500"/>
            <a:ext cx="1772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用戶滿意度提升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047902" y="3343046"/>
            <a:ext cx="11814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95</a:t>
            </a:r>
            <a:endParaRPr lang="en-US" sz="4800" dirty="0"/>
          </a:p>
        </p:txBody>
      </p:sp>
      <p:sp>
        <p:nvSpPr>
          <p:cNvPr id="19" name="Text 16"/>
          <p:cNvSpPr txBox="1"/>
          <p:nvPr/>
        </p:nvSpPr>
        <p:spPr>
          <a:xfrm>
            <a:off x="1047902" y="6772046"/>
            <a:ext cx="14100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2-3</a:t>
            </a:r>
            <a:endParaRPr lang="en-US" sz="4800" dirty="0"/>
          </a:p>
        </p:txBody>
      </p:sp>
      <p:sp>
        <p:nvSpPr>
          <p:cNvPr id="20" name="Text 17"/>
          <p:cNvSpPr txBox="1"/>
          <p:nvPr/>
        </p:nvSpPr>
        <p:spPr>
          <a:xfrm>
            <a:off x="9620402" y="6772046"/>
            <a:ext cx="11814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85</a:t>
            </a:r>
            <a:endParaRPr lang="en-US" sz="4800" dirty="0"/>
          </a:p>
        </p:txBody>
      </p:sp>
      <p:sp>
        <p:nvSpPr>
          <p:cNvPr id="21" name="Text 18"/>
          <p:cNvSpPr txBox="1"/>
          <p:nvPr/>
        </p:nvSpPr>
        <p:spPr>
          <a:xfrm>
            <a:off x="1843430" y="3581705"/>
            <a:ext cx="5239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%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10415930" y="7010705"/>
            <a:ext cx="5239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%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1047902" y="4401007"/>
            <a:ext cx="6477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從手動剪輯30分鐘到自動捕捉僅需1-2分鐘，大幅提升訓練效率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9620402" y="4401007"/>
            <a:ext cx="55723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智能僅保留關鍵片段，1小時訓練從2GB壓縮至200MB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047902" y="4800600"/>
            <a:ext cx="7619695" cy="533095"/>
          </a:xfrm>
          <a:prstGeom prst="roundRect">
            <a:avLst>
              <a:gd name="adj" fmla="val 30630"/>
            </a:avLst>
          </a:prstGeom>
          <a:solidFill>
            <a:srgbClr val="F8F8F8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62202" y="4990795"/>
            <a:ext cx="152705" cy="152705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9620402" y="4800600"/>
            <a:ext cx="7619695" cy="533095"/>
          </a:xfrm>
          <a:prstGeom prst="roundRect">
            <a:avLst>
              <a:gd name="adj" fmla="val 30630"/>
            </a:avLst>
          </a:prstGeom>
          <a:solidFill>
            <a:srgbClr val="F8F8F8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410005" y="4914900"/>
            <a:ext cx="40197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解決問題：訓練影片剪輯耗時、技術門檻高</a:t>
            </a:r>
            <a:endParaRPr lang="en-US" sz="15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-57" r="-57" t="0" b="0"/>
          <a:stretch/>
        </p:blipFill>
        <p:spPr>
          <a:xfrm>
            <a:off x="16949318" y="2933395"/>
            <a:ext cx="200254" cy="22860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620402" y="3343046"/>
            <a:ext cx="11814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90</a:t>
            </a:r>
            <a:endParaRPr lang="en-US" sz="4800" dirty="0"/>
          </a:p>
        </p:txBody>
      </p:sp>
      <p:sp>
        <p:nvSpPr>
          <p:cNvPr id="31" name="Text 26"/>
          <p:cNvSpPr txBox="1"/>
          <p:nvPr/>
        </p:nvSpPr>
        <p:spPr>
          <a:xfrm>
            <a:off x="10415930" y="3581705"/>
            <a:ext cx="5239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%</a:t>
            </a:r>
            <a:endParaRPr lang="en-US" sz="24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734702" y="4990795"/>
            <a:ext cx="152705" cy="15270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047902" y="7830007"/>
            <a:ext cx="5658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一鍵即可分享至社交媒體或發送給教練，即時獲得反饋</a:t>
            </a:r>
            <a:endParaRPr lang="en-US" sz="1800" dirty="0"/>
          </a:p>
        </p:txBody>
      </p:sp>
      <p:sp>
        <p:nvSpPr>
          <p:cNvPr id="34" name="Shape 28"/>
          <p:cNvSpPr/>
          <p:nvPr/>
        </p:nvSpPr>
        <p:spPr>
          <a:xfrm>
            <a:off x="1047902" y="8229600"/>
            <a:ext cx="7619695" cy="533095"/>
          </a:xfrm>
          <a:prstGeom prst="roundRect">
            <a:avLst>
              <a:gd name="adj" fmla="val 30630"/>
            </a:avLst>
          </a:prstGeom>
          <a:solidFill>
            <a:srgbClr val="F8F8F8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9982505" y="4914900"/>
            <a:ext cx="46296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解決問題：手機存儲空間不足、冗長影片管理困難</a:t>
            </a:r>
            <a:endParaRPr lang="en-US" sz="15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rcRect l="-57" r="-57" t="0" b="0"/>
          <a:stretch/>
        </p:blipFill>
        <p:spPr>
          <a:xfrm>
            <a:off x="8376818" y="6362395"/>
            <a:ext cx="200254" cy="22860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2069287" y="7010705"/>
            <a:ext cx="5431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秒</a:t>
            </a:r>
            <a:endParaRPr lang="en-US" sz="24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62202" y="8419795"/>
            <a:ext cx="152705" cy="152705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620402" y="7830007"/>
            <a:ext cx="6344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用戶測試報告顯示，記錄精彩時刻大幅提升訓練動力與成就感</a:t>
            </a:r>
            <a:endParaRPr lang="en-US" sz="1800" dirty="0"/>
          </a:p>
        </p:txBody>
      </p:sp>
      <p:sp>
        <p:nvSpPr>
          <p:cNvPr id="40" name="Shape 32"/>
          <p:cNvSpPr/>
          <p:nvPr/>
        </p:nvSpPr>
        <p:spPr>
          <a:xfrm>
            <a:off x="9620402" y="8229600"/>
            <a:ext cx="7619695" cy="533095"/>
          </a:xfrm>
          <a:prstGeom prst="roundRect">
            <a:avLst>
              <a:gd name="adj" fmla="val 30630"/>
            </a:avLst>
          </a:prstGeom>
          <a:solidFill>
            <a:srgbClr val="F8F8F8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1410005" y="8343900"/>
            <a:ext cx="36100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解決問題：分享流程複雜、需多次操作</a:t>
            </a:r>
            <a:endParaRPr lang="en-US" sz="150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6935602" y="6362395"/>
            <a:ext cx="228600" cy="228600"/>
          </a:xfrm>
          <a:prstGeom prst="rect">
            <a:avLst/>
          </a:prstGeom>
        </p:spPr>
      </p:pic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734702" y="8419795"/>
            <a:ext cx="152705" cy="152705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982505" y="8343900"/>
            <a:ext cx="42199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解決問題：訓練進步難以可視化、缺乏成就感</a:t>
            </a:r>
            <a:endParaRPr lang="en-US" sz="1500" dirty="0"/>
          </a:p>
        </p:txBody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4" b="-44"/>
          <a:stretch/>
        </p:blipFill>
        <p:spPr>
          <a:xfrm>
            <a:off x="761695" y="9677095"/>
            <a:ext cx="256946" cy="22860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095451" y="9610344"/>
            <a:ext cx="72493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高光一刻功能 • 靈感來自NVIDIA Instant Replay • 追求極致使用體驗</a:t>
            </a:r>
            <a:endParaRPr lang="en-US" sz="1800" dirty="0"/>
          </a:p>
        </p:txBody>
      </p:sp>
      <p:sp>
        <p:nvSpPr>
          <p:cNvPr id="47" name="Text 36"/>
          <p:cNvSpPr txBox="1"/>
          <p:nvPr/>
        </p:nvSpPr>
        <p:spPr>
          <a:xfrm>
            <a:off x="13224053" y="9610344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23/43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04795" y="390449"/>
            <a:ext cx="42675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Galaxy Watch整合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873606" y="1333195"/>
            <a:ext cx="58009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深度融合智能手錶，創造全方位運動健康體驗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90695" y="1800454"/>
            <a:ext cx="952805" cy="761695"/>
          </a:xfrm>
          <a:prstGeom prst="roundRect">
            <a:avLst>
              <a:gd name="adj" fmla="val 30012"/>
            </a:avLst>
          </a:prstGeom>
          <a:solidFill>
            <a:srgbClr val="444444"/>
          </a:solidFill>
          <a:ln/>
        </p:spPr>
      </p:sp>
      <p:sp>
        <p:nvSpPr>
          <p:cNvPr id="6" name="Shape 4"/>
          <p:cNvSpPr/>
          <p:nvPr/>
        </p:nvSpPr>
        <p:spPr>
          <a:xfrm>
            <a:off x="4190695" y="5419649"/>
            <a:ext cx="952805" cy="761695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Shape 5"/>
          <p:cNvSpPr/>
          <p:nvPr/>
        </p:nvSpPr>
        <p:spPr>
          <a:xfrm>
            <a:off x="4381805" y="8562442"/>
            <a:ext cx="114300" cy="1143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8" name="Shape 6"/>
          <p:cNvSpPr/>
          <p:nvPr/>
        </p:nvSpPr>
        <p:spPr>
          <a:xfrm>
            <a:off x="4610405" y="8562442"/>
            <a:ext cx="114300" cy="114300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839005" y="8562442"/>
            <a:ext cx="114300" cy="114300"/>
          </a:xfrm>
          <a:prstGeom prst="ellipse">
            <a:avLst/>
          </a:prstGeom>
          <a:solidFill>
            <a:srgbClr val="DDDDDD"/>
          </a:solidFill>
          <a:ln/>
        </p:spPr>
      </p:sp>
      <p:sp>
        <p:nvSpPr>
          <p:cNvPr id="10" name="Shape 8"/>
          <p:cNvSpPr/>
          <p:nvPr/>
        </p:nvSpPr>
        <p:spPr>
          <a:xfrm>
            <a:off x="9430207" y="476402"/>
            <a:ext cx="8382305" cy="1495044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39605" y="647395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E5393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63049" y="771754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258654" y="657454"/>
            <a:ext cx="1886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即時心率監測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10258654" y="1143000"/>
            <a:ext cx="74871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結合運動強度與心率數據，提供精確訓練區間建議，避免過度訓練，最大化訓練效果。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430207" y="2154326"/>
            <a:ext cx="8382305" cy="1495044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639605" y="2325319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1F77D3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-57" r="-57" t="0" b="0"/>
          <a:stretch/>
        </p:blipFill>
        <p:spPr>
          <a:xfrm>
            <a:off x="9777679" y="2449678"/>
            <a:ext cx="200254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258654" y="2335378"/>
            <a:ext cx="1886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訓練狀態推送</a:t>
            </a:r>
            <a:endParaRPr lang="en-US" sz="2100" dirty="0"/>
          </a:p>
        </p:txBody>
      </p:sp>
      <p:sp>
        <p:nvSpPr>
          <p:cNvPr id="19" name="Text 15"/>
          <p:cNvSpPr txBox="1"/>
          <p:nvPr/>
        </p:nvSpPr>
        <p:spPr>
          <a:xfrm>
            <a:off x="10258654" y="2820924"/>
            <a:ext cx="74871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實時將球拍數據分析結果推送至手腕，無需查看手機即可即時掌握動作質量與技術改進建議。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9430207" y="3832250"/>
            <a:ext cx="8382305" cy="1495044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639605" y="4004158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FF9800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4" b="-44"/>
          <a:stretch/>
        </p:blipFill>
        <p:spPr>
          <a:xfrm>
            <a:off x="9748418" y="4127602"/>
            <a:ext cx="256946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258654" y="4013302"/>
            <a:ext cx="1886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9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高光時刻提醒</a:t>
            </a:r>
            <a:endParaRPr lang="en-US" sz="2100" dirty="0"/>
          </a:p>
        </p:txBody>
      </p:sp>
      <p:sp>
        <p:nvSpPr>
          <p:cNvPr id="24" name="Text 19"/>
          <p:cNvSpPr txBox="1"/>
          <p:nvPr/>
        </p:nvSpPr>
        <p:spPr>
          <a:xfrm>
            <a:off x="10258654" y="4498848"/>
            <a:ext cx="73152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智能檢測到高質量動作時，自動提醒並在Galaxy Watch上一鍵保存，支援快速分享至三星社群平台。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9430207" y="5510174"/>
            <a:ext cx="8382305" cy="1495044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639605" y="5682082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43A047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763049" y="5805526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258654" y="5691226"/>
            <a:ext cx="1886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3A04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健康數據同步</a:t>
            </a:r>
            <a:endParaRPr lang="en-US" sz="2100" dirty="0"/>
          </a:p>
        </p:txBody>
      </p:sp>
      <p:sp>
        <p:nvSpPr>
          <p:cNvPr id="29" name="Text 23"/>
          <p:cNvSpPr txBox="1"/>
          <p:nvPr/>
        </p:nvSpPr>
        <p:spPr>
          <a:xfrm>
            <a:off x="10258654" y="6176772"/>
            <a:ext cx="71826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自動整合Samsung Health數據，提供全方位健康視圖，包含卡路里消耗、活動量與恢復狀態分析。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9430207" y="7235647"/>
            <a:ext cx="8382305" cy="1552651"/>
          </a:xfrm>
          <a:prstGeom prst="roundRect">
            <a:avLst>
              <a:gd name="adj" fmla="val 4336"/>
            </a:avLst>
          </a:prstGeom>
          <a:solidFill>
            <a:srgbClr val="1F77D3">
              <a:alpha val="8000"/>
            </a:srgbClr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9620402" y="7435901"/>
            <a:ext cx="32863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三星生態價值與用戶黏性</a:t>
            </a:r>
            <a:endParaRPr lang="en-US" sz="2100" dirty="0"/>
          </a:p>
        </p:txBody>
      </p:sp>
      <p:sp>
        <p:nvSpPr>
          <p:cNvPr id="32" name="Text 26"/>
          <p:cNvSpPr txBox="1"/>
          <p:nvPr/>
        </p:nvSpPr>
        <p:spPr>
          <a:xfrm>
            <a:off x="9620402" y="7940650"/>
            <a:ext cx="80010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透過Galaxy生態整合，SmartRacket Coach為用戶提供跨設備無縫體驗，大幅提升用戶留存率達65%，同時為三星裝置帶來獨特的差異化競爭優勢。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552298" y="9791395"/>
            <a:ext cx="50776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深度整合Galaxy Watch功能，提供專業級運動健康體驗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13510260" y="9791395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24/43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3143707" y="2467051"/>
            <a:ext cx="3047695" cy="3047695"/>
          </a:xfrm>
          <a:prstGeom prst="ellipse">
            <a:avLst/>
          </a:prstGeom>
          <a:solidFill>
            <a:srgbClr val="222222"/>
          </a:solidFill>
          <a:ln/>
          <a:effectLst>
            <a:outerShdw sx="100000" sy="100000" kx="0" ky="0" algn="bl" rotWithShape="0" blurRad="292100" dist="101600" dir="5400000">
              <a:srgbClr val="000000">
                <a:alpha val="25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6067044" y="3800246"/>
            <a:ext cx="142646" cy="381305"/>
          </a:xfrm>
          <a:prstGeom prst="roundRect">
            <a:avLst>
              <a:gd name="adj" fmla="val 213676"/>
            </a:avLst>
          </a:prstGeom>
          <a:solidFill>
            <a:srgbClr val="555555"/>
          </a:solidFill>
          <a:ln/>
        </p:spPr>
      </p:sp>
      <p:sp>
        <p:nvSpPr>
          <p:cNvPr id="37" name="Shape 31"/>
          <p:cNvSpPr/>
          <p:nvPr/>
        </p:nvSpPr>
        <p:spPr>
          <a:xfrm>
            <a:off x="3286354" y="2609698"/>
            <a:ext cx="2762402" cy="276240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8" name="Shape 32"/>
          <p:cNvSpPr/>
          <p:nvPr/>
        </p:nvSpPr>
        <p:spPr>
          <a:xfrm>
            <a:off x="3286354" y="2609698"/>
            <a:ext cx="2762402" cy="27624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>
            <a:alphaModFix amt="0"/>
          </a:blip>
          <a:srcRect l="-27" r="-27" t="0" b="0"/>
          <a:stretch/>
        </p:blipFill>
        <p:spPr>
          <a:xfrm>
            <a:off x="4453128" y="2991002"/>
            <a:ext cx="428854" cy="342900"/>
          </a:xfrm>
          <a:prstGeom prst="rect">
            <a:avLst/>
          </a:prstGeom>
        </p:spPr>
      </p:pic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>
            <a:alphaModFix amt="0"/>
          </a:blip>
          <a:srcRect l="0" r="0" t="0" b="0"/>
          <a:stretch/>
        </p:blipFill>
        <p:spPr>
          <a:xfrm>
            <a:off x="3952951" y="3752698"/>
            <a:ext cx="1429207" cy="1429207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3286354" y="2609698"/>
            <a:ext cx="2762402" cy="27624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>
            <a:alphaModFix amt="0"/>
          </a:blip>
          <a:srcRect l="-607" r="-607" t="0" b="0"/>
          <a:stretch/>
        </p:blipFill>
        <p:spPr>
          <a:xfrm>
            <a:off x="4472330" y="3038551"/>
            <a:ext cx="390449" cy="342900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3810305" y="3847795"/>
            <a:ext cx="1714500" cy="857707"/>
          </a:xfrm>
          <a:prstGeom prst="roundRect">
            <a:avLst>
              <a:gd name="adj" fmla="val 9476"/>
            </a:avLst>
          </a:prstGeom>
          <a:solidFill>
            <a:srgbClr val="333333">
              <a:alpha val="0"/>
            </a:srgbClr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>
            <a:alphaModFix amt="0"/>
          </a:blip>
          <a:srcRect l="0" r="0" t="0" b="0"/>
          <a:stretch/>
        </p:blipFill>
        <p:spPr>
          <a:xfrm>
            <a:off x="4524451" y="4009644"/>
            <a:ext cx="286207" cy="286207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4214470" y="4848149"/>
            <a:ext cx="381305" cy="381305"/>
          </a:xfrm>
          <a:prstGeom prst="ellipse">
            <a:avLst/>
          </a:prstGeom>
          <a:solidFill>
            <a:srgbClr val="1F77D3">
              <a:alpha val="0"/>
            </a:srgbClr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>
            <a:alphaModFix amt="0"/>
          </a:blip>
          <a:srcRect l="0" r="0" t="-43" b="-43"/>
          <a:stretch/>
        </p:blipFill>
        <p:spPr>
          <a:xfrm>
            <a:off x="4338828" y="4962449"/>
            <a:ext cx="133502" cy="152705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4738421" y="4848149"/>
            <a:ext cx="381305" cy="381305"/>
          </a:xfrm>
          <a:prstGeom prst="ellipse">
            <a:avLst/>
          </a:prstGeom>
          <a:solidFill>
            <a:srgbClr val="E53935">
              <a:alpha val="0"/>
            </a:srgbClr>
          </a:solidFill>
          <a:ln/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>
            <a:alphaModFix amt="0"/>
          </a:blip>
          <a:srcRect l="0" r="0" t="-43" b="-43"/>
          <a:stretch/>
        </p:blipFill>
        <p:spPr>
          <a:xfrm>
            <a:off x="4862779" y="4962449"/>
            <a:ext cx="133502" cy="152705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3286354" y="2609698"/>
            <a:ext cx="2762402" cy="2762402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476902" y="3086100"/>
            <a:ext cx="381305" cy="381305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4362602" y="3562502"/>
            <a:ext cx="734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心率監測</a:t>
            </a:r>
            <a:endParaRPr lang="en-US" sz="1200" dirty="0"/>
          </a:p>
        </p:txBody>
      </p:sp>
      <p:sp>
        <p:nvSpPr>
          <p:cNvPr id="52" name="Text 39"/>
          <p:cNvSpPr txBox="1"/>
          <p:nvPr/>
        </p:nvSpPr>
        <p:spPr>
          <a:xfrm>
            <a:off x="4313225" y="3847795"/>
            <a:ext cx="1014984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136</a:t>
            </a:r>
            <a:endParaRPr lang="en-US" sz="3100" dirty="0"/>
          </a:p>
        </p:txBody>
      </p:sp>
      <p:sp>
        <p:nvSpPr>
          <p:cNvPr id="53" name="Text 40"/>
          <p:cNvSpPr txBox="1"/>
          <p:nvPr/>
        </p:nvSpPr>
        <p:spPr>
          <a:xfrm>
            <a:off x="4441241" y="4438498"/>
            <a:ext cx="557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次/分鐘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3562502" y="4828946"/>
            <a:ext cx="2210105" cy="381305"/>
          </a:xfrm>
          <a:prstGeom prst="roundRect">
            <a:avLst>
              <a:gd name="adj" fmla="val 119904"/>
            </a:avLst>
          </a:prstGeom>
          <a:solidFill>
            <a:srgbClr val="222222"/>
          </a:solidFill>
          <a:ln/>
        </p:spPr>
      </p:sp>
      <p:sp>
        <p:nvSpPr>
          <p:cNvPr id="55" name="Shape 42"/>
          <p:cNvSpPr/>
          <p:nvPr/>
        </p:nvSpPr>
        <p:spPr>
          <a:xfrm>
            <a:off x="3562502" y="5362042"/>
            <a:ext cx="2210105" cy="91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56" name="Shape 43"/>
          <p:cNvSpPr/>
          <p:nvPr/>
        </p:nvSpPr>
        <p:spPr>
          <a:xfrm>
            <a:off x="3782873" y="5229454"/>
            <a:ext cx="19202" cy="14264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57" name="Shape 44"/>
          <p:cNvSpPr/>
          <p:nvPr/>
        </p:nvSpPr>
        <p:spPr>
          <a:xfrm>
            <a:off x="4225442" y="5133442"/>
            <a:ext cx="19202" cy="237744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58" name="Shape 45"/>
          <p:cNvSpPr/>
          <p:nvPr/>
        </p:nvSpPr>
        <p:spPr>
          <a:xfrm>
            <a:off x="4667098" y="5229454"/>
            <a:ext cx="19202" cy="14264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59" name="Shape 46"/>
          <p:cNvSpPr/>
          <p:nvPr/>
        </p:nvSpPr>
        <p:spPr>
          <a:xfrm>
            <a:off x="5108753" y="5133442"/>
            <a:ext cx="19202" cy="237744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0" name="Shape 47"/>
          <p:cNvSpPr/>
          <p:nvPr/>
        </p:nvSpPr>
        <p:spPr>
          <a:xfrm>
            <a:off x="5551322" y="5229454"/>
            <a:ext cx="19202" cy="142646"/>
          </a:xfrm>
          <a:prstGeom prst="rect">
            <a:avLst/>
          </a:prstGeom>
          <a:solidFill>
            <a:srgbClr val="666666"/>
          </a:solidFill>
          <a:ln/>
        </p:spPr>
      </p:sp>
      <p:pic>
        <p:nvPicPr>
          <p:cNvPr id="61" name="Image 11" descr="preencoded.png">    </p:cNvPr>
          <p:cNvPicPr>
            <a:picLocks noChangeAspect="1"/>
          </p:cNvPicPr>
          <p:nvPr/>
        </p:nvPicPr>
        <p:blipFill>
          <a:blip r:embed="rId12"/>
          <a:srcRect l="-42875" r="-42875" t="0" b="0"/>
          <a:stretch/>
        </p:blipFill>
        <p:spPr>
          <a:xfrm>
            <a:off x="3562502" y="4876495"/>
            <a:ext cx="1772107" cy="286207"/>
          </a:xfrm>
          <a:prstGeom prst="rect">
            <a:avLst/>
          </a:prstGeom>
        </p:spPr>
      </p:pic>
      <p:sp>
        <p:nvSpPr>
          <p:cNvPr id="62" name="Shape 48"/>
          <p:cNvSpPr/>
          <p:nvPr/>
        </p:nvSpPr>
        <p:spPr>
          <a:xfrm>
            <a:off x="16225114" y="190195"/>
            <a:ext cx="1876349" cy="457200"/>
          </a:xfrm>
          <a:prstGeom prst="roundRect">
            <a:avLst>
              <a:gd name="adj" fmla="val 20833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63" name="Text 49"/>
          <p:cNvSpPr txBox="1"/>
          <p:nvPr/>
        </p:nvSpPr>
        <p:spPr>
          <a:xfrm>
            <a:off x="16444570" y="267005"/>
            <a:ext cx="16669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Galaxy 生態系統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16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76402" y="390449"/>
            <a:ext cx="30961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競爭優勢矩陣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76402" y="1285646"/>
            <a:ext cx="8763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相對於傳統教練和國際AI App的多維度優勢分析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76402" y="1943100"/>
            <a:ext cx="5686654" cy="1933956"/>
          </a:xfrm>
          <a:prstGeom prst="rect">
            <a:avLst/>
          </a:prstGeom>
          <a:solidFill>
            <a:srgbClr val="808080">
              <a:alpha val="1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57" r="-57" t="0" b="0"/>
          <a:stretch/>
        </p:blipFill>
        <p:spPr>
          <a:xfrm>
            <a:off x="3118104" y="2257654"/>
            <a:ext cx="400507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758745" y="2885846"/>
            <a:ext cx="1334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傳統教練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2517343" y="3362249"/>
            <a:ext cx="1772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>
                    <a:alpha val="8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人工觀察與指導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76402" y="3876142"/>
            <a:ext cx="5686654" cy="54772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7395" y="41148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2007" y="4048049"/>
            <a:ext cx="154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即時數據反饋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72007" y="5074006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成本負擔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972007" y="6099962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隱私保護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972007" y="7125919"/>
            <a:ext cx="21342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Samsung生態整合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29107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6" name="Shape 12"/>
          <p:cNvSpPr/>
          <p:nvPr/>
        </p:nvSpPr>
        <p:spPr>
          <a:xfrm>
            <a:off x="838505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7" name="Shape 13"/>
          <p:cNvSpPr/>
          <p:nvPr/>
        </p:nvSpPr>
        <p:spPr>
          <a:xfrm>
            <a:off x="629107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8" name="Shape 14"/>
          <p:cNvSpPr/>
          <p:nvPr/>
        </p:nvSpPr>
        <p:spPr>
          <a:xfrm>
            <a:off x="629107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9" name="Shape 15"/>
          <p:cNvSpPr/>
          <p:nvPr/>
        </p:nvSpPr>
        <p:spPr>
          <a:xfrm>
            <a:off x="838505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" name="Shape 16"/>
          <p:cNvSpPr/>
          <p:nvPr/>
        </p:nvSpPr>
        <p:spPr>
          <a:xfrm>
            <a:off x="1047902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" name="Shape 17"/>
          <p:cNvSpPr/>
          <p:nvPr/>
        </p:nvSpPr>
        <p:spPr>
          <a:xfrm>
            <a:off x="1257300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2" name="Shape 18"/>
          <p:cNvSpPr/>
          <p:nvPr/>
        </p:nvSpPr>
        <p:spPr>
          <a:xfrm>
            <a:off x="629107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3" name="Shape 19"/>
          <p:cNvSpPr/>
          <p:nvPr/>
        </p:nvSpPr>
        <p:spPr>
          <a:xfrm>
            <a:off x="1047902" y="4447642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24" name="Shape 20"/>
          <p:cNvSpPr/>
          <p:nvPr/>
        </p:nvSpPr>
        <p:spPr>
          <a:xfrm>
            <a:off x="1257300" y="4447642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25" name="Shape 21"/>
          <p:cNvSpPr/>
          <p:nvPr/>
        </p:nvSpPr>
        <p:spPr>
          <a:xfrm>
            <a:off x="1466698" y="4447642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26" name="Shape 22"/>
          <p:cNvSpPr/>
          <p:nvPr/>
        </p:nvSpPr>
        <p:spPr>
          <a:xfrm>
            <a:off x="838505" y="5473598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27" name="Shape 23"/>
          <p:cNvSpPr/>
          <p:nvPr/>
        </p:nvSpPr>
        <p:spPr>
          <a:xfrm>
            <a:off x="1047902" y="5473598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28" name="Shape 24"/>
          <p:cNvSpPr/>
          <p:nvPr/>
        </p:nvSpPr>
        <p:spPr>
          <a:xfrm>
            <a:off x="1257300" y="5473598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29" name="Shape 25"/>
          <p:cNvSpPr/>
          <p:nvPr/>
        </p:nvSpPr>
        <p:spPr>
          <a:xfrm>
            <a:off x="1466698" y="5473598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30" name="Shape 26"/>
          <p:cNvSpPr/>
          <p:nvPr/>
        </p:nvSpPr>
        <p:spPr>
          <a:xfrm>
            <a:off x="1047902" y="7526426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29107" y="4619549"/>
            <a:ext cx="34107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主觀評價，無法量化，較難精確描述</a:t>
            </a:r>
            <a:endParaRPr lang="en-US" sz="15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690372" y="5140757"/>
            <a:ext cx="142646" cy="22860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29107" y="5645506"/>
            <a:ext cx="31437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每小時150-300港元，長期成本高</a:t>
            </a:r>
            <a:endParaRPr lang="en-US" sz="15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rcRect l="-80" r="-80" t="0" b="0"/>
          <a:stretch/>
        </p:blipFill>
        <p:spPr>
          <a:xfrm>
            <a:off x="629107" y="6166714"/>
            <a:ext cx="286207" cy="22860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1466698" y="6500470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9107" y="6671462"/>
            <a:ext cx="25914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無數據收集，隱私風險較小</a:t>
            </a:r>
            <a:endParaRPr lang="en-US" sz="15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rcRect l="-133" r="-133" t="0" b="0"/>
          <a:stretch/>
        </p:blipFill>
        <p:spPr>
          <a:xfrm>
            <a:off x="676656" y="7192670"/>
            <a:ext cx="171907" cy="22860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72007" y="8152790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技術門檻</a:t>
            </a:r>
            <a:endParaRPr lang="en-US" sz="1800" dirty="0"/>
          </a:p>
        </p:txBody>
      </p:sp>
      <p:sp>
        <p:nvSpPr>
          <p:cNvPr id="39" name="Shape 32"/>
          <p:cNvSpPr/>
          <p:nvPr/>
        </p:nvSpPr>
        <p:spPr>
          <a:xfrm>
            <a:off x="629107" y="8552383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0" name="Shape 33"/>
          <p:cNvSpPr/>
          <p:nvPr/>
        </p:nvSpPr>
        <p:spPr>
          <a:xfrm>
            <a:off x="838505" y="8552383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1" name="Shape 34"/>
          <p:cNvSpPr/>
          <p:nvPr/>
        </p:nvSpPr>
        <p:spPr>
          <a:xfrm>
            <a:off x="838505" y="7526426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42" name="Shape 35"/>
          <p:cNvSpPr/>
          <p:nvPr/>
        </p:nvSpPr>
        <p:spPr>
          <a:xfrm>
            <a:off x="1257300" y="7526426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43" name="Shape 36"/>
          <p:cNvSpPr/>
          <p:nvPr/>
        </p:nvSpPr>
        <p:spPr>
          <a:xfrm>
            <a:off x="1466698" y="7526426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629107" y="7697419"/>
            <a:ext cx="19815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無任何技術整合能力</a:t>
            </a:r>
            <a:endParaRPr lang="en-US" sz="150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rcRect l="-80" r="-80" t="0" b="0"/>
          <a:stretch/>
        </p:blipFill>
        <p:spPr>
          <a:xfrm>
            <a:off x="629107" y="8219542"/>
            <a:ext cx="286207" cy="228600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1047902" y="8552383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47" name="Shape 39"/>
          <p:cNvSpPr/>
          <p:nvPr/>
        </p:nvSpPr>
        <p:spPr>
          <a:xfrm>
            <a:off x="1257300" y="8552383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48" name="Shape 40"/>
          <p:cNvSpPr/>
          <p:nvPr/>
        </p:nvSpPr>
        <p:spPr>
          <a:xfrm>
            <a:off x="1466698" y="8552383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49" name="Text 41"/>
          <p:cNvSpPr txBox="1"/>
          <p:nvPr/>
        </p:nvSpPr>
        <p:spPr>
          <a:xfrm>
            <a:off x="629107" y="8724290"/>
            <a:ext cx="30010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需教練在場，場地與時間限制多</a:t>
            </a:r>
            <a:endParaRPr lang="en-US" sz="1500" dirty="0"/>
          </a:p>
        </p:txBody>
      </p:sp>
      <p:sp>
        <p:nvSpPr>
          <p:cNvPr id="50" name="Shape 42"/>
          <p:cNvSpPr/>
          <p:nvPr/>
        </p:nvSpPr>
        <p:spPr>
          <a:xfrm>
            <a:off x="476402" y="9349740"/>
            <a:ext cx="5686654" cy="5715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2631643" y="9464040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傳統指導有限</a:t>
            </a:r>
            <a:endParaRPr lang="en-US" sz="1800" dirty="0"/>
          </a:p>
        </p:txBody>
      </p:sp>
      <p:sp>
        <p:nvSpPr>
          <p:cNvPr id="52" name="Shape 44"/>
          <p:cNvSpPr/>
          <p:nvPr/>
        </p:nvSpPr>
        <p:spPr>
          <a:xfrm>
            <a:off x="6302045" y="1943100"/>
            <a:ext cx="5686654" cy="1933956"/>
          </a:xfrm>
          <a:prstGeom prst="rect">
            <a:avLst/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915400" y="2257654"/>
            <a:ext cx="457200" cy="457200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8428025" y="2885846"/>
            <a:ext cx="16486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國際AI App</a:t>
            </a:r>
            <a:endParaRPr lang="en-US" sz="2100" dirty="0"/>
          </a:p>
        </p:txBody>
      </p:sp>
      <p:sp>
        <p:nvSpPr>
          <p:cNvPr id="55" name="Text 46"/>
          <p:cNvSpPr txBox="1"/>
          <p:nvPr/>
        </p:nvSpPr>
        <p:spPr>
          <a:xfrm>
            <a:off x="8115300" y="3362249"/>
            <a:ext cx="2229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>
                    <a:alpha val="8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商業化高端解決方案</a:t>
            </a:r>
            <a:endParaRPr lang="en-US" sz="1800" dirty="0"/>
          </a:p>
        </p:txBody>
      </p:sp>
      <p:sp>
        <p:nvSpPr>
          <p:cNvPr id="56" name="Shape 47"/>
          <p:cNvSpPr/>
          <p:nvPr/>
        </p:nvSpPr>
        <p:spPr>
          <a:xfrm>
            <a:off x="6302045" y="3876142"/>
            <a:ext cx="5686654" cy="54772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473952" y="4114800"/>
            <a:ext cx="228600" cy="228600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6797650" y="4048049"/>
            <a:ext cx="154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即時數據反饋</a:t>
            </a:r>
            <a:endParaRPr lang="en-US" sz="1800" dirty="0"/>
          </a:p>
        </p:txBody>
      </p:sp>
      <p:sp>
        <p:nvSpPr>
          <p:cNvPr id="59" name="Text 49"/>
          <p:cNvSpPr txBox="1"/>
          <p:nvPr/>
        </p:nvSpPr>
        <p:spPr>
          <a:xfrm>
            <a:off x="6797650" y="5074006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成本負擔</a:t>
            </a:r>
            <a:endParaRPr lang="en-US" sz="1800" dirty="0"/>
          </a:p>
        </p:txBody>
      </p:sp>
      <p:sp>
        <p:nvSpPr>
          <p:cNvPr id="60" name="Text 50"/>
          <p:cNvSpPr txBox="1"/>
          <p:nvPr/>
        </p:nvSpPr>
        <p:spPr>
          <a:xfrm>
            <a:off x="6797650" y="6099962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隱私保護</a:t>
            </a:r>
            <a:endParaRPr lang="en-US" sz="1800" dirty="0"/>
          </a:p>
        </p:txBody>
      </p:sp>
      <p:sp>
        <p:nvSpPr>
          <p:cNvPr id="61" name="Shape 51"/>
          <p:cNvSpPr/>
          <p:nvPr/>
        </p:nvSpPr>
        <p:spPr>
          <a:xfrm>
            <a:off x="6454750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2" name="Shape 52"/>
          <p:cNvSpPr/>
          <p:nvPr/>
        </p:nvSpPr>
        <p:spPr>
          <a:xfrm>
            <a:off x="6664147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3" name="Shape 53"/>
          <p:cNvSpPr/>
          <p:nvPr/>
        </p:nvSpPr>
        <p:spPr>
          <a:xfrm>
            <a:off x="6873545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4" name="Shape 54"/>
          <p:cNvSpPr/>
          <p:nvPr/>
        </p:nvSpPr>
        <p:spPr>
          <a:xfrm>
            <a:off x="7083857" y="4447642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5" name="Shape 55"/>
          <p:cNvSpPr/>
          <p:nvPr/>
        </p:nvSpPr>
        <p:spPr>
          <a:xfrm>
            <a:off x="6454750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6" name="Shape 56"/>
          <p:cNvSpPr/>
          <p:nvPr/>
        </p:nvSpPr>
        <p:spPr>
          <a:xfrm>
            <a:off x="6664147" y="5473598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7" name="Shape 57"/>
          <p:cNvSpPr/>
          <p:nvPr/>
        </p:nvSpPr>
        <p:spPr>
          <a:xfrm>
            <a:off x="6454750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8" name="Shape 58"/>
          <p:cNvSpPr/>
          <p:nvPr/>
        </p:nvSpPr>
        <p:spPr>
          <a:xfrm>
            <a:off x="7293254" y="4447642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69" name="Shape 59"/>
          <p:cNvSpPr/>
          <p:nvPr/>
        </p:nvSpPr>
        <p:spPr>
          <a:xfrm>
            <a:off x="7293254" y="5473598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70" name="Text 60"/>
          <p:cNvSpPr txBox="1"/>
          <p:nvPr/>
        </p:nvSpPr>
        <p:spPr>
          <a:xfrm>
            <a:off x="6454750" y="4619549"/>
            <a:ext cx="34107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高精度數據分析，但多依賴雲端處理</a:t>
            </a:r>
            <a:endParaRPr lang="en-US" sz="1500" dirty="0"/>
          </a:p>
        </p:txBody>
      </p:sp>
      <p:pic>
        <p:nvPicPr>
          <p:cNvPr id="7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80" b="-80"/>
          <a:stretch/>
        </p:blipFill>
        <p:spPr>
          <a:xfrm>
            <a:off x="6516929" y="5140757"/>
            <a:ext cx="142646" cy="228600"/>
          </a:xfrm>
          <a:prstGeom prst="rect">
            <a:avLst/>
          </a:prstGeom>
        </p:spPr>
      </p:pic>
      <p:sp>
        <p:nvSpPr>
          <p:cNvPr id="72" name="Shape 61"/>
          <p:cNvSpPr/>
          <p:nvPr/>
        </p:nvSpPr>
        <p:spPr>
          <a:xfrm>
            <a:off x="6873545" y="5473598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73" name="Shape 62"/>
          <p:cNvSpPr/>
          <p:nvPr/>
        </p:nvSpPr>
        <p:spPr>
          <a:xfrm>
            <a:off x="7083857" y="5473598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74" name="Text 63"/>
          <p:cNvSpPr txBox="1"/>
          <p:nvPr/>
        </p:nvSpPr>
        <p:spPr>
          <a:xfrm>
            <a:off x="6454750" y="5645506"/>
            <a:ext cx="33055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訂閱費50-100美元/月，設備成本高</a:t>
            </a:r>
            <a:endParaRPr lang="en-US" sz="1500" dirty="0"/>
          </a:p>
        </p:txBody>
      </p:sp>
      <p:pic>
        <p:nvPicPr>
          <p:cNvPr id="75" name="Image 9" descr="preencoded.png">    </p:cNvPr>
          <p:cNvPicPr>
            <a:picLocks noChangeAspect="1"/>
          </p:cNvPicPr>
          <p:nvPr/>
        </p:nvPicPr>
        <p:blipFill>
          <a:blip r:embed="rId10"/>
          <a:srcRect l="-80" r="-80" t="0" b="0"/>
          <a:stretch/>
        </p:blipFill>
        <p:spPr>
          <a:xfrm>
            <a:off x="6454750" y="6166714"/>
            <a:ext cx="286207" cy="228600"/>
          </a:xfrm>
          <a:prstGeom prst="rect">
            <a:avLst/>
          </a:prstGeom>
        </p:spPr>
      </p:pic>
      <p:sp>
        <p:nvSpPr>
          <p:cNvPr id="76" name="Text 64"/>
          <p:cNvSpPr txBox="1"/>
          <p:nvPr/>
        </p:nvSpPr>
        <p:spPr>
          <a:xfrm>
            <a:off x="6797650" y="7125919"/>
            <a:ext cx="21342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Samsung生態整合</a:t>
            </a:r>
            <a:endParaRPr lang="en-US" sz="1800" dirty="0"/>
          </a:p>
        </p:txBody>
      </p:sp>
      <p:sp>
        <p:nvSpPr>
          <p:cNvPr id="77" name="Text 65"/>
          <p:cNvSpPr txBox="1"/>
          <p:nvPr/>
        </p:nvSpPr>
        <p:spPr>
          <a:xfrm>
            <a:off x="6797650" y="8152790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技術門檻</a:t>
            </a:r>
            <a:endParaRPr lang="en-US" sz="1800" dirty="0"/>
          </a:p>
        </p:txBody>
      </p:sp>
      <p:sp>
        <p:nvSpPr>
          <p:cNvPr id="78" name="Shape 66"/>
          <p:cNvSpPr/>
          <p:nvPr/>
        </p:nvSpPr>
        <p:spPr>
          <a:xfrm>
            <a:off x="6664147" y="6500470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9" name="Shape 67"/>
          <p:cNvSpPr/>
          <p:nvPr/>
        </p:nvSpPr>
        <p:spPr>
          <a:xfrm>
            <a:off x="6454750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0" name="Shape 68"/>
          <p:cNvSpPr/>
          <p:nvPr/>
        </p:nvSpPr>
        <p:spPr>
          <a:xfrm>
            <a:off x="6664147" y="7526426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1" name="Shape 69"/>
          <p:cNvSpPr/>
          <p:nvPr/>
        </p:nvSpPr>
        <p:spPr>
          <a:xfrm>
            <a:off x="6454750" y="8552383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2" name="Shape 70"/>
          <p:cNvSpPr/>
          <p:nvPr/>
        </p:nvSpPr>
        <p:spPr>
          <a:xfrm>
            <a:off x="6664147" y="8552383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3" name="Shape 71"/>
          <p:cNvSpPr/>
          <p:nvPr/>
        </p:nvSpPr>
        <p:spPr>
          <a:xfrm>
            <a:off x="6873545" y="8552383"/>
            <a:ext cx="152705" cy="152705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4" name="Shape 72"/>
          <p:cNvSpPr/>
          <p:nvPr/>
        </p:nvSpPr>
        <p:spPr>
          <a:xfrm>
            <a:off x="6873545" y="6500470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85" name="Shape 73"/>
          <p:cNvSpPr/>
          <p:nvPr/>
        </p:nvSpPr>
        <p:spPr>
          <a:xfrm>
            <a:off x="7083857" y="6500470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86" name="Shape 74"/>
          <p:cNvSpPr/>
          <p:nvPr/>
        </p:nvSpPr>
        <p:spPr>
          <a:xfrm>
            <a:off x="7293254" y="6500470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87" name="Shape 75"/>
          <p:cNvSpPr/>
          <p:nvPr/>
        </p:nvSpPr>
        <p:spPr>
          <a:xfrm>
            <a:off x="6873545" y="7526426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88" name="Shape 76"/>
          <p:cNvSpPr/>
          <p:nvPr/>
        </p:nvSpPr>
        <p:spPr>
          <a:xfrm>
            <a:off x="7083857" y="7526426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89" name="Shape 77"/>
          <p:cNvSpPr/>
          <p:nvPr/>
        </p:nvSpPr>
        <p:spPr>
          <a:xfrm>
            <a:off x="7293254" y="7526426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90" name="Text 78"/>
          <p:cNvSpPr txBox="1"/>
          <p:nvPr/>
        </p:nvSpPr>
        <p:spPr>
          <a:xfrm>
            <a:off x="6454750" y="6671462"/>
            <a:ext cx="34107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多數需上傳雲端處理，數據歸屬不明</a:t>
            </a:r>
            <a:endParaRPr lang="en-US" sz="1500" dirty="0"/>
          </a:p>
        </p:txBody>
      </p:sp>
      <p:pic>
        <p:nvPicPr>
          <p:cNvPr id="91" name="Image 10" descr="preencoded.png">    </p:cNvPr>
          <p:cNvPicPr>
            <a:picLocks noChangeAspect="1"/>
          </p:cNvPicPr>
          <p:nvPr/>
        </p:nvPicPr>
        <p:blipFill>
          <a:blip r:embed="rId11"/>
          <a:srcRect l="-133" r="-133" t="0" b="0"/>
          <a:stretch/>
        </p:blipFill>
        <p:spPr>
          <a:xfrm>
            <a:off x="6502298" y="7192670"/>
            <a:ext cx="171907" cy="228600"/>
          </a:xfrm>
          <a:prstGeom prst="rect">
            <a:avLst/>
          </a:prstGeom>
        </p:spPr>
      </p:pic>
      <p:sp>
        <p:nvSpPr>
          <p:cNvPr id="92" name="Text 79"/>
          <p:cNvSpPr txBox="1"/>
          <p:nvPr/>
        </p:nvSpPr>
        <p:spPr>
          <a:xfrm>
            <a:off x="6454750" y="7697419"/>
            <a:ext cx="23911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僅基礎支援，無深度整合</a:t>
            </a:r>
            <a:endParaRPr lang="en-US" sz="1500" dirty="0"/>
          </a:p>
        </p:txBody>
      </p:sp>
      <p:pic>
        <p:nvPicPr>
          <p:cNvPr id="93" name="Image 11" descr="preencoded.png">    </p:cNvPr>
          <p:cNvPicPr>
            <a:picLocks noChangeAspect="1"/>
          </p:cNvPicPr>
          <p:nvPr/>
        </p:nvPicPr>
        <p:blipFill>
          <a:blip r:embed="rId12"/>
          <a:srcRect l="-80" r="-80" t="0" b="0"/>
          <a:stretch/>
        </p:blipFill>
        <p:spPr>
          <a:xfrm>
            <a:off x="6454750" y="8219542"/>
            <a:ext cx="286207" cy="228600"/>
          </a:xfrm>
          <a:prstGeom prst="rect">
            <a:avLst/>
          </a:prstGeom>
        </p:spPr>
      </p:pic>
      <p:sp>
        <p:nvSpPr>
          <p:cNvPr id="94" name="Shape 80"/>
          <p:cNvSpPr/>
          <p:nvPr/>
        </p:nvSpPr>
        <p:spPr>
          <a:xfrm>
            <a:off x="7083857" y="8552383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95" name="Shape 81"/>
          <p:cNvSpPr/>
          <p:nvPr/>
        </p:nvSpPr>
        <p:spPr>
          <a:xfrm>
            <a:off x="7293254" y="8552383"/>
            <a:ext cx="152705" cy="152705"/>
          </a:xfrm>
          <a:prstGeom prst="ellipse">
            <a:avLst/>
          </a:prstGeom>
          <a:solidFill>
            <a:srgbClr val="E0E0E0"/>
          </a:solidFill>
          <a:ln/>
        </p:spPr>
      </p:sp>
      <p:sp>
        <p:nvSpPr>
          <p:cNvPr id="96" name="Text 82"/>
          <p:cNvSpPr txBox="1"/>
          <p:nvPr/>
        </p:nvSpPr>
        <p:spPr>
          <a:xfrm>
            <a:off x="6454750" y="8724290"/>
            <a:ext cx="28008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需要特定設備與穩定網路環境</a:t>
            </a:r>
            <a:endParaRPr lang="en-US" sz="1500" dirty="0"/>
          </a:p>
        </p:txBody>
      </p:sp>
      <p:sp>
        <p:nvSpPr>
          <p:cNvPr id="97" name="Shape 83"/>
          <p:cNvSpPr/>
          <p:nvPr/>
        </p:nvSpPr>
        <p:spPr>
          <a:xfrm>
            <a:off x="6302045" y="9349740"/>
            <a:ext cx="5686654" cy="571500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98" name="Text 84"/>
          <p:cNvSpPr txBox="1"/>
          <p:nvPr/>
        </p:nvSpPr>
        <p:spPr>
          <a:xfrm>
            <a:off x="8458200" y="9464040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高端但不親民</a:t>
            </a:r>
            <a:endParaRPr lang="en-US" sz="1800" dirty="0"/>
          </a:p>
        </p:txBody>
      </p:sp>
      <p:sp>
        <p:nvSpPr>
          <p:cNvPr id="99" name="Shape 85"/>
          <p:cNvSpPr/>
          <p:nvPr/>
        </p:nvSpPr>
        <p:spPr>
          <a:xfrm>
            <a:off x="16443655" y="2057400"/>
            <a:ext cx="1723644" cy="390449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00" name="Text 86"/>
          <p:cNvSpPr txBox="1"/>
          <p:nvPr/>
        </p:nvSpPr>
        <p:spPr>
          <a:xfrm>
            <a:off x="16832275" y="1775765"/>
            <a:ext cx="110551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我們的方案</a:t>
            </a:r>
            <a:endParaRPr lang="en-US" sz="1500" dirty="0"/>
          </a:p>
        </p:txBody>
      </p:sp>
      <p:sp>
        <p:nvSpPr>
          <p:cNvPr id="101" name="Shape 87"/>
          <p:cNvSpPr/>
          <p:nvPr/>
        </p:nvSpPr>
        <p:spPr>
          <a:xfrm>
            <a:off x="12071909" y="1863547"/>
            <a:ext cx="5800954" cy="1981505"/>
          </a:xfrm>
          <a:prstGeom prst="rect">
            <a:avLst/>
          </a:prstGeom>
          <a:solidFill>
            <a:srgbClr val="E53935">
              <a:alpha val="10000"/>
            </a:srgbClr>
          </a:solidFill>
          <a:ln/>
        </p:spPr>
      </p:sp>
      <p:pic>
        <p:nvPicPr>
          <p:cNvPr id="102" name="Image 12" descr="preencoded.png">    </p:cNvPr>
          <p:cNvPicPr>
            <a:picLocks noChangeAspect="1"/>
          </p:cNvPicPr>
          <p:nvPr/>
        </p:nvPicPr>
        <p:blipFill>
          <a:blip r:embed="rId13"/>
          <a:srcRect l="-365" r="-365" t="0" b="0"/>
          <a:stretch/>
        </p:blipFill>
        <p:spPr>
          <a:xfrm>
            <a:off x="14674291" y="2174443"/>
            <a:ext cx="599846" cy="476402"/>
          </a:xfrm>
          <a:prstGeom prst="rect">
            <a:avLst/>
          </a:prstGeom>
        </p:spPr>
      </p:pic>
      <p:sp>
        <p:nvSpPr>
          <p:cNvPr id="103" name="Text 88"/>
          <p:cNvSpPr txBox="1"/>
          <p:nvPr/>
        </p:nvSpPr>
        <p:spPr>
          <a:xfrm>
            <a:off x="13598957" y="2824582"/>
            <a:ext cx="29535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</a:t>
            </a:r>
            <a:endParaRPr lang="en-US" sz="2100" dirty="0"/>
          </a:p>
        </p:txBody>
      </p:sp>
      <p:sp>
        <p:nvSpPr>
          <p:cNvPr id="104" name="Text 89"/>
          <p:cNvSpPr txBox="1"/>
          <p:nvPr/>
        </p:nvSpPr>
        <p:spPr>
          <a:xfrm>
            <a:off x="14037869" y="3311042"/>
            <a:ext cx="20391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>
                    <a:alpha val="8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智能球拍教練系統</a:t>
            </a:r>
            <a:endParaRPr lang="en-US" sz="1800" dirty="0"/>
          </a:p>
        </p:txBody>
      </p:sp>
      <p:sp>
        <p:nvSpPr>
          <p:cNvPr id="105" name="Shape 90"/>
          <p:cNvSpPr/>
          <p:nvPr/>
        </p:nvSpPr>
        <p:spPr>
          <a:xfrm>
            <a:off x="12071909" y="3834994"/>
            <a:ext cx="5800954" cy="55915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6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2246559" y="4078224"/>
            <a:ext cx="237744" cy="237744"/>
          </a:xfrm>
          <a:prstGeom prst="rect">
            <a:avLst/>
          </a:prstGeom>
        </p:spPr>
      </p:pic>
      <p:sp>
        <p:nvSpPr>
          <p:cNvPr id="107" name="Text 91"/>
          <p:cNvSpPr txBox="1"/>
          <p:nvPr/>
        </p:nvSpPr>
        <p:spPr>
          <a:xfrm>
            <a:off x="12576658" y="4010558"/>
            <a:ext cx="15718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即時數據反饋</a:t>
            </a:r>
            <a:endParaRPr lang="en-US" sz="1800" dirty="0"/>
          </a:p>
        </p:txBody>
      </p:sp>
      <p:sp>
        <p:nvSpPr>
          <p:cNvPr id="108" name="Shape 92"/>
          <p:cNvSpPr/>
          <p:nvPr/>
        </p:nvSpPr>
        <p:spPr>
          <a:xfrm>
            <a:off x="12227357" y="4418381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9" name="Shape 93"/>
          <p:cNvSpPr/>
          <p:nvPr/>
        </p:nvSpPr>
        <p:spPr>
          <a:xfrm>
            <a:off x="12441326" y="4418381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0" name="Shape 94"/>
          <p:cNvSpPr/>
          <p:nvPr/>
        </p:nvSpPr>
        <p:spPr>
          <a:xfrm>
            <a:off x="12654382" y="4418381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1" name="Shape 95"/>
          <p:cNvSpPr/>
          <p:nvPr/>
        </p:nvSpPr>
        <p:spPr>
          <a:xfrm>
            <a:off x="12868351" y="4418381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2" name="Shape 96"/>
          <p:cNvSpPr/>
          <p:nvPr/>
        </p:nvSpPr>
        <p:spPr>
          <a:xfrm>
            <a:off x="13082321" y="4418381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3" name="Text 97"/>
          <p:cNvSpPr txBox="1"/>
          <p:nvPr/>
        </p:nvSpPr>
        <p:spPr>
          <a:xfrm>
            <a:off x="12227357" y="4593031"/>
            <a:ext cx="3629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低延遲(&lt;50ms)精確反饋，85%準確率</a:t>
            </a:r>
            <a:endParaRPr lang="en-US" sz="1500" dirty="0"/>
          </a:p>
        </p:txBody>
      </p:sp>
      <p:pic>
        <p:nvPicPr>
          <p:cNvPr id="114" name="Image 14" descr="preencoded.png">    </p:cNvPr>
          <p:cNvPicPr>
            <a:picLocks noChangeAspect="1"/>
          </p:cNvPicPr>
          <p:nvPr/>
        </p:nvPicPr>
        <p:blipFill>
          <a:blip r:embed="rId15"/>
          <a:srcRect l="-1385" r="-1385" t="0" b="0"/>
          <a:stretch/>
        </p:blipFill>
        <p:spPr>
          <a:xfrm>
            <a:off x="12290450" y="5125212"/>
            <a:ext cx="152705" cy="237744"/>
          </a:xfrm>
          <a:prstGeom prst="rect">
            <a:avLst/>
          </a:prstGeom>
        </p:spPr>
      </p:pic>
      <p:sp>
        <p:nvSpPr>
          <p:cNvPr id="115" name="Text 98"/>
          <p:cNvSpPr txBox="1"/>
          <p:nvPr/>
        </p:nvSpPr>
        <p:spPr>
          <a:xfrm>
            <a:off x="12576658" y="5056632"/>
            <a:ext cx="11055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成本負擔</a:t>
            </a:r>
            <a:endParaRPr lang="en-US" sz="1800" dirty="0"/>
          </a:p>
        </p:txBody>
      </p:sp>
      <p:sp>
        <p:nvSpPr>
          <p:cNvPr id="116" name="Text 99"/>
          <p:cNvSpPr txBox="1"/>
          <p:nvPr/>
        </p:nvSpPr>
        <p:spPr>
          <a:xfrm>
            <a:off x="12576658" y="6103620"/>
            <a:ext cx="11055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隱私保護</a:t>
            </a:r>
            <a:endParaRPr lang="en-US" sz="1800" dirty="0"/>
          </a:p>
        </p:txBody>
      </p:sp>
      <p:sp>
        <p:nvSpPr>
          <p:cNvPr id="117" name="Text 100"/>
          <p:cNvSpPr txBox="1"/>
          <p:nvPr/>
        </p:nvSpPr>
        <p:spPr>
          <a:xfrm>
            <a:off x="12576658" y="7150608"/>
            <a:ext cx="21717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Samsung生態整合</a:t>
            </a:r>
            <a:endParaRPr lang="en-US" sz="1800" dirty="0"/>
          </a:p>
        </p:txBody>
      </p:sp>
      <p:sp>
        <p:nvSpPr>
          <p:cNvPr id="118" name="Text 101"/>
          <p:cNvSpPr txBox="1"/>
          <p:nvPr/>
        </p:nvSpPr>
        <p:spPr>
          <a:xfrm>
            <a:off x="12576658" y="8196682"/>
            <a:ext cx="11055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技術門檻</a:t>
            </a:r>
            <a:endParaRPr lang="en-US" sz="1800" dirty="0"/>
          </a:p>
        </p:txBody>
      </p:sp>
      <p:sp>
        <p:nvSpPr>
          <p:cNvPr id="119" name="Shape 102"/>
          <p:cNvSpPr/>
          <p:nvPr/>
        </p:nvSpPr>
        <p:spPr>
          <a:xfrm>
            <a:off x="12227357" y="5464454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0" name="Shape 103"/>
          <p:cNvSpPr/>
          <p:nvPr/>
        </p:nvSpPr>
        <p:spPr>
          <a:xfrm>
            <a:off x="12441326" y="5464454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1" name="Shape 104"/>
          <p:cNvSpPr/>
          <p:nvPr/>
        </p:nvSpPr>
        <p:spPr>
          <a:xfrm>
            <a:off x="12654382" y="5464454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2" name="Shape 105"/>
          <p:cNvSpPr/>
          <p:nvPr/>
        </p:nvSpPr>
        <p:spPr>
          <a:xfrm>
            <a:off x="12868351" y="5464454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3" name="Shape 106"/>
          <p:cNvSpPr/>
          <p:nvPr/>
        </p:nvSpPr>
        <p:spPr>
          <a:xfrm>
            <a:off x="13082321" y="5464454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4" name="Shape 107"/>
          <p:cNvSpPr/>
          <p:nvPr/>
        </p:nvSpPr>
        <p:spPr>
          <a:xfrm>
            <a:off x="12227357" y="6511442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5" name="Shape 108"/>
          <p:cNvSpPr/>
          <p:nvPr/>
        </p:nvSpPr>
        <p:spPr>
          <a:xfrm>
            <a:off x="12441326" y="6511442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6" name="Shape 109"/>
          <p:cNvSpPr/>
          <p:nvPr/>
        </p:nvSpPr>
        <p:spPr>
          <a:xfrm>
            <a:off x="12868351" y="6511442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7" name="Shape 110"/>
          <p:cNvSpPr/>
          <p:nvPr/>
        </p:nvSpPr>
        <p:spPr>
          <a:xfrm>
            <a:off x="13082321" y="6511442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8" name="Shape 111"/>
          <p:cNvSpPr/>
          <p:nvPr/>
        </p:nvSpPr>
        <p:spPr>
          <a:xfrm>
            <a:off x="12868351" y="8605418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9" name="Text 112"/>
          <p:cNvSpPr txBox="1"/>
          <p:nvPr/>
        </p:nvSpPr>
        <p:spPr>
          <a:xfrm>
            <a:off x="12227357" y="5640019"/>
            <a:ext cx="33723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硬體成本僅170港元，App免費使用</a:t>
            </a:r>
            <a:endParaRPr lang="en-US" sz="1500" dirty="0"/>
          </a:p>
        </p:txBody>
      </p:sp>
      <p:pic>
        <p:nvPicPr>
          <p:cNvPr id="130" name="Image 15" descr="preencoded.png">    </p:cNvPr>
          <p:cNvPicPr>
            <a:picLocks noChangeAspect="1"/>
          </p:cNvPicPr>
          <p:nvPr/>
        </p:nvPicPr>
        <p:blipFill>
          <a:blip r:embed="rId16"/>
          <a:srcRect l="-1231" r="-1231" t="0" b="0"/>
          <a:stretch/>
        </p:blipFill>
        <p:spPr>
          <a:xfrm>
            <a:off x="12227357" y="6171286"/>
            <a:ext cx="304495" cy="237744"/>
          </a:xfrm>
          <a:prstGeom prst="rect">
            <a:avLst/>
          </a:prstGeom>
        </p:spPr>
      </p:pic>
      <p:sp>
        <p:nvSpPr>
          <p:cNvPr id="131" name="Shape 113"/>
          <p:cNvSpPr/>
          <p:nvPr/>
        </p:nvSpPr>
        <p:spPr>
          <a:xfrm>
            <a:off x="12654382" y="6511442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2" name="Shape 114"/>
          <p:cNvSpPr/>
          <p:nvPr/>
        </p:nvSpPr>
        <p:spPr>
          <a:xfrm>
            <a:off x="12227357" y="7558430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3" name="Shape 115"/>
          <p:cNvSpPr/>
          <p:nvPr/>
        </p:nvSpPr>
        <p:spPr>
          <a:xfrm>
            <a:off x="12441326" y="7558430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4" name="Shape 116"/>
          <p:cNvSpPr/>
          <p:nvPr/>
        </p:nvSpPr>
        <p:spPr>
          <a:xfrm>
            <a:off x="12654382" y="7558430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5" name="Shape 117"/>
          <p:cNvSpPr/>
          <p:nvPr/>
        </p:nvSpPr>
        <p:spPr>
          <a:xfrm>
            <a:off x="12868351" y="7558430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6" name="Shape 118"/>
          <p:cNvSpPr/>
          <p:nvPr/>
        </p:nvSpPr>
        <p:spPr>
          <a:xfrm>
            <a:off x="13082321" y="7558430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7" name="Shape 119"/>
          <p:cNvSpPr/>
          <p:nvPr/>
        </p:nvSpPr>
        <p:spPr>
          <a:xfrm>
            <a:off x="13082321" y="8605418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8" name="Text 120"/>
          <p:cNvSpPr txBox="1"/>
          <p:nvPr/>
        </p:nvSpPr>
        <p:spPr>
          <a:xfrm>
            <a:off x="12227357" y="6686093"/>
            <a:ext cx="30577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邊緣計算，數據本地處理不外傳</a:t>
            </a:r>
            <a:endParaRPr lang="en-US" sz="1500" dirty="0"/>
          </a:p>
        </p:txBody>
      </p:sp>
      <p:pic>
        <p:nvPicPr>
          <p:cNvPr id="139" name="Image 16" descr="preencoded.png">    </p:cNvPr>
          <p:cNvPicPr>
            <a:picLocks noChangeAspect="1"/>
          </p:cNvPicPr>
          <p:nvPr/>
        </p:nvPicPr>
        <p:blipFill>
          <a:blip r:embed="rId17"/>
          <a:srcRect l="-769" r="-769" t="0" b="0"/>
          <a:stretch/>
        </p:blipFill>
        <p:spPr>
          <a:xfrm>
            <a:off x="12275820" y="7218274"/>
            <a:ext cx="181051" cy="237744"/>
          </a:xfrm>
          <a:prstGeom prst="rect">
            <a:avLst/>
          </a:prstGeom>
        </p:spPr>
      </p:pic>
      <p:sp>
        <p:nvSpPr>
          <p:cNvPr id="140" name="Shape 121"/>
          <p:cNvSpPr/>
          <p:nvPr/>
        </p:nvSpPr>
        <p:spPr>
          <a:xfrm>
            <a:off x="12441326" y="8605418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1" name="Shape 122"/>
          <p:cNvSpPr/>
          <p:nvPr/>
        </p:nvSpPr>
        <p:spPr>
          <a:xfrm>
            <a:off x="12654382" y="8605418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2" name="Text 123"/>
          <p:cNvSpPr txBox="1"/>
          <p:nvPr/>
        </p:nvSpPr>
        <p:spPr>
          <a:xfrm>
            <a:off x="12227357" y="7733081"/>
            <a:ext cx="3715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深度整合Galaxy Watch與SmartThings</a:t>
            </a:r>
            <a:endParaRPr lang="en-US" sz="1500" dirty="0"/>
          </a:p>
        </p:txBody>
      </p:sp>
      <p:pic>
        <p:nvPicPr>
          <p:cNvPr id="143" name="Image 17" descr="preencoded.png">    </p:cNvPr>
          <p:cNvPicPr>
            <a:picLocks noChangeAspect="1"/>
          </p:cNvPicPr>
          <p:nvPr/>
        </p:nvPicPr>
        <p:blipFill>
          <a:blip r:embed="rId18"/>
          <a:srcRect l="-1231" r="-1231" t="0" b="0"/>
          <a:stretch/>
        </p:blipFill>
        <p:spPr>
          <a:xfrm>
            <a:off x="12227357" y="8265262"/>
            <a:ext cx="304495" cy="237744"/>
          </a:xfrm>
          <a:prstGeom prst="rect">
            <a:avLst/>
          </a:prstGeom>
        </p:spPr>
      </p:pic>
      <p:sp>
        <p:nvSpPr>
          <p:cNvPr id="144" name="Shape 124"/>
          <p:cNvSpPr/>
          <p:nvPr/>
        </p:nvSpPr>
        <p:spPr>
          <a:xfrm>
            <a:off x="12227357" y="8605418"/>
            <a:ext cx="161849" cy="161849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5" name="Text 125"/>
          <p:cNvSpPr txBox="1"/>
          <p:nvPr/>
        </p:nvSpPr>
        <p:spPr>
          <a:xfrm>
            <a:off x="12227357" y="8780069"/>
            <a:ext cx="28483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安裝即用，任何場地皆可使用</a:t>
            </a:r>
            <a:endParaRPr lang="en-US" sz="1500" dirty="0"/>
          </a:p>
        </p:txBody>
      </p:sp>
      <p:sp>
        <p:nvSpPr>
          <p:cNvPr id="146" name="Shape 126"/>
          <p:cNvSpPr/>
          <p:nvPr/>
        </p:nvSpPr>
        <p:spPr>
          <a:xfrm>
            <a:off x="12071909" y="9418320"/>
            <a:ext cx="5800954" cy="59070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47" name="Text 127"/>
          <p:cNvSpPr txBox="1"/>
          <p:nvPr/>
        </p:nvSpPr>
        <p:spPr>
          <a:xfrm>
            <a:off x="14387170" y="9535363"/>
            <a:ext cx="13432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理想平衡點</a:t>
            </a:r>
            <a:endParaRPr lang="en-US" sz="1800" dirty="0"/>
          </a:p>
        </p:txBody>
      </p:sp>
      <p:pic>
        <p:nvPicPr>
          <p:cNvPr id="148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476402" y="10289743"/>
            <a:ext cx="200254" cy="200254"/>
          </a:xfrm>
          <a:prstGeom prst="rect">
            <a:avLst/>
          </a:prstGeom>
        </p:spPr>
      </p:pic>
      <p:sp>
        <p:nvSpPr>
          <p:cNvPr id="149" name="Text 128"/>
          <p:cNvSpPr txBox="1"/>
          <p:nvPr/>
        </p:nvSpPr>
        <p:spPr>
          <a:xfrm>
            <a:off x="752551" y="10226650"/>
            <a:ext cx="89821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Coach結合高性能、低成本與完整的Samsung生態系整合，帶來前所未有的用戶體驗</a:t>
            </a:r>
            <a:endParaRPr lang="en-US" sz="1500" dirty="0"/>
          </a:p>
        </p:txBody>
      </p:sp>
      <p:sp>
        <p:nvSpPr>
          <p:cNvPr id="150" name="Text 129"/>
          <p:cNvSpPr txBox="1"/>
          <p:nvPr/>
        </p:nvSpPr>
        <p:spPr>
          <a:xfrm>
            <a:off x="13510260" y="10226650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25/43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744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76402" y="390449"/>
            <a:ext cx="58677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用戶分層體驗: 業餘 vs 校隊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76402" y="1285646"/>
            <a:ext cx="80394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針對不同用戶群體的差異化功能設計，提供量身定制的訓練體驗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76402" y="1943100"/>
            <a:ext cx="8581644" cy="1933956"/>
          </a:xfrm>
          <a:prstGeom prst="rect">
            <a:avLst/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57" r="-57" t="0" b="0"/>
          <a:stretch/>
        </p:blipFill>
        <p:spPr>
          <a:xfrm>
            <a:off x="4567428" y="2257654"/>
            <a:ext cx="400507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069080" y="2885846"/>
            <a:ext cx="16102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業餘愛好者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3624682" y="3362249"/>
            <a:ext cx="2457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>
                    <a:alpha val="8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週末愛好者、社團玩家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76402" y="3876142"/>
            <a:ext cx="8581644" cy="530534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57" r="-57" t="0" b="0"/>
          <a:stretch/>
        </p:blipFill>
        <p:spPr>
          <a:xfrm>
            <a:off x="662026" y="4114800"/>
            <a:ext cx="200254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2007" y="4048049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訓練頻率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29107" y="4428439"/>
            <a:ext cx="47247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每週1-2次，每次1-2小時，以娛樂和健身為主</a:t>
            </a:r>
            <a:endParaRPr lang="en-US" sz="1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7395" y="498348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72007" y="4916729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核心需求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972007" y="6280099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關鍵功能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972007" y="7644384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體驗重點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9107" y="5297119"/>
            <a:ext cx="4972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基礎技術指導、進步可視化、娛樂性、易於使用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29107" y="6661404"/>
            <a:ext cx="51060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6種基本動作識別、簡單動作評分、高光時刻分享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29107" y="8025689"/>
            <a:ext cx="4972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直覺式界面、零學習門檻、即掛即用、快速分享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29107" y="5708599"/>
            <a:ext cx="838505" cy="400507"/>
          </a:xfrm>
          <a:prstGeom prst="roundRect">
            <a:avLst>
              <a:gd name="adj" fmla="val 163079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1561795" y="5708599"/>
            <a:ext cx="1047902" cy="400507"/>
          </a:xfrm>
          <a:prstGeom prst="roundRect">
            <a:avLst>
              <a:gd name="adj" fmla="val 163079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2698394" y="5708599"/>
            <a:ext cx="1047902" cy="400507"/>
          </a:xfrm>
          <a:prstGeom prst="roundRect">
            <a:avLst>
              <a:gd name="adj" fmla="val 163079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629107" y="7072884"/>
            <a:ext cx="838505" cy="400507"/>
          </a:xfrm>
          <a:prstGeom prst="roundRect">
            <a:avLst>
              <a:gd name="adj" fmla="val 163079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1561795" y="7072884"/>
            <a:ext cx="1447495" cy="400507"/>
          </a:xfrm>
          <a:prstGeom prst="roundRect">
            <a:avLst>
              <a:gd name="adj" fmla="val 163079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629107" y="8437169"/>
            <a:ext cx="1047902" cy="400507"/>
          </a:xfrm>
          <a:prstGeom prst="roundRect">
            <a:avLst>
              <a:gd name="adj" fmla="val 163079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1765706" y="8437169"/>
            <a:ext cx="1047902" cy="400507"/>
          </a:xfrm>
          <a:prstGeom prst="roundRect">
            <a:avLst>
              <a:gd name="adj" fmla="val 163079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27" name="Shape 22"/>
          <p:cNvSpPr/>
          <p:nvPr/>
        </p:nvSpPr>
        <p:spPr>
          <a:xfrm>
            <a:off x="2902306" y="8437169"/>
            <a:ext cx="1047902" cy="400507"/>
          </a:xfrm>
          <a:prstGeom prst="roundRect">
            <a:avLst>
              <a:gd name="adj" fmla="val 163079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3407" y="5757062"/>
            <a:ext cx="762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趣味性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1676095" y="5757062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簡易操作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2812694" y="5757062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基礎分析</a:t>
            </a:r>
            <a:endParaRPr lang="en-US" sz="15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7395" y="6346850"/>
            <a:ext cx="228600" cy="22860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3105302" y="7072884"/>
            <a:ext cx="1047902" cy="400507"/>
          </a:xfrm>
          <a:prstGeom prst="roundRect">
            <a:avLst>
              <a:gd name="adj" fmla="val 163079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743407" y="7120433"/>
            <a:ext cx="762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免費版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1676095" y="7120433"/>
            <a:ext cx="13716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基礎動作分析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3219602" y="7120433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社交分享</a:t>
            </a:r>
            <a:endParaRPr lang="en-US" sz="15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4" b="-44"/>
          <a:stretch/>
        </p:blipFill>
        <p:spPr>
          <a:xfrm>
            <a:off x="633679" y="7711135"/>
            <a:ext cx="256946" cy="22860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43407" y="8484718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互動反饋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1880006" y="8484718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健康記錄</a:t>
            </a:r>
            <a:endParaRPr lang="en-US" sz="1500" dirty="0"/>
          </a:p>
        </p:txBody>
      </p:sp>
      <p:sp>
        <p:nvSpPr>
          <p:cNvPr id="39" name="Text 32"/>
          <p:cNvSpPr txBox="1"/>
          <p:nvPr/>
        </p:nvSpPr>
        <p:spPr>
          <a:xfrm>
            <a:off x="3016606" y="8484718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進步激勵</a:t>
            </a:r>
            <a:endParaRPr lang="en-US" sz="1500" dirty="0"/>
          </a:p>
        </p:txBody>
      </p:sp>
      <p:sp>
        <p:nvSpPr>
          <p:cNvPr id="40" name="Shape 33"/>
          <p:cNvSpPr/>
          <p:nvPr/>
        </p:nvSpPr>
        <p:spPr>
          <a:xfrm>
            <a:off x="476402" y="9179662"/>
            <a:ext cx="8581644" cy="571500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3967582" y="9293962"/>
            <a:ext cx="1772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樂趣與進步並重</a:t>
            </a:r>
            <a:endParaRPr lang="en-US" sz="1800" dirty="0"/>
          </a:p>
        </p:txBody>
      </p:sp>
      <p:sp>
        <p:nvSpPr>
          <p:cNvPr id="42" name="Shape 35"/>
          <p:cNvSpPr/>
          <p:nvPr/>
        </p:nvSpPr>
        <p:spPr>
          <a:xfrm>
            <a:off x="9229954" y="1943100"/>
            <a:ext cx="8581644" cy="1933956"/>
          </a:xfrm>
          <a:prstGeom prst="rect">
            <a:avLst/>
          </a:prstGeom>
          <a:solidFill>
            <a:srgbClr val="E53935">
              <a:alpha val="10000"/>
            </a:srgbClr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rcRect l="-44" r="-44" t="0" b="0"/>
          <a:stretch/>
        </p:blipFill>
        <p:spPr>
          <a:xfrm>
            <a:off x="13263372" y="2257654"/>
            <a:ext cx="514807" cy="45720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2961620" y="2885846"/>
            <a:ext cx="1334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校隊選手</a:t>
            </a:r>
            <a:endParaRPr lang="en-US" sz="2100" dirty="0"/>
          </a:p>
        </p:txBody>
      </p:sp>
      <p:sp>
        <p:nvSpPr>
          <p:cNvPr id="45" name="Text 37"/>
          <p:cNvSpPr txBox="1"/>
          <p:nvPr/>
        </p:nvSpPr>
        <p:spPr>
          <a:xfrm>
            <a:off x="12491618" y="3362249"/>
            <a:ext cx="2229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>
                    <a:alpha val="8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校隊成員、競技選手</a:t>
            </a:r>
            <a:endParaRPr lang="en-US" sz="1800" dirty="0"/>
          </a:p>
        </p:txBody>
      </p:sp>
      <p:sp>
        <p:nvSpPr>
          <p:cNvPr id="46" name="Shape 38"/>
          <p:cNvSpPr/>
          <p:nvPr/>
        </p:nvSpPr>
        <p:spPr>
          <a:xfrm>
            <a:off x="9229954" y="3876142"/>
            <a:ext cx="8581644" cy="530534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rcRect l="-57" r="-57" t="0" b="0"/>
          <a:stretch/>
        </p:blipFill>
        <p:spPr>
          <a:xfrm>
            <a:off x="9415577" y="4114800"/>
            <a:ext cx="200254" cy="228600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9724644" y="4048049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訓練頻率</a:t>
            </a:r>
            <a:endParaRPr lang="en-US" sz="1800" dirty="0"/>
          </a:p>
        </p:txBody>
      </p:sp>
      <p:sp>
        <p:nvSpPr>
          <p:cNvPr id="49" name="Text 40"/>
          <p:cNvSpPr txBox="1"/>
          <p:nvPr/>
        </p:nvSpPr>
        <p:spPr>
          <a:xfrm>
            <a:off x="9724644" y="4916729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核心需求</a:t>
            </a:r>
            <a:endParaRPr lang="en-US" sz="1800" dirty="0"/>
          </a:p>
        </p:txBody>
      </p:sp>
      <p:sp>
        <p:nvSpPr>
          <p:cNvPr id="50" name="Text 41"/>
          <p:cNvSpPr txBox="1"/>
          <p:nvPr/>
        </p:nvSpPr>
        <p:spPr>
          <a:xfrm>
            <a:off x="9724644" y="7644384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體驗重點</a:t>
            </a:r>
            <a:endParaRPr lang="en-US" sz="1800" dirty="0"/>
          </a:p>
        </p:txBody>
      </p:sp>
      <p:sp>
        <p:nvSpPr>
          <p:cNvPr id="51" name="Text 42"/>
          <p:cNvSpPr txBox="1"/>
          <p:nvPr/>
        </p:nvSpPr>
        <p:spPr>
          <a:xfrm>
            <a:off x="9381744" y="4428439"/>
            <a:ext cx="44961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每週4-6次，每次2-3小時，系統性訓練計劃</a:t>
            </a:r>
            <a:endParaRPr lang="en-US" sz="1800" dirty="0"/>
          </a:p>
        </p:txBody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400946" y="4983480"/>
            <a:ext cx="228600" cy="228600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9724644" y="6280099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關鍵功能</a:t>
            </a:r>
            <a:endParaRPr lang="en-US" sz="1800" dirty="0"/>
          </a:p>
        </p:txBody>
      </p:sp>
      <p:sp>
        <p:nvSpPr>
          <p:cNvPr id="54" name="Text 44"/>
          <p:cNvSpPr txBox="1"/>
          <p:nvPr/>
        </p:nvSpPr>
        <p:spPr>
          <a:xfrm>
            <a:off x="9381744" y="5297119"/>
            <a:ext cx="5658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數據詳細分析、技術細節改進、與教練協同、進步量化</a:t>
            </a:r>
            <a:endParaRPr lang="en-US" sz="1800" dirty="0"/>
          </a:p>
        </p:txBody>
      </p:sp>
      <p:sp>
        <p:nvSpPr>
          <p:cNvPr id="55" name="Text 45"/>
          <p:cNvSpPr txBox="1"/>
          <p:nvPr/>
        </p:nvSpPr>
        <p:spPr>
          <a:xfrm>
            <a:off x="9381744" y="6661404"/>
            <a:ext cx="63724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12種高級動作識別、詳細技術分析、教練協作平台、高光集錦</a:t>
            </a:r>
            <a:endParaRPr lang="en-US" sz="1800" dirty="0"/>
          </a:p>
        </p:txBody>
      </p:sp>
      <p:sp>
        <p:nvSpPr>
          <p:cNvPr id="56" name="Text 46"/>
          <p:cNvSpPr txBox="1"/>
          <p:nvPr/>
        </p:nvSpPr>
        <p:spPr>
          <a:xfrm>
            <a:off x="9381744" y="8025689"/>
            <a:ext cx="6115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數據驅動訓練、與教練共享分析、長期進步追蹤、賽前準備</a:t>
            </a:r>
            <a:endParaRPr lang="en-US" sz="1800" dirty="0"/>
          </a:p>
        </p:txBody>
      </p:sp>
      <p:sp>
        <p:nvSpPr>
          <p:cNvPr id="57" name="Shape 47"/>
          <p:cNvSpPr/>
          <p:nvPr/>
        </p:nvSpPr>
        <p:spPr>
          <a:xfrm>
            <a:off x="9381744" y="5708599"/>
            <a:ext cx="838505" cy="400507"/>
          </a:xfrm>
          <a:prstGeom prst="roundRect">
            <a:avLst>
              <a:gd name="adj" fmla="val 163079"/>
            </a:avLst>
          </a:prstGeom>
          <a:solidFill>
            <a:srgbClr val="E53935">
              <a:alpha val="10000"/>
            </a:srgbClr>
          </a:solidFill>
          <a:ln/>
        </p:spPr>
      </p:sp>
      <p:sp>
        <p:nvSpPr>
          <p:cNvPr id="58" name="Shape 48"/>
          <p:cNvSpPr/>
          <p:nvPr/>
        </p:nvSpPr>
        <p:spPr>
          <a:xfrm>
            <a:off x="10315346" y="5708599"/>
            <a:ext cx="1047902" cy="400507"/>
          </a:xfrm>
          <a:prstGeom prst="roundRect">
            <a:avLst>
              <a:gd name="adj" fmla="val 163079"/>
            </a:avLst>
          </a:prstGeom>
          <a:solidFill>
            <a:srgbClr val="E53935">
              <a:alpha val="10000"/>
            </a:srgbClr>
          </a:solidFill>
          <a:ln/>
        </p:spPr>
      </p:sp>
      <p:sp>
        <p:nvSpPr>
          <p:cNvPr id="59" name="Shape 49"/>
          <p:cNvSpPr/>
          <p:nvPr/>
        </p:nvSpPr>
        <p:spPr>
          <a:xfrm>
            <a:off x="11451946" y="5708599"/>
            <a:ext cx="1047902" cy="400507"/>
          </a:xfrm>
          <a:prstGeom prst="roundRect">
            <a:avLst>
              <a:gd name="adj" fmla="val 163079"/>
            </a:avLst>
          </a:prstGeom>
          <a:solidFill>
            <a:srgbClr val="E53935">
              <a:alpha val="10000"/>
            </a:srgbClr>
          </a:solidFill>
          <a:ln/>
        </p:spPr>
      </p:sp>
      <p:sp>
        <p:nvSpPr>
          <p:cNvPr id="60" name="Shape 50"/>
          <p:cNvSpPr/>
          <p:nvPr/>
        </p:nvSpPr>
        <p:spPr>
          <a:xfrm>
            <a:off x="9381744" y="7072884"/>
            <a:ext cx="838505" cy="400507"/>
          </a:xfrm>
          <a:prstGeom prst="roundRect">
            <a:avLst>
              <a:gd name="adj" fmla="val 163079"/>
            </a:avLst>
          </a:prstGeom>
          <a:solidFill>
            <a:srgbClr val="E53935">
              <a:alpha val="10000"/>
            </a:srgbClr>
          </a:solidFill>
          <a:ln/>
        </p:spPr>
      </p:sp>
      <p:sp>
        <p:nvSpPr>
          <p:cNvPr id="61" name="Shape 51"/>
          <p:cNvSpPr/>
          <p:nvPr/>
        </p:nvSpPr>
        <p:spPr>
          <a:xfrm>
            <a:off x="11451946" y="7072884"/>
            <a:ext cx="1047902" cy="400507"/>
          </a:xfrm>
          <a:prstGeom prst="roundRect">
            <a:avLst>
              <a:gd name="adj" fmla="val 163079"/>
            </a:avLst>
          </a:prstGeom>
          <a:solidFill>
            <a:srgbClr val="E53935">
              <a:alpha val="10000"/>
            </a:srgbClr>
          </a:solidFill>
          <a:ln/>
        </p:spPr>
      </p:sp>
      <p:sp>
        <p:nvSpPr>
          <p:cNvPr id="62" name="Shape 52"/>
          <p:cNvSpPr/>
          <p:nvPr/>
        </p:nvSpPr>
        <p:spPr>
          <a:xfrm>
            <a:off x="9381744" y="8437169"/>
            <a:ext cx="1047902" cy="400507"/>
          </a:xfrm>
          <a:prstGeom prst="roundRect">
            <a:avLst>
              <a:gd name="adj" fmla="val 163079"/>
            </a:avLst>
          </a:prstGeom>
          <a:solidFill>
            <a:srgbClr val="E53935">
              <a:alpha val="10000"/>
            </a:srgbClr>
          </a:solidFill>
          <a:ln/>
        </p:spPr>
      </p:sp>
      <p:sp>
        <p:nvSpPr>
          <p:cNvPr id="63" name="Shape 53"/>
          <p:cNvSpPr/>
          <p:nvPr/>
        </p:nvSpPr>
        <p:spPr>
          <a:xfrm>
            <a:off x="10518343" y="8437169"/>
            <a:ext cx="1047902" cy="400507"/>
          </a:xfrm>
          <a:prstGeom prst="roundRect">
            <a:avLst>
              <a:gd name="adj" fmla="val 163079"/>
            </a:avLst>
          </a:prstGeom>
          <a:solidFill>
            <a:srgbClr val="E53935">
              <a:alpha val="10000"/>
            </a:srgbClr>
          </a:solidFill>
          <a:ln/>
        </p:spPr>
      </p:sp>
      <p:sp>
        <p:nvSpPr>
          <p:cNvPr id="64" name="Text 54"/>
          <p:cNvSpPr txBox="1"/>
          <p:nvPr/>
        </p:nvSpPr>
        <p:spPr>
          <a:xfrm>
            <a:off x="9496044" y="5757062"/>
            <a:ext cx="762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專業性</a:t>
            </a:r>
            <a:endParaRPr lang="en-US" sz="1500" dirty="0"/>
          </a:p>
        </p:txBody>
      </p:sp>
      <p:sp>
        <p:nvSpPr>
          <p:cNvPr id="65" name="Text 55"/>
          <p:cNvSpPr txBox="1"/>
          <p:nvPr/>
        </p:nvSpPr>
        <p:spPr>
          <a:xfrm>
            <a:off x="10429646" y="5757062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數據深度</a:t>
            </a:r>
            <a:endParaRPr lang="en-US" sz="1500" dirty="0"/>
          </a:p>
        </p:txBody>
      </p:sp>
      <p:sp>
        <p:nvSpPr>
          <p:cNvPr id="66" name="Text 56"/>
          <p:cNvSpPr txBox="1"/>
          <p:nvPr/>
        </p:nvSpPr>
        <p:spPr>
          <a:xfrm>
            <a:off x="11566246" y="5757062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技術精進</a:t>
            </a:r>
            <a:endParaRPr lang="en-US" sz="1500" dirty="0"/>
          </a:p>
        </p:txBody>
      </p:sp>
      <p:pic>
        <p:nvPicPr>
          <p:cNvPr id="6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400946" y="6346850"/>
            <a:ext cx="228600" cy="228600"/>
          </a:xfrm>
          <a:prstGeom prst="rect">
            <a:avLst/>
          </a:prstGeom>
        </p:spPr>
      </p:pic>
      <p:sp>
        <p:nvSpPr>
          <p:cNvPr id="68" name="Shape 57"/>
          <p:cNvSpPr/>
          <p:nvPr/>
        </p:nvSpPr>
        <p:spPr>
          <a:xfrm>
            <a:off x="10315346" y="7072884"/>
            <a:ext cx="1047902" cy="400507"/>
          </a:xfrm>
          <a:prstGeom prst="roundRect">
            <a:avLst>
              <a:gd name="adj" fmla="val 163079"/>
            </a:avLst>
          </a:prstGeom>
          <a:solidFill>
            <a:srgbClr val="E53935">
              <a:alpha val="10000"/>
            </a:srgbClr>
          </a:solidFill>
          <a:ln/>
        </p:spPr>
      </p:sp>
      <p:sp>
        <p:nvSpPr>
          <p:cNvPr id="69" name="Shape 58"/>
          <p:cNvSpPr/>
          <p:nvPr/>
        </p:nvSpPr>
        <p:spPr>
          <a:xfrm>
            <a:off x="11654942" y="8437169"/>
            <a:ext cx="1047902" cy="400507"/>
          </a:xfrm>
          <a:prstGeom prst="roundRect">
            <a:avLst>
              <a:gd name="adj" fmla="val 163079"/>
            </a:avLst>
          </a:prstGeom>
          <a:solidFill>
            <a:srgbClr val="E53935">
              <a:alpha val="10000"/>
            </a:srgbClr>
          </a:solidFill>
          <a:ln/>
        </p:spPr>
      </p:sp>
      <p:sp>
        <p:nvSpPr>
          <p:cNvPr id="70" name="Text 59"/>
          <p:cNvSpPr txBox="1"/>
          <p:nvPr/>
        </p:nvSpPr>
        <p:spPr>
          <a:xfrm>
            <a:off x="9496044" y="7120433"/>
            <a:ext cx="762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高級版</a:t>
            </a:r>
            <a:endParaRPr lang="en-US" sz="1500" dirty="0"/>
          </a:p>
        </p:txBody>
      </p:sp>
      <p:sp>
        <p:nvSpPr>
          <p:cNvPr id="71" name="Text 60"/>
          <p:cNvSpPr txBox="1"/>
          <p:nvPr/>
        </p:nvSpPr>
        <p:spPr>
          <a:xfrm>
            <a:off x="10429646" y="7120433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數據導出</a:t>
            </a:r>
            <a:endParaRPr lang="en-US" sz="1500" dirty="0"/>
          </a:p>
        </p:txBody>
      </p:sp>
      <p:sp>
        <p:nvSpPr>
          <p:cNvPr id="72" name="Text 61"/>
          <p:cNvSpPr txBox="1"/>
          <p:nvPr/>
        </p:nvSpPr>
        <p:spPr>
          <a:xfrm>
            <a:off x="11566246" y="7120433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教練協作</a:t>
            </a:r>
            <a:endParaRPr lang="en-US" sz="1500" dirty="0"/>
          </a:p>
        </p:txBody>
      </p:sp>
      <p:pic>
        <p:nvPicPr>
          <p:cNvPr id="7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4" b="-44"/>
          <a:stretch/>
        </p:blipFill>
        <p:spPr>
          <a:xfrm>
            <a:off x="9387230" y="7711135"/>
            <a:ext cx="256946" cy="228600"/>
          </a:xfrm>
          <a:prstGeom prst="rect">
            <a:avLst/>
          </a:prstGeom>
        </p:spPr>
      </p:pic>
      <p:sp>
        <p:nvSpPr>
          <p:cNvPr id="74" name="Text 62"/>
          <p:cNvSpPr txBox="1"/>
          <p:nvPr/>
        </p:nvSpPr>
        <p:spPr>
          <a:xfrm>
            <a:off x="9496044" y="8484718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數據分析</a:t>
            </a:r>
            <a:endParaRPr lang="en-US" sz="1500" dirty="0"/>
          </a:p>
        </p:txBody>
      </p:sp>
      <p:sp>
        <p:nvSpPr>
          <p:cNvPr id="75" name="Text 63"/>
          <p:cNvSpPr txBox="1"/>
          <p:nvPr/>
        </p:nvSpPr>
        <p:spPr>
          <a:xfrm>
            <a:off x="10632643" y="8484718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技術改進</a:t>
            </a:r>
            <a:endParaRPr lang="en-US" sz="1500" dirty="0"/>
          </a:p>
        </p:txBody>
      </p:sp>
      <p:sp>
        <p:nvSpPr>
          <p:cNvPr id="76" name="Text 64"/>
          <p:cNvSpPr txBox="1"/>
          <p:nvPr/>
        </p:nvSpPr>
        <p:spPr>
          <a:xfrm>
            <a:off x="11769242" y="8484718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賽事準備</a:t>
            </a:r>
            <a:endParaRPr lang="en-US" sz="1500" dirty="0"/>
          </a:p>
        </p:txBody>
      </p:sp>
      <p:sp>
        <p:nvSpPr>
          <p:cNvPr id="77" name="Shape 65"/>
          <p:cNvSpPr/>
          <p:nvPr/>
        </p:nvSpPr>
        <p:spPr>
          <a:xfrm>
            <a:off x="9229954" y="9179662"/>
            <a:ext cx="8581644" cy="571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78" name="Text 66"/>
          <p:cNvSpPr txBox="1"/>
          <p:nvPr/>
        </p:nvSpPr>
        <p:spPr>
          <a:xfrm>
            <a:off x="12720218" y="9293962"/>
            <a:ext cx="1772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專業與成長兼備</a:t>
            </a:r>
            <a:endParaRPr lang="en-US" sz="1800" dirty="0"/>
          </a:p>
        </p:txBody>
      </p:sp>
      <p:pic>
        <p:nvPicPr>
          <p:cNvPr id="7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76402" y="10119665"/>
            <a:ext cx="200254" cy="200254"/>
          </a:xfrm>
          <a:prstGeom prst="rect">
            <a:avLst/>
          </a:prstGeom>
        </p:spPr>
      </p:pic>
      <p:sp>
        <p:nvSpPr>
          <p:cNvPr id="80" name="Text 67"/>
          <p:cNvSpPr txBox="1"/>
          <p:nvPr/>
        </p:nvSpPr>
        <p:spPr>
          <a:xfrm>
            <a:off x="752551" y="10056571"/>
            <a:ext cx="72676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基於多層級用戶需求設計的產品策略，確保不同層級用戶都能獲得最適合的價值</a:t>
            </a:r>
            <a:endParaRPr lang="en-US" sz="1500" dirty="0"/>
          </a:p>
        </p:txBody>
      </p:sp>
      <p:sp>
        <p:nvSpPr>
          <p:cNvPr id="81" name="Text 68"/>
          <p:cNvSpPr txBox="1"/>
          <p:nvPr/>
        </p:nvSpPr>
        <p:spPr>
          <a:xfrm>
            <a:off x="13510260" y="10056571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26/43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29400" y="2147926"/>
            <a:ext cx="53821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高光一刻×三星生態價值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192524" y="3129077"/>
            <a:ext cx="10096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將「高光一刻」功能與三星獨家生態系統深度整合，創造差異化競爭優勢與獨特用戶體驗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80744" y="3414370"/>
            <a:ext cx="2857500" cy="2857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7D3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508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044598" y="4351630"/>
            <a:ext cx="17629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Watch推送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781251" y="4838090"/>
            <a:ext cx="2229307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訓練中精彩瞬間自動推送至Galaxy Watch，即時震動提醒，無需查看手機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52744" y="3414370"/>
            <a:ext cx="2857500" cy="2857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3935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508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607" r="-607" t="0" b="0"/>
          <a:stretch/>
        </p:blipFill>
        <p:spPr>
          <a:xfrm>
            <a:off x="7186270" y="3823106"/>
            <a:ext cx="390449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772046" y="4351630"/>
            <a:ext cx="1457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智慧家庭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6353251" y="4838090"/>
            <a:ext cx="2229307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透過SmartThings自動化場景，訓練高光時刻可觸發家中智能設備互動反饋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477756" y="4367174"/>
            <a:ext cx="2857500" cy="2857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3935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508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735056" y="4775911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96144" y="5304434"/>
            <a:ext cx="1457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健康數據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9877349" y="5789981"/>
            <a:ext cx="2229307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與Samsung Health深度整合，結合心率、消耗卡路里等生理數據進行全面分析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14049756" y="4367174"/>
            <a:ext cx="2857500" cy="2857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7D3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508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743" r="-743" t="0" b="0"/>
          <a:stretch/>
        </p:blipFill>
        <p:spPr>
          <a:xfrm>
            <a:off x="15325344" y="4638751"/>
            <a:ext cx="304495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868144" y="5167274"/>
            <a:ext cx="1457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一鍵分享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14449349" y="5652821"/>
            <a:ext cx="2229307" cy="1438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透過Samsung Social獨家整合，一鍵分享高光片段到多個社群平台，提升參與度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47395" y="9791395"/>
            <a:ext cx="60487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三星生態系統獨家整合：創造普通運動產品無法提供的沉浸式體驗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3415162" y="9791395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27/43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8287207" y="4772254"/>
            <a:ext cx="1714500" cy="1714500"/>
          </a:xfrm>
          <a:prstGeom prst="ellipse">
            <a:avLst/>
          </a:prstGeom>
          <a:solidFill>
            <a:srgbClr val="1F77D3"/>
          </a:solidFill>
          <a:ln/>
          <a:effectLst>
            <a:outerShdw sx="100000" sy="100000" kx="0" ky="0" algn="bl" rotWithShape="0" blurRad="139700" dist="50800" dir="5400000">
              <a:srgbClr val="000000">
                <a:alpha val="20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8534095" y="5410505"/>
            <a:ext cx="1457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三星生態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485546"/>
            <a:ext cx="26389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使用者影響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552651"/>
            <a:ext cx="80302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對不同用戶群體的數據驅動訓練革命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1695" y="2667305"/>
            <a:ext cx="8238744" cy="3047695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286646" y="2667305"/>
            <a:ext cx="8238744" cy="3047695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286646" y="6001207"/>
            <a:ext cx="8238744" cy="3047695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87207" y="2905049"/>
            <a:ext cx="476402" cy="476402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80" r="-80" t="0" b="0"/>
          <a:stretch/>
        </p:blipFill>
        <p:spPr>
          <a:xfrm>
            <a:off x="8382305" y="3029407"/>
            <a:ext cx="286207" cy="228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1695" y="6001207"/>
            <a:ext cx="8238744" cy="3047695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6811244" y="2905049"/>
            <a:ext cx="476402" cy="476402"/>
          </a:xfrm>
          <a:prstGeom prst="ellipse">
            <a:avLst/>
          </a:prstGeom>
          <a:solidFill>
            <a:srgbClr val="E53935">
              <a:alpha val="1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287207" y="6238951"/>
            <a:ext cx="476402" cy="476402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47902" y="2962656"/>
            <a:ext cx="1047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教練端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9572854" y="2962656"/>
            <a:ext cx="1047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球員端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1047902" y="6295644"/>
            <a:ext cx="1047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學校端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1047902" y="3524098"/>
            <a:ext cx="5201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從經驗教學到數據輔助指導，提升教學質量與效率</a:t>
            </a:r>
            <a:endParaRPr lang="en-US" sz="1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7902" y="4162349"/>
            <a:ext cx="228600" cy="2286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6811244" y="6238951"/>
            <a:ext cx="476402" cy="476402"/>
          </a:xfrm>
          <a:prstGeom prst="ellipse">
            <a:avLst/>
          </a:prstGeom>
          <a:solidFill>
            <a:srgbClr val="E53935">
              <a:alpha val="10000"/>
            </a:srgbClr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9572854" y="6295644"/>
            <a:ext cx="1047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家庭端</a:t>
            </a:r>
            <a:endParaRPr lang="en-US" sz="2100" dirty="0"/>
          </a:p>
        </p:txBody>
      </p:sp>
      <p:sp>
        <p:nvSpPr>
          <p:cNvPr id="20" name="Text 16"/>
          <p:cNvSpPr txBox="1"/>
          <p:nvPr/>
        </p:nvSpPr>
        <p:spPr>
          <a:xfrm>
            <a:off x="9572854" y="3524098"/>
            <a:ext cx="4743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自主練習也能獲得專業級反饋，加速技術進步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1047902" y="6858000"/>
            <a:ext cx="4058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優化體育資源分配，提升整體訓練質量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9572854" y="6858000"/>
            <a:ext cx="3829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創造親子互動新方式，記錄成長歷程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1276502" y="4104742"/>
            <a:ext cx="42391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數據化教學：匯出CSV檔案進行深入分析</a:t>
            </a:r>
            <a:endParaRPr lang="en-US" sz="18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902" y="4600346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276502" y="4543654"/>
            <a:ext cx="3143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客觀評估：減少主觀判斷偏差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9801454" y="4104742"/>
            <a:ext cx="3829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即時反饋：揮拍後立即獲得動作評分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9801454" y="4543654"/>
            <a:ext cx="3829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進步可視化：直觀查看技術提升曲線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1047902" y="4990795"/>
            <a:ext cx="132405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40%</a:t>
            </a:r>
            <a:endParaRPr lang="en-US" sz="3600" dirty="0"/>
          </a:p>
        </p:txBody>
      </p:sp>
      <p:sp>
        <p:nvSpPr>
          <p:cNvPr id="29" name="Text 24"/>
          <p:cNvSpPr txBox="1"/>
          <p:nvPr/>
        </p:nvSpPr>
        <p:spPr>
          <a:xfrm>
            <a:off x="9572854" y="4990795"/>
            <a:ext cx="107716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3倍</a:t>
            </a:r>
            <a:endParaRPr lang="en-US" sz="3600" dirty="0"/>
          </a:p>
        </p:txBody>
      </p:sp>
      <p:sp>
        <p:nvSpPr>
          <p:cNvPr id="30" name="Text 25"/>
          <p:cNvSpPr txBox="1"/>
          <p:nvPr/>
        </p:nvSpPr>
        <p:spPr>
          <a:xfrm>
            <a:off x="2123237" y="5152644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教學效率提升</a:t>
            </a:r>
            <a:endParaRPr lang="en-US" sz="18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rcRect l="-80" r="-80" t="0" b="0"/>
          <a:stretch/>
        </p:blipFill>
        <p:spPr>
          <a:xfrm>
            <a:off x="16907256" y="3029407"/>
            <a:ext cx="286207" cy="228600"/>
          </a:xfrm>
          <a:prstGeom prst="rect">
            <a:avLst/>
          </a:prstGeom>
        </p:spPr>
      </p:pic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572854" y="4162349"/>
            <a:ext cx="228600" cy="228600"/>
          </a:xfrm>
          <a:prstGeom prst="rect">
            <a:avLst/>
          </a:prstGeom>
        </p:spPr>
      </p:pic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572854" y="4600346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276502" y="7438644"/>
            <a:ext cx="4515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訓練效率提升：更高效地利用有限場地時間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10394899" y="5152644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技術進步速度</a:t>
            </a:r>
            <a:endParaRPr lang="en-US" sz="18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-80" r="-80" t="0" b="0"/>
          <a:stretch/>
        </p:blipFill>
        <p:spPr>
          <a:xfrm>
            <a:off x="8382305" y="6362395"/>
            <a:ext cx="286207" cy="228600"/>
          </a:xfrm>
          <a:prstGeom prst="rect">
            <a:avLst/>
          </a:prstGeom>
        </p:spPr>
      </p:pic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47902" y="7496251"/>
            <a:ext cx="228600" cy="228600"/>
          </a:xfrm>
          <a:prstGeom prst="rect">
            <a:avLst/>
          </a:prstGeom>
        </p:spPr>
      </p:pic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47902" y="7934249"/>
            <a:ext cx="228600" cy="22860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276502" y="7876642"/>
            <a:ext cx="4286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資源優化：一位教練可同時輔導更多學生</a:t>
            </a:r>
            <a:endParaRPr lang="en-US" sz="1800" dirty="0"/>
          </a:p>
        </p:txBody>
      </p:sp>
      <p:sp>
        <p:nvSpPr>
          <p:cNvPr id="40" name="Text 29"/>
          <p:cNvSpPr txBox="1"/>
          <p:nvPr/>
        </p:nvSpPr>
        <p:spPr>
          <a:xfrm>
            <a:off x="9801454" y="7438644"/>
            <a:ext cx="3829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親子互動：共同參與數據分析與訓練</a:t>
            </a:r>
            <a:endParaRPr lang="en-US" sz="1800" dirty="0"/>
          </a:p>
        </p:txBody>
      </p:sp>
      <p:sp>
        <p:nvSpPr>
          <p:cNvPr id="41" name="Text 30"/>
          <p:cNvSpPr txBox="1"/>
          <p:nvPr/>
        </p:nvSpPr>
        <p:spPr>
          <a:xfrm>
            <a:off x="9801454" y="7876642"/>
            <a:ext cx="4286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成長記錄：完整保存訓練歷程與高光時刻</a:t>
            </a:r>
            <a:endParaRPr lang="en-US" sz="1800" dirty="0"/>
          </a:p>
        </p:txBody>
      </p:sp>
      <p:sp>
        <p:nvSpPr>
          <p:cNvPr id="42" name="Text 31"/>
          <p:cNvSpPr txBox="1"/>
          <p:nvPr/>
        </p:nvSpPr>
        <p:spPr>
          <a:xfrm>
            <a:off x="1047902" y="8324698"/>
            <a:ext cx="132405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65%</a:t>
            </a:r>
            <a:endParaRPr lang="en-US" sz="3600" dirty="0"/>
          </a:p>
        </p:txBody>
      </p:sp>
      <p:sp>
        <p:nvSpPr>
          <p:cNvPr id="43" name="Text 32"/>
          <p:cNvSpPr txBox="1"/>
          <p:nvPr/>
        </p:nvSpPr>
        <p:spPr>
          <a:xfrm>
            <a:off x="9572854" y="8324698"/>
            <a:ext cx="132405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85%</a:t>
            </a:r>
            <a:endParaRPr lang="en-US" sz="3600" dirty="0"/>
          </a:p>
        </p:txBody>
      </p:sp>
      <p:sp>
        <p:nvSpPr>
          <p:cNvPr id="44" name="Text 33"/>
          <p:cNvSpPr txBox="1"/>
          <p:nvPr/>
        </p:nvSpPr>
        <p:spPr>
          <a:xfrm>
            <a:off x="2123237" y="8486546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教學資源節省</a:t>
            </a:r>
            <a:endParaRPr lang="en-US" sz="1800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4" b="-44"/>
          <a:stretch/>
        </p:blipFill>
        <p:spPr>
          <a:xfrm>
            <a:off x="16920972" y="6362395"/>
            <a:ext cx="256946" cy="228600"/>
          </a:xfrm>
          <a:prstGeom prst="rect">
            <a:avLst/>
          </a:prstGeom>
        </p:spPr>
      </p:pic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572854" y="7496251"/>
            <a:ext cx="228600" cy="228600"/>
          </a:xfrm>
          <a:prstGeom prst="rect">
            <a:avLst/>
          </a:prstGeom>
        </p:spPr>
      </p:pic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572854" y="7934249"/>
            <a:ext cx="228600" cy="228600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10648188" y="8486546"/>
            <a:ext cx="1314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家長滿意度</a:t>
            </a:r>
            <a:endParaRPr lang="en-US" sz="1800" dirty="0"/>
          </a:p>
        </p:txBody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rcRect l="-80" r="-80" t="0" b="0"/>
          <a:stretch/>
        </p:blipFill>
        <p:spPr>
          <a:xfrm>
            <a:off x="761695" y="9677095"/>
            <a:ext cx="286207" cy="228600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1123798" y="9610344"/>
            <a:ext cx="44961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全方位影響 • 多層級價值 • 數據驅動訓練</a:t>
            </a:r>
            <a:endParaRPr lang="en-US" sz="1800" dirty="0"/>
          </a:p>
        </p:txBody>
      </p:sp>
      <p:sp>
        <p:nvSpPr>
          <p:cNvPr id="51" name="Text 36"/>
          <p:cNvSpPr txBox="1"/>
          <p:nvPr/>
        </p:nvSpPr>
        <p:spPr>
          <a:xfrm>
            <a:off x="13224053" y="9610344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28/43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580644"/>
            <a:ext cx="35533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與三星共創未來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742846"/>
            <a:ext cx="8410651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提出三個開放式戰略問題，邀請評審共同探索合作機會，共同開創運動科技新局面。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2841955"/>
            <a:ext cx="8410651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我們相信，結合 Samsung 的先進科技生態系統與 SmartRacket Coach 的運動分析創新，能夠創造出雙贏的價值主張。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71500" y="3931006"/>
            <a:ext cx="8287207" cy="1067105"/>
          </a:xfrm>
          <a:prstGeom prst="rect">
            <a:avLst/>
          </a:prstGeom>
          <a:solidFill>
            <a:srgbClr val="1F77D3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3931006"/>
            <a:ext cx="47549" cy="106710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9244" y="4121201"/>
            <a:ext cx="803026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核心價值：將 SmartRacket Coach 整合進 Samsung 生態系統，創造獨特用戶體驗，為雙方帶來差異化競爭優勢與新的商業機會。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5378501"/>
            <a:ext cx="1981505" cy="19815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30207" y="571500"/>
            <a:ext cx="8287207" cy="2505456"/>
          </a:xfrm>
          <a:prstGeom prst="roundRect">
            <a:avLst>
              <a:gd name="adj" fmla="val 22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635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430207" y="571500"/>
            <a:ext cx="57607" cy="2505456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12" name="Shape 9"/>
          <p:cNvSpPr/>
          <p:nvPr/>
        </p:nvSpPr>
        <p:spPr>
          <a:xfrm>
            <a:off x="9430207" y="3314700"/>
            <a:ext cx="8287207" cy="2505456"/>
          </a:xfrm>
          <a:prstGeom prst="roundRect">
            <a:avLst>
              <a:gd name="adj" fmla="val 22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635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430207" y="3314700"/>
            <a:ext cx="57607" cy="2505456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14" name="Shape 11"/>
          <p:cNvSpPr/>
          <p:nvPr/>
        </p:nvSpPr>
        <p:spPr>
          <a:xfrm>
            <a:off x="9724644" y="428854"/>
            <a:ext cx="381305" cy="381305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840773" y="428854"/>
            <a:ext cx="34381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2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7125798" y="809244"/>
            <a:ext cx="352044" cy="35204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9430207" y="6057900"/>
            <a:ext cx="8287207" cy="2505456"/>
          </a:xfrm>
          <a:prstGeom prst="roundRect">
            <a:avLst>
              <a:gd name="adj" fmla="val 22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635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430207" y="6057900"/>
            <a:ext cx="57607" cy="2505456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19" name="Shape 15"/>
          <p:cNvSpPr/>
          <p:nvPr/>
        </p:nvSpPr>
        <p:spPr>
          <a:xfrm>
            <a:off x="9724644" y="3172054"/>
            <a:ext cx="381305" cy="381305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0" name="Shape 16"/>
          <p:cNvSpPr/>
          <p:nvPr/>
        </p:nvSpPr>
        <p:spPr>
          <a:xfrm>
            <a:off x="9724644" y="5915254"/>
            <a:ext cx="381305" cy="381305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9840773" y="3172054"/>
            <a:ext cx="34381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9868205" y="961949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Samsung AI 晶片整合可能性</a:t>
            </a:r>
            <a:endParaRPr lang="en-US" sz="2400" dirty="0"/>
          </a:p>
        </p:txBody>
      </p:sp>
      <p:sp>
        <p:nvSpPr>
          <p:cNvPr id="23" name="Text 19"/>
          <p:cNvSpPr txBox="1"/>
          <p:nvPr/>
        </p:nvSpPr>
        <p:spPr>
          <a:xfrm>
            <a:off x="9868205" y="3705149"/>
            <a:ext cx="37536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Galaxy 生態深度整合潛力</a:t>
            </a:r>
            <a:endParaRPr lang="en-US" sz="2400" dirty="0"/>
          </a:p>
        </p:txBody>
      </p:sp>
      <p:sp>
        <p:nvSpPr>
          <p:cNvPr id="24" name="Text 20"/>
          <p:cNvSpPr txBox="1"/>
          <p:nvPr/>
        </p:nvSpPr>
        <p:spPr>
          <a:xfrm>
            <a:off x="9868205" y="1552651"/>
            <a:ext cx="76297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如何利用 Samsung 最新的 AI 晶片技術，將運動分析精度從現有的 85% 提升至 95% 以上？這將為用戶帶來更精準的即時反饋體驗。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9868205" y="4295851"/>
            <a:ext cx="7754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如何將 SmartRacket Coach 的「高光一刻」功能深度整合至 Galaxy 手機、手錶和平板，創造無縫的跨裝置體驗？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9868205" y="2381098"/>
            <a:ext cx="1772107" cy="457200"/>
          </a:xfrm>
          <a:prstGeom prst="roundRect">
            <a:avLst>
              <a:gd name="adj" fmla="val 125000"/>
            </a:avLst>
          </a:prstGeom>
          <a:solidFill>
            <a:srgbClr val="E53935">
              <a:alpha val="10000"/>
            </a:srgbClr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010851" y="2521001"/>
            <a:ext cx="200254" cy="200254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9868205" y="5124298"/>
            <a:ext cx="2438705" cy="457200"/>
          </a:xfrm>
          <a:prstGeom prst="roundRect">
            <a:avLst>
              <a:gd name="adj" fmla="val 125000"/>
            </a:avLst>
          </a:prstGeom>
          <a:solidFill>
            <a:srgbClr val="E53935">
              <a:alpha val="10000"/>
            </a:srgbClr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10211105" y="2457907"/>
            <a:ext cx="14383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精度提升 50%</a:t>
            </a:r>
            <a:endParaRPr lang="en-US" sz="15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-563" r="-563" t="0" b="0"/>
          <a:stretch/>
        </p:blipFill>
        <p:spPr>
          <a:xfrm>
            <a:off x="17211751" y="3552444"/>
            <a:ext cx="267005" cy="352044"/>
          </a:xfrm>
          <a:prstGeom prst="rect">
            <a:avLst/>
          </a:prstGeom>
        </p:spPr>
      </p:pic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-1324" r="-1324" t="0" b="0"/>
          <a:stretch/>
        </p:blipFill>
        <p:spPr>
          <a:xfrm>
            <a:off x="10010851" y="5264201"/>
            <a:ext cx="256946" cy="20025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840773" y="5915254"/>
            <a:ext cx="34381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2000" dirty="0"/>
          </a:p>
        </p:txBody>
      </p:sp>
      <p:sp>
        <p:nvSpPr>
          <p:cNvPr id="33" name="Text 26"/>
          <p:cNvSpPr txBox="1"/>
          <p:nvPr/>
        </p:nvSpPr>
        <p:spPr>
          <a:xfrm>
            <a:off x="9868205" y="7039051"/>
            <a:ext cx="7754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Samsung 的全球銷售網絡能如何協助 SmartRacket Coach 快速擴展市場？透過何種合作模式能最大化雙方價值？</a:t>
            </a:r>
            <a:endParaRPr lang="en-US" sz="1800" dirty="0"/>
          </a:p>
        </p:txBody>
      </p:sp>
      <p:sp>
        <p:nvSpPr>
          <p:cNvPr id="34" name="Shape 27"/>
          <p:cNvSpPr/>
          <p:nvPr/>
        </p:nvSpPr>
        <p:spPr>
          <a:xfrm>
            <a:off x="9868205" y="7867498"/>
            <a:ext cx="2124151" cy="457200"/>
          </a:xfrm>
          <a:prstGeom prst="roundRect">
            <a:avLst>
              <a:gd name="adj" fmla="val 125000"/>
            </a:avLst>
          </a:prstGeom>
          <a:solidFill>
            <a:srgbClr val="E53935">
              <a:alpha val="10000"/>
            </a:srgbClr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10267798" y="5201107"/>
            <a:ext cx="20482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用戶留存率提升 35%</a:t>
            </a:r>
            <a:endParaRPr lang="en-US" sz="15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7125798" y="6295644"/>
            <a:ext cx="352044" cy="35204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868205" y="6448349"/>
            <a:ext cx="26773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全球市場推廣策略</a:t>
            </a:r>
            <a:endParaRPr lang="en-US" sz="24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010851" y="8007401"/>
            <a:ext cx="200254" cy="20025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0211105" y="7944307"/>
            <a:ext cx="17913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覆蓋 3 億潛在用戶</a:t>
            </a:r>
            <a:endParaRPr lang="en-US" sz="1500" dirty="0"/>
          </a:p>
        </p:txBody>
      </p:sp>
      <p:sp>
        <p:nvSpPr>
          <p:cNvPr id="40" name="Text 31"/>
          <p:cNvSpPr txBox="1"/>
          <p:nvPr/>
        </p:nvSpPr>
        <p:spPr>
          <a:xfrm>
            <a:off x="13953744" y="9734702"/>
            <a:ext cx="39054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29/43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485546"/>
            <a:ext cx="35533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可負擔性與普及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552651"/>
            <a:ext cx="6639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以普惠科技理念，讓智能訓練輔助不再高不可攀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1695" y="2572207"/>
            <a:ext cx="5400446" cy="2667305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128602" y="2572207"/>
            <a:ext cx="5400446" cy="2667305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45252" y="2809951"/>
            <a:ext cx="476402" cy="476402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68696" y="2933395"/>
            <a:ext cx="228600" cy="228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45606" y="2572207"/>
            <a:ext cx="5400446" cy="2667305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1128248" y="2809951"/>
            <a:ext cx="476402" cy="476402"/>
          </a:xfrm>
          <a:prstGeom prst="ellipse">
            <a:avLst/>
          </a:prstGeom>
          <a:solidFill>
            <a:srgbClr val="E53935">
              <a:alpha val="10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47902" y="2723998"/>
            <a:ext cx="27624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170港元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6730898" y="2723998"/>
            <a:ext cx="31245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2499港元</a:t>
            </a:r>
            <a:endParaRPr lang="en-US" sz="4800" dirty="0"/>
          </a:p>
        </p:txBody>
      </p:sp>
      <p:sp>
        <p:nvSpPr>
          <p:cNvPr id="13" name="Text 10"/>
          <p:cNvSpPr txBox="1"/>
          <p:nvPr/>
        </p:nvSpPr>
        <p:spPr>
          <a:xfrm>
            <a:off x="1047902" y="3524098"/>
            <a:ext cx="1334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硬體成本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1047902" y="4086454"/>
            <a:ext cx="49341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透過選用開源硬體與低成本IMU傳感器，實現專業級功能，成本僅為市面產品的1/10</a:t>
            </a:r>
            <a:endParaRPr lang="en-US" sz="1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-57" r="-57" t="0" b="0"/>
          <a:stretch/>
        </p:blipFill>
        <p:spPr>
          <a:xfrm>
            <a:off x="11266322" y="2933395"/>
            <a:ext cx="200254" cy="2286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6811244" y="2809951"/>
            <a:ext cx="476402" cy="476402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730898" y="3524098"/>
            <a:ext cx="1886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完整套裝定價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6730898" y="4086454"/>
            <a:ext cx="494416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含傳感器、手機App、雲端服務，比專業訓練營一個月費用還低，卻能提供長期訓練支援</a:t>
            </a:r>
            <a:endParaRPr lang="en-US" sz="1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-80" r="-80" t="0" b="0"/>
          <a:stretch/>
        </p:blipFill>
        <p:spPr>
          <a:xfrm>
            <a:off x="16907256" y="2933395"/>
            <a:ext cx="286207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413894" y="2723998"/>
            <a:ext cx="1429207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3億</a:t>
            </a:r>
            <a:endParaRPr lang="en-US" sz="4800" dirty="0"/>
          </a:p>
        </p:txBody>
      </p:sp>
      <p:sp>
        <p:nvSpPr>
          <p:cNvPr id="21" name="Text 16"/>
          <p:cNvSpPr txBox="1"/>
          <p:nvPr/>
        </p:nvSpPr>
        <p:spPr>
          <a:xfrm>
            <a:off x="12413894" y="3524098"/>
            <a:ext cx="1886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全球潛在用戶</a:t>
            </a:r>
            <a:endParaRPr lang="en-US" sz="2100" dirty="0"/>
          </a:p>
        </p:txBody>
      </p:sp>
      <p:sp>
        <p:nvSpPr>
          <p:cNvPr id="22" name="Text 17"/>
          <p:cNvSpPr txBox="1"/>
          <p:nvPr/>
        </p:nvSpPr>
        <p:spPr>
          <a:xfrm>
            <a:off x="12413894" y="4086454"/>
            <a:ext cx="48865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全球有超過3億乒乓球愛好者，80%缺乏專業指導，低成本高效能方案可填補巨大市場空缺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761695" y="5524805"/>
            <a:ext cx="8238744" cy="2667305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287207" y="5762549"/>
            <a:ext cx="476402" cy="476402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410651" y="5886907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47902" y="5676595"/>
            <a:ext cx="26481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3大場景</a:t>
            </a:r>
            <a:endParaRPr lang="en-US" sz="4800" dirty="0"/>
          </a:p>
        </p:txBody>
      </p:sp>
      <p:sp>
        <p:nvSpPr>
          <p:cNvPr id="27" name="Text 21"/>
          <p:cNvSpPr txBox="1"/>
          <p:nvPr/>
        </p:nvSpPr>
        <p:spPr>
          <a:xfrm>
            <a:off x="1047902" y="6476695"/>
            <a:ext cx="1886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支援應用場景</a:t>
            </a:r>
            <a:endParaRPr lang="en-US" sz="2100" dirty="0"/>
          </a:p>
        </p:txBody>
      </p:sp>
      <p:sp>
        <p:nvSpPr>
          <p:cNvPr id="28" name="Text 22"/>
          <p:cNvSpPr txBox="1"/>
          <p:nvPr/>
        </p:nvSpPr>
        <p:spPr>
          <a:xfrm>
            <a:off x="1047902" y="7039051"/>
            <a:ext cx="77157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居家練習、俱樂部訓練、學校體育課，三大主要場景全覆蓋，滿足不同用戶群體的多元需求</a:t>
            </a:r>
            <a:endParaRPr lang="en-US" sz="18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-133" r="-133" t="0" b="0"/>
          <a:stretch/>
        </p:blipFill>
        <p:spPr>
          <a:xfrm>
            <a:off x="761695" y="9677095"/>
            <a:ext cx="171907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09498" y="9610344"/>
            <a:ext cx="35817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普惠科技 • 數據驅動 • 全民運動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13224053" y="9610344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30/43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580644"/>
            <a:ext cx="59820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應用場景擴展:從球拍到更多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837944"/>
            <a:ext cx="8392363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Coach的低成本IMU傳感器技術框架具有極高可遷移性，能從乒乓球拓展到更廣泛的運動與健康領域，為各種揮拍動作提供精準分析。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2855671"/>
            <a:ext cx="8401507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我們的混合計算架構與特徵提取算法，經過微調後能適配不同的運動模式，為多種運動項目帶來專業級訓練輔助，降低入門門檻。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73398"/>
            <a:ext cx="8401507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透過標準化的硬體設計與可擴展的軟體平台，我們的技術可快速適應不同場景，每個新場景都只需少量數據即可完成遷移。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71500" y="4881067"/>
            <a:ext cx="8287207" cy="1067105"/>
          </a:xfrm>
          <a:prstGeom prst="rect">
            <a:avLst/>
          </a:prstGeom>
          <a:solidFill>
            <a:srgbClr val="1F77D3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4881067"/>
            <a:ext cx="47549" cy="106710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9244" y="5071262"/>
            <a:ext cx="8001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市場潛力：從單一運動到多運動擴展，潛在用戶群體從3億增長至10億+，同時技術整合將創造持續性競爭壁壘。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844430" y="571500"/>
            <a:ext cx="7457846" cy="2752344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635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082174" y="890626"/>
            <a:ext cx="571500" cy="571500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-80" r="-80" t="0" b="0"/>
          <a:stretch/>
        </p:blipFill>
        <p:spPr>
          <a:xfrm>
            <a:off x="10224821" y="1061618"/>
            <a:ext cx="286207" cy="2286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844430" y="3562502"/>
            <a:ext cx="7457846" cy="2523744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635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844430" y="6323990"/>
            <a:ext cx="7457846" cy="2523744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635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0082174" y="3880714"/>
            <a:ext cx="571500" cy="571500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0082174" y="6643116"/>
            <a:ext cx="571500" cy="571500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843870" y="819302"/>
            <a:ext cx="1886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其他球拍運動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10843870" y="3810305"/>
            <a:ext cx="16102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揮拍類運動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10843870" y="6571793"/>
            <a:ext cx="1886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健康監測應用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10843870" y="1238098"/>
            <a:ext cx="36100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適用於多種球拍類運動，相似揮拍機制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843870" y="4229100"/>
            <a:ext cx="3200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具有類似揮拍動作的其他運動項目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0843870" y="6990588"/>
            <a:ext cx="3200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拓展至健康與醫療領域的應用場景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0082174" y="1733702"/>
            <a:ext cx="2266798" cy="1352398"/>
          </a:xfrm>
          <a:prstGeom prst="roundRect">
            <a:avLst>
              <a:gd name="adj" fmla="val 3809"/>
            </a:avLst>
          </a:prstGeom>
          <a:solidFill>
            <a:srgbClr val="1F77D3">
              <a:alpha val="5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2441326" y="1733702"/>
            <a:ext cx="2266798" cy="1352398"/>
          </a:xfrm>
          <a:prstGeom prst="roundRect">
            <a:avLst>
              <a:gd name="adj" fmla="val 3809"/>
            </a:avLst>
          </a:prstGeom>
          <a:solidFill>
            <a:srgbClr val="1F77D3">
              <a:alpha val="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4800478" y="1733702"/>
            <a:ext cx="2266798" cy="1352398"/>
          </a:xfrm>
          <a:prstGeom prst="roundRect">
            <a:avLst>
              <a:gd name="adj" fmla="val 3809"/>
            </a:avLst>
          </a:prstGeom>
          <a:solidFill>
            <a:srgbClr val="1F77D3">
              <a:alpha val="5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0082174" y="4723790"/>
            <a:ext cx="2266798" cy="1123798"/>
          </a:xfrm>
          <a:prstGeom prst="roundRect">
            <a:avLst>
              <a:gd name="adj" fmla="val 5516"/>
            </a:avLst>
          </a:prstGeom>
          <a:solidFill>
            <a:srgbClr val="1F77D3">
              <a:alpha val="5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2441326" y="4723790"/>
            <a:ext cx="2266798" cy="1123798"/>
          </a:xfrm>
          <a:prstGeom prst="roundRect">
            <a:avLst>
              <a:gd name="adj" fmla="val 5516"/>
            </a:avLst>
          </a:prstGeom>
          <a:solidFill>
            <a:srgbClr val="1F77D3">
              <a:alpha val="5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14800478" y="4723790"/>
            <a:ext cx="2266798" cy="1123798"/>
          </a:xfrm>
          <a:prstGeom prst="roundRect">
            <a:avLst>
              <a:gd name="adj" fmla="val 5516"/>
            </a:avLst>
          </a:prstGeom>
          <a:solidFill>
            <a:srgbClr val="1F77D3">
              <a:alpha val="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0082174" y="7486193"/>
            <a:ext cx="2266798" cy="1123798"/>
          </a:xfrm>
          <a:prstGeom prst="roundRect">
            <a:avLst>
              <a:gd name="adj" fmla="val 5516"/>
            </a:avLst>
          </a:prstGeom>
          <a:solidFill>
            <a:srgbClr val="1F77D3">
              <a:alpha val="5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12441326" y="7486193"/>
            <a:ext cx="2266798" cy="1123798"/>
          </a:xfrm>
          <a:prstGeom prst="roundRect">
            <a:avLst>
              <a:gd name="adj" fmla="val 5516"/>
            </a:avLst>
          </a:prstGeom>
          <a:solidFill>
            <a:srgbClr val="1F77D3">
              <a:alpha val="5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14800478" y="7486193"/>
            <a:ext cx="2266798" cy="1123798"/>
          </a:xfrm>
          <a:prstGeom prst="roundRect">
            <a:avLst>
              <a:gd name="adj" fmla="val 5516"/>
            </a:avLst>
          </a:prstGeom>
          <a:solidFill>
            <a:srgbClr val="1F77D3">
              <a:alpha val="5000"/>
            </a:srgbClr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1011205" y="1848002"/>
            <a:ext cx="5623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網球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223906" y="2200046"/>
            <a:ext cx="2105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揮拍角度、力量控制、旋轉分析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3267944" y="1848002"/>
            <a:ext cx="762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羽毛球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12658954" y="2200046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擊球點判定、技術動作分類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5728594" y="1848002"/>
            <a:ext cx="5623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壁球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5094001" y="2200046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力量分布、手腕角度控制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11011205" y="4838090"/>
            <a:ext cx="5623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棒球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10375697" y="5191049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揮棒速度、擊球點精準度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13267944" y="4838090"/>
            <a:ext cx="762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高爾夫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2734849" y="5191049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揮杆軌跡、力量傳遞分析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15728594" y="4838090"/>
            <a:ext cx="5623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板球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15094001" y="5191049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揮擊力量、擊球角度控制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13166446" y="7600493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姿勢矯正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15525598" y="7600493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老年照護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15094001" y="7952537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跌倒預警、行動能力評估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10641787" y="2704795"/>
            <a:ext cx="12865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8.7億潛在用戶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13000939" y="2476195"/>
            <a:ext cx="12865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2.2億潛在用戶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15285110" y="2476195"/>
            <a:ext cx="1429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2000萬潛在用戶</a:t>
            </a:r>
            <a:endParaRPr lang="en-US" sz="1400" dirty="0"/>
          </a:p>
        </p:txBody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254082" y="4052621"/>
            <a:ext cx="228600" cy="228600"/>
          </a:xfrm>
          <a:prstGeom prst="rect">
            <a:avLst/>
          </a:prstGeom>
        </p:spPr>
      </p:pic>
      <p:sp>
        <p:nvSpPr>
          <p:cNvPr id="51" name="Text 47"/>
          <p:cNvSpPr txBox="1"/>
          <p:nvPr/>
        </p:nvSpPr>
        <p:spPr>
          <a:xfrm>
            <a:off x="10807294" y="7600493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復健訓練</a:t>
            </a:r>
            <a:endParaRPr lang="en-US" sz="1500" dirty="0"/>
          </a:p>
        </p:txBody>
      </p:sp>
      <p:sp>
        <p:nvSpPr>
          <p:cNvPr id="52" name="Text 48"/>
          <p:cNvSpPr txBox="1"/>
          <p:nvPr/>
        </p:nvSpPr>
        <p:spPr>
          <a:xfrm>
            <a:off x="10299802" y="7952537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動作精確度、康復進度跟蹤</a:t>
            </a:r>
            <a:endParaRPr lang="en-US" sz="1200" dirty="0"/>
          </a:p>
        </p:txBody>
      </p:sp>
      <p:sp>
        <p:nvSpPr>
          <p:cNvPr id="53" name="Text 49"/>
          <p:cNvSpPr txBox="1"/>
          <p:nvPr/>
        </p:nvSpPr>
        <p:spPr>
          <a:xfrm>
            <a:off x="10719511" y="5467198"/>
            <a:ext cx="1124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5億潛在用戶</a:t>
            </a:r>
            <a:endParaRPr lang="en-US" sz="1400" dirty="0"/>
          </a:p>
        </p:txBody>
      </p:sp>
      <p:sp>
        <p:nvSpPr>
          <p:cNvPr id="54" name="Text 50"/>
          <p:cNvSpPr txBox="1"/>
          <p:nvPr/>
        </p:nvSpPr>
        <p:spPr>
          <a:xfrm>
            <a:off x="12925958" y="5467198"/>
            <a:ext cx="1429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6600萬潛在用戶</a:t>
            </a:r>
            <a:endParaRPr lang="en-US" sz="1400" dirty="0"/>
          </a:p>
        </p:txBody>
      </p:sp>
      <p:sp>
        <p:nvSpPr>
          <p:cNvPr id="55" name="Text 51"/>
          <p:cNvSpPr txBox="1"/>
          <p:nvPr/>
        </p:nvSpPr>
        <p:spPr>
          <a:xfrm>
            <a:off x="15360091" y="5467198"/>
            <a:ext cx="12865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2.5億潛在用戶</a:t>
            </a:r>
            <a:endParaRPr lang="en-US" sz="1400" dirty="0"/>
          </a:p>
        </p:txBody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54082" y="6815023"/>
            <a:ext cx="228600" cy="228600"/>
          </a:xfrm>
          <a:prstGeom prst="rect">
            <a:avLst/>
          </a:prstGeom>
        </p:spPr>
      </p:pic>
      <p:sp>
        <p:nvSpPr>
          <p:cNvPr id="57" name="Text 52"/>
          <p:cNvSpPr txBox="1"/>
          <p:nvPr/>
        </p:nvSpPr>
        <p:spPr>
          <a:xfrm>
            <a:off x="12734849" y="7952537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不良姿態識別、矯正提醒</a:t>
            </a:r>
            <a:endParaRPr lang="en-US" sz="1200" dirty="0"/>
          </a:p>
        </p:txBody>
      </p:sp>
      <p:sp>
        <p:nvSpPr>
          <p:cNvPr id="58" name="Text 53"/>
          <p:cNvSpPr txBox="1"/>
          <p:nvPr/>
        </p:nvSpPr>
        <p:spPr>
          <a:xfrm>
            <a:off x="10719511" y="8229600"/>
            <a:ext cx="1124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3億潛在用戶</a:t>
            </a:r>
            <a:endParaRPr lang="en-US" sz="1400" dirty="0"/>
          </a:p>
        </p:txBody>
      </p:sp>
      <p:sp>
        <p:nvSpPr>
          <p:cNvPr id="59" name="Text 54"/>
          <p:cNvSpPr txBox="1"/>
          <p:nvPr/>
        </p:nvSpPr>
        <p:spPr>
          <a:xfrm>
            <a:off x="12977165" y="8229600"/>
            <a:ext cx="1334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10億+潛在用戶</a:t>
            </a:r>
            <a:endParaRPr lang="en-US" sz="1400" dirty="0"/>
          </a:p>
        </p:txBody>
      </p:sp>
      <p:sp>
        <p:nvSpPr>
          <p:cNvPr id="60" name="Text 55"/>
          <p:cNvSpPr txBox="1"/>
          <p:nvPr/>
        </p:nvSpPr>
        <p:spPr>
          <a:xfrm>
            <a:off x="15436901" y="8229600"/>
            <a:ext cx="1124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7億潛在用戶</a:t>
            </a:r>
            <a:endParaRPr lang="en-US" sz="1400" dirty="0"/>
          </a:p>
        </p:txBody>
      </p:sp>
      <p:sp>
        <p:nvSpPr>
          <p:cNvPr id="61" name="Text 56"/>
          <p:cNvSpPr txBox="1"/>
          <p:nvPr/>
        </p:nvSpPr>
        <p:spPr>
          <a:xfrm>
            <a:off x="13953744" y="9734702"/>
            <a:ext cx="39054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31/43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5534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76402" y="390449"/>
            <a:ext cx="78108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商業模式:Freemium訂閱與雙邊市場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76402" y="1285646"/>
            <a:ext cx="70299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清晰的商業策略：分層訂閱模式與B2C/B2B2C雙邊市場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76402" y="1943100"/>
            <a:ext cx="5686654" cy="2409444"/>
          </a:xfrm>
          <a:prstGeom prst="rect">
            <a:avLst/>
          </a:prstGeom>
          <a:solidFill>
            <a:srgbClr val="808080">
              <a:alpha val="1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88843" y="2257654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898648" y="2885846"/>
            <a:ext cx="1047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免費版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2777033" y="3390595"/>
            <a:ext cx="10287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HK$0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3576218" y="3504895"/>
            <a:ext cx="4389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>
                    <a:alpha val="7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/月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288743" y="3838651"/>
            <a:ext cx="2229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>
                    <a:alpha val="8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入門體驗，基礎功能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76402" y="4352544"/>
            <a:ext cx="5686654" cy="3886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80" r="-80" t="0" b="0"/>
          <a:stretch/>
        </p:blipFill>
        <p:spPr>
          <a:xfrm>
            <a:off x="629107" y="4591202"/>
            <a:ext cx="286207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72007" y="4524451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目標用戶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29107" y="49240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初學者 休閒愛好者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7395" y="539130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72007" y="5324551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功能列表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9107" y="5724144"/>
            <a:ext cx="28200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基礎動作分類（4種動作）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29107" y="6181344"/>
            <a:ext cx="154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即時反饋評分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29107" y="6638544"/>
            <a:ext cx="154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每週訓練總結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29107" y="7095744"/>
            <a:ext cx="154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高光一刻功能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29107" y="7552944"/>
            <a:ext cx="154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深度數據分析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476402" y="8238744"/>
            <a:ext cx="5686654" cy="5715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2631643" y="8353044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吸引用戶入門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10791749" y="2133295"/>
            <a:ext cx="1485900" cy="381305"/>
          </a:xfrm>
          <a:prstGeom prst="rect">
            <a:avLst/>
          </a:prstGeom>
          <a:solidFill>
            <a:srgbClr val="1F77D3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11143793" y="1928470"/>
            <a:ext cx="943661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熱門選擇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302045" y="1943100"/>
            <a:ext cx="5686654" cy="2409444"/>
          </a:xfrm>
          <a:prstGeom prst="rect">
            <a:avLst/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-44" r="-44" t="0" b="0"/>
          <a:stretch/>
        </p:blipFill>
        <p:spPr>
          <a:xfrm>
            <a:off x="8887054" y="2257654"/>
            <a:ext cx="514807" cy="4572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725205" y="2885846"/>
            <a:ext cx="1047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高級版</a:t>
            </a:r>
            <a:endParaRPr lang="en-US" sz="2100" dirty="0"/>
          </a:p>
        </p:txBody>
      </p:sp>
      <p:sp>
        <p:nvSpPr>
          <p:cNvPr id="29" name="Text 23"/>
          <p:cNvSpPr txBox="1"/>
          <p:nvPr/>
        </p:nvSpPr>
        <p:spPr>
          <a:xfrm>
            <a:off x="8513064" y="3390595"/>
            <a:ext cx="12097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HK$49</a:t>
            </a:r>
            <a:endParaRPr lang="en-US" sz="2400" dirty="0"/>
          </a:p>
        </p:txBody>
      </p:sp>
      <p:sp>
        <p:nvSpPr>
          <p:cNvPr id="30" name="Text 24"/>
          <p:cNvSpPr txBox="1"/>
          <p:nvPr/>
        </p:nvSpPr>
        <p:spPr>
          <a:xfrm>
            <a:off x="9493301" y="3504895"/>
            <a:ext cx="4389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>
                    <a:alpha val="7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/月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8001000" y="3838651"/>
            <a:ext cx="2457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>
                    <a:alpha val="8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全功能體驗，個人成長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6302045" y="4352544"/>
            <a:ext cx="5686654" cy="3886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6454750" y="4591202"/>
            <a:ext cx="286207" cy="2286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797650" y="4524451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目標用戶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6454750" y="49240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進階球員 業餘賽事參與者</a:t>
            </a:r>
            <a:endParaRPr lang="en-US" sz="12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73952" y="5391302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6797650" y="5324551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功能列表</a:t>
            </a:r>
            <a:endParaRPr lang="en-US" sz="1800" dirty="0"/>
          </a:p>
        </p:txBody>
      </p:sp>
      <p:sp>
        <p:nvSpPr>
          <p:cNvPr id="38" name="Text 30"/>
          <p:cNvSpPr txBox="1"/>
          <p:nvPr/>
        </p:nvSpPr>
        <p:spPr>
          <a:xfrm>
            <a:off x="6454750" y="5724144"/>
            <a:ext cx="28200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全部動作分類（6種動作）</a:t>
            </a:r>
            <a:endParaRPr lang="en-US" sz="1800" dirty="0"/>
          </a:p>
        </p:txBody>
      </p:sp>
      <p:sp>
        <p:nvSpPr>
          <p:cNvPr id="39" name="Text 31"/>
          <p:cNvSpPr txBox="1"/>
          <p:nvPr/>
        </p:nvSpPr>
        <p:spPr>
          <a:xfrm>
            <a:off x="6454750" y="6181344"/>
            <a:ext cx="20007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高光一刻自動捕捉</a:t>
            </a:r>
            <a:endParaRPr lang="en-US" sz="1800" dirty="0"/>
          </a:p>
        </p:txBody>
      </p:sp>
      <p:sp>
        <p:nvSpPr>
          <p:cNvPr id="40" name="Text 32"/>
          <p:cNvSpPr txBox="1"/>
          <p:nvPr/>
        </p:nvSpPr>
        <p:spPr>
          <a:xfrm>
            <a:off x="6454750" y="6638544"/>
            <a:ext cx="2229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進階數據分析與圖表</a:t>
            </a:r>
            <a:endParaRPr lang="en-US" sz="1800" dirty="0"/>
          </a:p>
        </p:txBody>
      </p:sp>
      <p:sp>
        <p:nvSpPr>
          <p:cNvPr id="41" name="Text 33"/>
          <p:cNvSpPr txBox="1"/>
          <p:nvPr/>
        </p:nvSpPr>
        <p:spPr>
          <a:xfrm>
            <a:off x="6454750" y="7095744"/>
            <a:ext cx="205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Galaxy Watch整合</a:t>
            </a:r>
            <a:endParaRPr lang="en-US" sz="1800" dirty="0"/>
          </a:p>
        </p:txBody>
      </p:sp>
      <p:sp>
        <p:nvSpPr>
          <p:cNvPr id="42" name="Text 34"/>
          <p:cNvSpPr txBox="1"/>
          <p:nvPr/>
        </p:nvSpPr>
        <p:spPr>
          <a:xfrm>
            <a:off x="6454750" y="7552944"/>
            <a:ext cx="17721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個性化訓練建議</a:t>
            </a:r>
            <a:endParaRPr lang="en-US" sz="1800" dirty="0"/>
          </a:p>
        </p:txBody>
      </p:sp>
      <p:sp>
        <p:nvSpPr>
          <p:cNvPr id="43" name="Shape 35"/>
          <p:cNvSpPr/>
          <p:nvPr/>
        </p:nvSpPr>
        <p:spPr>
          <a:xfrm>
            <a:off x="6302045" y="8238744"/>
            <a:ext cx="5686654" cy="571500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44" name="Text 36"/>
          <p:cNvSpPr txBox="1"/>
          <p:nvPr/>
        </p:nvSpPr>
        <p:spPr>
          <a:xfrm>
            <a:off x="8343900" y="8353044"/>
            <a:ext cx="1772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最佳性價比選擇</a:t>
            </a:r>
            <a:endParaRPr lang="en-US" sz="1800" dirty="0"/>
          </a:p>
        </p:txBody>
      </p:sp>
      <p:sp>
        <p:nvSpPr>
          <p:cNvPr id="45" name="Shape 37"/>
          <p:cNvSpPr/>
          <p:nvPr/>
        </p:nvSpPr>
        <p:spPr>
          <a:xfrm>
            <a:off x="12071909" y="1874520"/>
            <a:ext cx="5800954" cy="2467051"/>
          </a:xfrm>
          <a:prstGeom prst="rect">
            <a:avLst/>
          </a:prstGeom>
          <a:solidFill>
            <a:srgbClr val="E53935">
              <a:alpha val="10000"/>
            </a:srgbClr>
          </a:solidFill>
          <a:ln/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rcRect l="-672" r="-672" t="0" b="0"/>
          <a:stretch/>
        </p:blipFill>
        <p:spPr>
          <a:xfrm>
            <a:off x="14790420" y="2185416"/>
            <a:ext cx="362102" cy="476402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14542618" y="2836469"/>
            <a:ext cx="10671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企業版</a:t>
            </a:r>
            <a:endParaRPr lang="en-US" sz="2100" dirty="0"/>
          </a:p>
        </p:txBody>
      </p:sp>
      <p:sp>
        <p:nvSpPr>
          <p:cNvPr id="48" name="Text 39"/>
          <p:cNvSpPr txBox="1"/>
          <p:nvPr/>
        </p:nvSpPr>
        <p:spPr>
          <a:xfrm>
            <a:off x="14235379" y="3351276"/>
            <a:ext cx="142006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HK$299</a:t>
            </a:r>
            <a:endParaRPr lang="en-US" sz="2400" dirty="0"/>
          </a:p>
        </p:txBody>
      </p:sp>
      <p:sp>
        <p:nvSpPr>
          <p:cNvPr id="49" name="Text 40"/>
          <p:cNvSpPr txBox="1"/>
          <p:nvPr/>
        </p:nvSpPr>
        <p:spPr>
          <a:xfrm>
            <a:off x="15417698" y="3467405"/>
            <a:ext cx="4480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>
                    <a:alpha val="7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/月</a:t>
            </a:r>
            <a:endParaRPr lang="en-US" sz="1500" dirty="0"/>
          </a:p>
        </p:txBody>
      </p:sp>
      <p:sp>
        <p:nvSpPr>
          <p:cNvPr id="50" name="Text 41"/>
          <p:cNvSpPr txBox="1"/>
          <p:nvPr/>
        </p:nvSpPr>
        <p:spPr>
          <a:xfrm>
            <a:off x="13920826" y="3807562"/>
            <a:ext cx="22768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>
                    <a:alpha val="8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團隊管理，專業培訓</a:t>
            </a:r>
            <a:endParaRPr lang="en-US" sz="1800" dirty="0"/>
          </a:p>
        </p:txBody>
      </p:sp>
      <p:sp>
        <p:nvSpPr>
          <p:cNvPr id="51" name="Shape 42"/>
          <p:cNvSpPr/>
          <p:nvPr/>
        </p:nvSpPr>
        <p:spPr>
          <a:xfrm>
            <a:off x="12071909" y="4332427"/>
            <a:ext cx="5800954" cy="397215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rcRect l="-1231" r="-1231" t="0" b="0"/>
          <a:stretch/>
        </p:blipFill>
        <p:spPr>
          <a:xfrm>
            <a:off x="12227357" y="4574743"/>
            <a:ext cx="304495" cy="237744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12576658" y="4507078"/>
            <a:ext cx="11055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目標用戶</a:t>
            </a:r>
            <a:endParaRPr lang="en-US" sz="1800" dirty="0"/>
          </a:p>
        </p:txBody>
      </p:sp>
      <p:sp>
        <p:nvSpPr>
          <p:cNvPr id="54" name="Text 44"/>
          <p:cNvSpPr txBox="1"/>
          <p:nvPr/>
        </p:nvSpPr>
        <p:spPr>
          <a:xfrm>
            <a:off x="12576658" y="5322722"/>
            <a:ext cx="11055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功能列表</a:t>
            </a:r>
            <a:endParaRPr lang="en-US" sz="1800" dirty="0"/>
          </a:p>
        </p:txBody>
      </p:sp>
      <p:sp>
        <p:nvSpPr>
          <p:cNvPr id="55" name="Text 45"/>
          <p:cNvSpPr txBox="1"/>
          <p:nvPr/>
        </p:nvSpPr>
        <p:spPr>
          <a:xfrm>
            <a:off x="12227357" y="4914900"/>
            <a:ext cx="23628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教練團隊 學校俱樂部 專業訓練營</a:t>
            </a:r>
            <a:endParaRPr lang="en-US" sz="1200" dirty="0"/>
          </a:p>
        </p:txBody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2246559" y="5391302"/>
            <a:ext cx="237744" cy="237744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12227357" y="5731459"/>
            <a:ext cx="18105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高級版全部功能</a:t>
            </a:r>
            <a:endParaRPr lang="en-US" sz="1800" dirty="0"/>
          </a:p>
        </p:txBody>
      </p:sp>
      <p:sp>
        <p:nvSpPr>
          <p:cNvPr id="58" name="Text 47"/>
          <p:cNvSpPr txBox="1"/>
          <p:nvPr/>
        </p:nvSpPr>
        <p:spPr>
          <a:xfrm>
            <a:off x="12227357" y="6197803"/>
            <a:ext cx="18105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團隊管理儀表板</a:t>
            </a:r>
            <a:endParaRPr lang="en-US" sz="1800" dirty="0"/>
          </a:p>
        </p:txBody>
      </p:sp>
      <p:sp>
        <p:nvSpPr>
          <p:cNvPr id="59" name="Text 48"/>
          <p:cNvSpPr txBox="1"/>
          <p:nvPr/>
        </p:nvSpPr>
        <p:spPr>
          <a:xfrm>
            <a:off x="12227357" y="6664147"/>
            <a:ext cx="227685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多人數據對比與分析</a:t>
            </a:r>
            <a:endParaRPr lang="en-US" sz="1800" dirty="0"/>
          </a:p>
        </p:txBody>
      </p:sp>
      <p:sp>
        <p:nvSpPr>
          <p:cNvPr id="60" name="Text 49"/>
          <p:cNvSpPr txBox="1"/>
          <p:nvPr/>
        </p:nvSpPr>
        <p:spPr>
          <a:xfrm>
            <a:off x="12227357" y="7130491"/>
            <a:ext cx="18105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客製化品牌整合</a:t>
            </a:r>
            <a:endParaRPr lang="en-US" sz="1800" dirty="0"/>
          </a:p>
        </p:txBody>
      </p:sp>
      <p:sp>
        <p:nvSpPr>
          <p:cNvPr id="61" name="Text 50"/>
          <p:cNvSpPr txBox="1"/>
          <p:nvPr/>
        </p:nvSpPr>
        <p:spPr>
          <a:xfrm>
            <a:off x="12227357" y="7596835"/>
            <a:ext cx="15718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優先技術支援</a:t>
            </a:r>
            <a:endParaRPr lang="en-US" sz="1800" dirty="0"/>
          </a:p>
        </p:txBody>
      </p:sp>
      <p:sp>
        <p:nvSpPr>
          <p:cNvPr id="62" name="Shape 51"/>
          <p:cNvSpPr/>
          <p:nvPr/>
        </p:nvSpPr>
        <p:spPr>
          <a:xfrm>
            <a:off x="12071909" y="8296351"/>
            <a:ext cx="5800954" cy="59070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3" name="Text 52"/>
          <p:cNvSpPr txBox="1"/>
          <p:nvPr/>
        </p:nvSpPr>
        <p:spPr>
          <a:xfrm>
            <a:off x="14271041" y="8412480"/>
            <a:ext cx="15718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專業團隊首選</a:t>
            </a:r>
            <a:endParaRPr lang="en-US" sz="1800" dirty="0"/>
          </a:p>
        </p:txBody>
      </p:sp>
      <p:sp>
        <p:nvSpPr>
          <p:cNvPr id="64" name="Shape 53"/>
          <p:cNvSpPr/>
          <p:nvPr/>
        </p:nvSpPr>
        <p:spPr>
          <a:xfrm>
            <a:off x="476402" y="9096451"/>
            <a:ext cx="8572500" cy="1514246"/>
          </a:xfrm>
          <a:prstGeom prst="roundRect">
            <a:avLst>
              <a:gd name="adj" fmla="val 5697"/>
            </a:avLst>
          </a:prstGeom>
          <a:noFill/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90500" dist="50800" dir="5400000">
              <a:srgbClr val="000000">
                <a:alpha val="5000"/>
              </a:srgbClr>
            </a:outerShdw>
          </a:effectLst>
        </p:spPr>
      </p:sp>
      <p:sp>
        <p:nvSpPr>
          <p:cNvPr id="65" name="Shape 54"/>
          <p:cNvSpPr/>
          <p:nvPr/>
        </p:nvSpPr>
        <p:spPr>
          <a:xfrm>
            <a:off x="9239098" y="9096451"/>
            <a:ext cx="8572500" cy="1514246"/>
          </a:xfrm>
          <a:prstGeom prst="roundRect">
            <a:avLst>
              <a:gd name="adj" fmla="val 5697"/>
            </a:avLst>
          </a:prstGeom>
          <a:noFill/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90500" dist="50800" dir="5400000">
              <a:srgbClr val="000000">
                <a:alpha val="5000"/>
              </a:srgbClr>
            </a:outerShdw>
          </a:effectLst>
        </p:spPr>
      </p:sp>
      <p:sp>
        <p:nvSpPr>
          <p:cNvPr id="66" name="Text 55"/>
          <p:cNvSpPr txBox="1"/>
          <p:nvPr/>
        </p:nvSpPr>
        <p:spPr>
          <a:xfrm>
            <a:off x="629107" y="9258300"/>
            <a:ext cx="19339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B2C 市場策略</a:t>
            </a:r>
            <a:endParaRPr lang="en-US" sz="2100" dirty="0"/>
          </a:p>
        </p:txBody>
      </p:sp>
      <p:sp>
        <p:nvSpPr>
          <p:cNvPr id="67" name="Text 56"/>
          <p:cNvSpPr txBox="1"/>
          <p:nvPr/>
        </p:nvSpPr>
        <p:spPr>
          <a:xfrm>
            <a:off x="9391802" y="9258300"/>
            <a:ext cx="2286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B2B2C 市場策略</a:t>
            </a:r>
            <a:endParaRPr lang="en-US" sz="2100" dirty="0"/>
          </a:p>
        </p:txBody>
      </p:sp>
      <p:sp>
        <p:nvSpPr>
          <p:cNvPr id="68" name="Text 57"/>
          <p:cNvSpPr txBox="1"/>
          <p:nvPr/>
        </p:nvSpPr>
        <p:spPr>
          <a:xfrm>
            <a:off x="629107" y="9772193"/>
            <a:ext cx="84015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直接面向個人用戶的入門級產品，免費版吸引用戶體驗，通過低門檻高級版提供全功能體驗，實現用戶轉化。已獲1,200名測試用戶，月均轉化率12%。</a:t>
            </a:r>
            <a:endParaRPr lang="en-US" sz="1800" dirty="0"/>
          </a:p>
        </p:txBody>
      </p:sp>
      <p:sp>
        <p:nvSpPr>
          <p:cNvPr id="69" name="Text 58"/>
          <p:cNvSpPr txBox="1"/>
          <p:nvPr/>
        </p:nvSpPr>
        <p:spPr>
          <a:xfrm>
            <a:off x="9391802" y="9772193"/>
            <a:ext cx="84015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通過學校、教練團隊與俱樂部作為渠道合作夥伴，觸達更廣泛用戶群。提供品牌聯名與批量折扣，幫助合作夥伴提升訓練效率與品牌價值。</a:t>
            </a:r>
            <a:endParaRPr lang="en-US" sz="1800" dirty="0"/>
          </a:p>
        </p:txBody>
      </p:sp>
      <p:pic>
        <p:nvPicPr>
          <p:cNvPr id="7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76402" y="10930738"/>
            <a:ext cx="200254" cy="200254"/>
          </a:xfrm>
          <a:prstGeom prst="rect">
            <a:avLst/>
          </a:prstGeom>
        </p:spPr>
      </p:pic>
      <p:sp>
        <p:nvSpPr>
          <p:cNvPr id="71" name="Text 59"/>
          <p:cNvSpPr txBox="1"/>
          <p:nvPr/>
        </p:nvSpPr>
        <p:spPr>
          <a:xfrm>
            <a:off x="752551" y="10867644"/>
            <a:ext cx="68013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預計首年用戶增長10,000人，訂閱收入達120萬港元，第三年實現完全盈利</a:t>
            </a:r>
            <a:endParaRPr lang="en-US" sz="1500" dirty="0"/>
          </a:p>
        </p:txBody>
      </p:sp>
      <p:sp>
        <p:nvSpPr>
          <p:cNvPr id="72" name="Text 60"/>
          <p:cNvSpPr txBox="1"/>
          <p:nvPr/>
        </p:nvSpPr>
        <p:spPr>
          <a:xfrm>
            <a:off x="13510260" y="10867644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32/43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390449"/>
            <a:ext cx="35533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技術發展路線圖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304849"/>
            <a:ext cx="49633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從硬體優化到全球市場擴展的逐步進化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837" r="-837" t="0" b="0"/>
          <a:stretch/>
        </p:blipFill>
        <p:spPr>
          <a:xfrm>
            <a:off x="571500" y="9664294"/>
            <a:ext cx="152705" cy="200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0100" y="9601200"/>
            <a:ext cx="72969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技術路線圖將推動SmartRacket Coach從單一產品走向完整生態系統與全球市場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415162" y="9601200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33/43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52805" y="2961742"/>
            <a:ext cx="16383305" cy="57607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Shape 6"/>
          <p:cNvSpPr/>
          <p:nvPr/>
        </p:nvSpPr>
        <p:spPr>
          <a:xfrm>
            <a:off x="2245766" y="2009851"/>
            <a:ext cx="571500" cy="571500"/>
          </a:xfrm>
          <a:prstGeom prst="ellipse">
            <a:avLst/>
          </a:prstGeom>
          <a:solidFill>
            <a:srgbClr val="9E9E9E"/>
          </a:solidFill>
          <a:ln/>
        </p:spPr>
      </p:sp>
      <p:sp>
        <p:nvSpPr>
          <p:cNvPr id="10" name="Shape 7"/>
          <p:cNvSpPr/>
          <p:nvPr/>
        </p:nvSpPr>
        <p:spPr>
          <a:xfrm>
            <a:off x="2198218" y="1962302"/>
            <a:ext cx="666598" cy="666598"/>
          </a:xfrm>
          <a:prstGeom prst="ellipse">
            <a:avLst/>
          </a:prstGeom>
          <a:solidFill>
            <a:srgbClr val="9E9E9E">
              <a:alpha val="2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79269" y="2143354"/>
            <a:ext cx="304495" cy="3044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82750" y="2723998"/>
            <a:ext cx="14767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2025 Q1-Q2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472184" y="3124505"/>
            <a:ext cx="23152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E9E9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 1: 硬體優化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817474" y="3562502"/>
            <a:ext cx="3600907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改進硬體設計，提高傳感器精度和能耗效率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761695" y="4366260"/>
            <a:ext cx="3543300" cy="1429207"/>
          </a:xfrm>
          <a:prstGeom prst="roundRect">
            <a:avLst>
              <a:gd name="adj" fmla="val 4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952805" y="4556455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核心目標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952805" y="4994453"/>
            <a:ext cx="32964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PCB縮小30% 能耗降低20% 精度提升15% 批量生產準備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654089" y="2009851"/>
            <a:ext cx="571500" cy="57150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9" name="Shape 15"/>
          <p:cNvSpPr/>
          <p:nvPr/>
        </p:nvSpPr>
        <p:spPr>
          <a:xfrm>
            <a:off x="6606540" y="1962302"/>
            <a:ext cx="666598" cy="666598"/>
          </a:xfrm>
          <a:prstGeom prst="ellipse">
            <a:avLst/>
          </a:prstGeom>
          <a:solidFill>
            <a:srgbClr val="2196F3">
              <a:alpha val="20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87591" y="2143354"/>
            <a:ext cx="304495" cy="30449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91072" y="2723998"/>
            <a:ext cx="14767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2025 Q3-Q4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5698541" y="3124505"/>
            <a:ext cx="26773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96F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 2: ML模型升級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5184648" y="3562502"/>
            <a:ext cx="3686861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訓練高級ML模型，支援更多動作類型與更準確判斷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5170018" y="4366260"/>
            <a:ext cx="3543300" cy="1429207"/>
          </a:xfrm>
          <a:prstGeom prst="roundRect">
            <a:avLst>
              <a:gd name="adj" fmla="val 4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8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5360213" y="4556455"/>
            <a:ext cx="1314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關鍵里程碑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5360213" y="4994453"/>
            <a:ext cx="31245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準確率達90% 支援12種動作 自適應學習 個性化推薦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11062411" y="2009851"/>
            <a:ext cx="571500" cy="5715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28" name="Shape 23"/>
          <p:cNvSpPr/>
          <p:nvPr/>
        </p:nvSpPr>
        <p:spPr>
          <a:xfrm>
            <a:off x="11014862" y="1962302"/>
            <a:ext cx="666598" cy="666598"/>
          </a:xfrm>
          <a:prstGeom prst="ellipse">
            <a:avLst/>
          </a:prstGeom>
          <a:solidFill>
            <a:srgbClr val="1F77D3">
              <a:alpha val="20000"/>
            </a:srgbClr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-50" r="-50" t="0" b="0"/>
          <a:stretch/>
        </p:blipFill>
        <p:spPr>
          <a:xfrm>
            <a:off x="11176711" y="2143354"/>
            <a:ext cx="342900" cy="30449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0699394" y="2723998"/>
            <a:ext cx="14767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2026 Q1-Q2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10034626" y="3124505"/>
            <a:ext cx="28200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 3: 生態整合深化</a:t>
            </a:r>
            <a:endParaRPr lang="en-US" sz="2000" dirty="0"/>
          </a:p>
        </p:txBody>
      </p:sp>
      <p:sp>
        <p:nvSpPr>
          <p:cNvPr id="32" name="Text 26"/>
          <p:cNvSpPr txBox="1"/>
          <p:nvPr/>
        </p:nvSpPr>
        <p:spPr>
          <a:xfrm>
            <a:off x="9633204" y="3562502"/>
            <a:ext cx="3600907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深度整合三星生態系統，開發專屬API與插件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9578340" y="4366260"/>
            <a:ext cx="3543300" cy="1429207"/>
          </a:xfrm>
          <a:prstGeom prst="roundRect">
            <a:avLst>
              <a:gd name="adj" fmla="val 4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8000"/>
              </a:srgbClr>
            </a:outerShdw>
          </a:effectLst>
        </p:spPr>
      </p:sp>
      <p:sp>
        <p:nvSpPr>
          <p:cNvPr id="34" name="Text 28"/>
          <p:cNvSpPr txBox="1"/>
          <p:nvPr/>
        </p:nvSpPr>
        <p:spPr>
          <a:xfrm>
            <a:off x="9768535" y="4556455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整合目標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9768535" y="4994453"/>
            <a:ext cx="330555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Galaxy全系支持 SDK公開發布 跨設備同步 生態獨佔功能</a:t>
            </a:r>
            <a:endParaRPr lang="en-US" sz="1500" dirty="0"/>
          </a:p>
        </p:txBody>
      </p:sp>
      <p:sp>
        <p:nvSpPr>
          <p:cNvPr id="36" name="Shape 30"/>
          <p:cNvSpPr/>
          <p:nvPr/>
        </p:nvSpPr>
        <p:spPr>
          <a:xfrm>
            <a:off x="15470734" y="2009851"/>
            <a:ext cx="571500" cy="57150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37" name="Shape 31"/>
          <p:cNvSpPr/>
          <p:nvPr/>
        </p:nvSpPr>
        <p:spPr>
          <a:xfrm>
            <a:off x="15423185" y="1962302"/>
            <a:ext cx="666598" cy="666598"/>
          </a:xfrm>
          <a:prstGeom prst="ellipse">
            <a:avLst/>
          </a:prstGeom>
          <a:solidFill>
            <a:srgbClr val="E53935">
              <a:alpha val="20000"/>
            </a:srgbClr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5603322" y="2143354"/>
            <a:ext cx="304495" cy="304495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15237562" y="2723998"/>
            <a:ext cx="12097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2026 Q3+</a:t>
            </a:r>
            <a:endParaRPr lang="en-US" sz="1800" dirty="0"/>
          </a:p>
        </p:txBody>
      </p:sp>
      <p:sp>
        <p:nvSpPr>
          <p:cNvPr id="40" name="Text 33"/>
          <p:cNvSpPr txBox="1"/>
          <p:nvPr/>
        </p:nvSpPr>
        <p:spPr>
          <a:xfrm>
            <a:off x="14442948" y="3124505"/>
            <a:ext cx="28200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 4: 全球市場擴展</a:t>
            </a:r>
            <a:endParaRPr lang="en-US" sz="2000" dirty="0"/>
          </a:p>
        </p:txBody>
      </p:sp>
      <p:sp>
        <p:nvSpPr>
          <p:cNvPr id="41" name="Text 34"/>
          <p:cNvSpPr txBox="1"/>
          <p:nvPr/>
        </p:nvSpPr>
        <p:spPr>
          <a:xfrm>
            <a:off x="14041526" y="3562502"/>
            <a:ext cx="3600907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進軍國際市場，尋求戰略合作夥伴與體育組織</a:t>
            </a:r>
            <a:endParaRPr lang="en-US" sz="1800" dirty="0"/>
          </a:p>
        </p:txBody>
      </p:sp>
      <p:sp>
        <p:nvSpPr>
          <p:cNvPr id="42" name="Shape 35"/>
          <p:cNvSpPr/>
          <p:nvPr/>
        </p:nvSpPr>
        <p:spPr>
          <a:xfrm>
            <a:off x="13986662" y="4366260"/>
            <a:ext cx="3543300" cy="1429207"/>
          </a:xfrm>
          <a:prstGeom prst="roundRect">
            <a:avLst>
              <a:gd name="adj" fmla="val 4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8000"/>
              </a:srgbClr>
            </a:outerShdw>
          </a:effectLst>
        </p:spPr>
      </p:sp>
      <p:sp>
        <p:nvSpPr>
          <p:cNvPr id="43" name="Text 36"/>
          <p:cNvSpPr txBox="1"/>
          <p:nvPr/>
        </p:nvSpPr>
        <p:spPr>
          <a:xfrm>
            <a:off x="14176858" y="4556455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拓展計劃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14176858" y="4994453"/>
            <a:ext cx="3134563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覆蓋15+國家 8家戰略夥伴 國際賽事合作 百萬用戶目標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580644"/>
            <a:ext cx="35533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開源與共創計劃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837944"/>
            <a:ext cx="8401507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是一個完全開源的項目。我們相信開源協作是加速創新的最佳途徑，能夠讓更多對運動科技感興趣的開發者參與其中，共同改進和擴展產品功能。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3221431"/>
            <a:ext cx="8172907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通過提供完整的技術文檔和易於理解的代碼架構，我們鼓勵任何人——無論是學生、教練還是硬體愛好者——都能基於我們的基礎進行二次開發和創新。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4239158"/>
            <a:ext cx="8401507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開源不僅是共享代碼，更是分享思想、匯集智慧。我們希望建立一個活躍的全球開發者社群，共同探索運動科技的無限可能。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71500" y="5246827"/>
            <a:ext cx="8287207" cy="1067105"/>
          </a:xfrm>
          <a:prstGeom prst="rect">
            <a:avLst/>
          </a:prstGeom>
          <a:solidFill>
            <a:srgbClr val="1F77D3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5246827"/>
            <a:ext cx="47549" cy="106710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9244" y="5437022"/>
            <a:ext cx="79443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開源優勢：透過開放源碼，我們能夠加速迭代速度、提高產品穩定性、降低開發成本，並創造出更符合使用者需求的解決方案。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844430" y="571500"/>
            <a:ext cx="7457846" cy="3353105"/>
          </a:xfrm>
          <a:prstGeom prst="roundRect">
            <a:avLst>
              <a:gd name="adj" fmla="val 12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635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1613" r="-1613" t="0" b="0"/>
          <a:stretch/>
        </p:blipFill>
        <p:spPr>
          <a:xfrm>
            <a:off x="10129723" y="895198"/>
            <a:ext cx="761695" cy="7616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130077" y="866851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SmartRacket-Coach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1130077" y="1390802"/>
            <a:ext cx="27432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智能球拍教練系統 | 開源項目</a:t>
            </a:r>
            <a:endParaRPr lang="en-US" sz="15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909" r="-909" t="0" b="0"/>
          <a:stretch/>
        </p:blipFill>
        <p:spPr>
          <a:xfrm>
            <a:off x="11054182" y="2035454"/>
            <a:ext cx="448056" cy="3520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871302" y="2514600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完整源碼</a:t>
            </a:r>
            <a:endParaRPr lang="en-US" sz="15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-1058" r="-1058" t="0" b="0"/>
          <a:stretch/>
        </p:blipFill>
        <p:spPr>
          <a:xfrm>
            <a:off x="13416077" y="2035454"/>
            <a:ext cx="314554" cy="3520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166446" y="2514600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技術文檔</a:t>
            </a:r>
            <a:endParaRPr lang="en-US" sz="15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-909" r="-909" t="0" b="0"/>
          <a:stretch/>
        </p:blipFill>
        <p:spPr>
          <a:xfrm>
            <a:off x="15644470" y="2035454"/>
            <a:ext cx="448056" cy="3520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462504" y="2514600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社群貢獻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10129723" y="3010205"/>
            <a:ext cx="6886346" cy="629107"/>
          </a:xfrm>
          <a:prstGeom prst="roundRect">
            <a:avLst>
              <a:gd name="adj" fmla="val 17618"/>
            </a:avLst>
          </a:prstGeom>
          <a:solidFill>
            <a:srgbClr val="1F77D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56" b="-456"/>
          <a:stretch/>
        </p:blipFill>
        <p:spPr>
          <a:xfrm>
            <a:off x="11692433" y="3219602"/>
            <a:ext cx="219456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911889" y="3152851"/>
            <a:ext cx="37152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github.com/SmartRacket-Coach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9939528" y="4667098"/>
            <a:ext cx="228600" cy="228600"/>
          </a:xfrm>
          <a:prstGeom prst="ellipse">
            <a:avLst/>
          </a:prstGeom>
          <a:solidFill>
            <a:srgbClr val="E53935"/>
          </a:solidFill>
          <a:ln w="50800">
            <a:solidFill>
              <a:srgbClr val="1F77D3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9939528" y="5771693"/>
            <a:ext cx="228600" cy="228600"/>
          </a:xfrm>
          <a:prstGeom prst="ellipse">
            <a:avLst/>
          </a:prstGeom>
          <a:solidFill>
            <a:srgbClr val="E53935"/>
          </a:solidFill>
          <a:ln w="50800">
            <a:solidFill>
              <a:srgbClr val="1F77D3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9939528" y="6877202"/>
            <a:ext cx="228600" cy="228600"/>
          </a:xfrm>
          <a:prstGeom prst="ellipse">
            <a:avLst/>
          </a:prstGeom>
          <a:solidFill>
            <a:srgbClr val="E53935"/>
          </a:solidFill>
          <a:ln w="50800">
            <a:solidFill>
              <a:srgbClr val="1F77D3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9939528" y="7981798"/>
            <a:ext cx="228600" cy="228600"/>
          </a:xfrm>
          <a:prstGeom prst="ellipse">
            <a:avLst/>
          </a:prstGeom>
          <a:solidFill>
            <a:srgbClr val="E53935"/>
          </a:solidFill>
          <a:ln w="50800">
            <a:solidFill>
              <a:srgbClr val="1F77D3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10511028" y="4591202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硬體設計圖紙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10511028" y="5695798"/>
            <a:ext cx="1314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嵌入式韌體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10511028" y="6800393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機器學習模型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10511028" y="7905902"/>
            <a:ext cx="15343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Android應用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10511028" y="5009998"/>
            <a:ext cx="60103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完整的ESP32與MPU-6050電路設計，3D打印模型和PCB設計文件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10511028" y="6114593"/>
            <a:ext cx="49917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優化的低功耗韌體代碼，BLE通信協議，電源管理算法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10511028" y="7220102"/>
            <a:ext cx="44202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訓練數據集，特徵提取算法，輕量化決策樹模型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10511028" y="8324698"/>
            <a:ext cx="49341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完整App源碼，UI設計檔案，三星Galaxy生態整合API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13953744" y="9734702"/>
            <a:ext cx="39054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34/43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390449"/>
            <a:ext cx="26389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發展時間表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304849"/>
            <a:ext cx="90114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Coach未來12個月從結構優化到正式商業化的完整路線圖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837" r="-837" t="0" b="0"/>
          <a:stretch/>
        </p:blipFill>
        <p:spPr>
          <a:xfrm>
            <a:off x="571500" y="9664294"/>
            <a:ext cx="152705" cy="200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0100" y="9601200"/>
            <a:ext cx="92967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完整發展路線圖將硬體優化、批量生產、用戶測試和商業化四個階段清晰規劃，確保產品順利推向市場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415162" y="9601200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35/43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52805" y="2961742"/>
            <a:ext cx="16383305" cy="57607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Shape 6"/>
          <p:cNvSpPr/>
          <p:nvPr/>
        </p:nvSpPr>
        <p:spPr>
          <a:xfrm>
            <a:off x="2245766" y="2009851"/>
            <a:ext cx="571500" cy="5715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10" name="Shape 7"/>
          <p:cNvSpPr/>
          <p:nvPr/>
        </p:nvSpPr>
        <p:spPr>
          <a:xfrm>
            <a:off x="2198218" y="1962302"/>
            <a:ext cx="666598" cy="666598"/>
          </a:xfrm>
          <a:prstGeom prst="ellipse">
            <a:avLst/>
          </a:prstGeom>
          <a:solidFill>
            <a:srgbClr val="1F77D3">
              <a:alpha val="2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79269" y="2143354"/>
            <a:ext cx="304495" cy="3044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2723998"/>
            <a:ext cx="13057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2025年 Q1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770278" y="3124505"/>
            <a:ext cx="171541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硬體優化完成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817474" y="3562502"/>
            <a:ext cx="3600907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完成最終硬體結構與電路設計，優化電池續航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761695" y="4366260"/>
            <a:ext cx="3543300" cy="2171700"/>
          </a:xfrm>
          <a:prstGeom prst="roundRect">
            <a:avLst>
              <a:gd name="adj" fmla="val 18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952805" y="4556455"/>
            <a:ext cx="1314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核心里程碑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952805" y="5604358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成功標準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952805" y="4994453"/>
            <a:ext cx="31245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PCB最終設計 外殼3D建模 韌體完善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952805" y="6042355"/>
            <a:ext cx="20958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15小時續航 重量&lt;15g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654089" y="2009851"/>
            <a:ext cx="571500" cy="5715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1" name="Shape 17"/>
          <p:cNvSpPr/>
          <p:nvPr/>
        </p:nvSpPr>
        <p:spPr>
          <a:xfrm>
            <a:off x="6606540" y="1962302"/>
            <a:ext cx="666598" cy="666598"/>
          </a:xfrm>
          <a:prstGeom prst="ellipse">
            <a:avLst/>
          </a:prstGeom>
          <a:solidFill>
            <a:srgbClr val="4CAF50">
              <a:alpha val="20000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-50" r="-50" t="0" b="0"/>
          <a:stretch/>
        </p:blipFill>
        <p:spPr>
          <a:xfrm>
            <a:off x="6768389" y="2143354"/>
            <a:ext cx="342900" cy="3044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374282" y="2723998"/>
            <a:ext cx="13057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2025年 Q2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6304788" y="3124505"/>
            <a:ext cx="14676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小批量生產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5263286" y="3562502"/>
            <a:ext cx="352501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完成供應鏈建立，製造100套測試裝置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170018" y="4366260"/>
            <a:ext cx="3543300" cy="1867205"/>
          </a:xfrm>
          <a:prstGeom prst="roundRect">
            <a:avLst>
              <a:gd name="adj" fmla="val 24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8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5360213" y="4556455"/>
            <a:ext cx="1314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核心里程碑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5360213" y="5299862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成功標準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5360213" y="4994453"/>
            <a:ext cx="28867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供應商確認 模具製作 質量控制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5360213" y="5737860"/>
            <a:ext cx="28959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不良率&lt;5% 成本控制&lt;170港元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11062411" y="2009851"/>
            <a:ext cx="571500" cy="57150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32" name="Shape 27"/>
          <p:cNvSpPr/>
          <p:nvPr/>
        </p:nvSpPr>
        <p:spPr>
          <a:xfrm>
            <a:off x="11014862" y="1962302"/>
            <a:ext cx="666598" cy="666598"/>
          </a:xfrm>
          <a:prstGeom prst="ellipse">
            <a:avLst/>
          </a:prstGeom>
          <a:solidFill>
            <a:srgbClr val="FF9800">
              <a:alpha val="20000"/>
            </a:srgbClr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195914" y="2143354"/>
            <a:ext cx="304495" cy="30449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0782605" y="2723998"/>
            <a:ext cx="13057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2025年 Q3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10458907" y="3124505"/>
            <a:ext cx="19723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市場測試與反饋</a:t>
            </a:r>
            <a:endParaRPr lang="en-US" sz="2000" dirty="0"/>
          </a:p>
        </p:txBody>
      </p:sp>
      <p:sp>
        <p:nvSpPr>
          <p:cNvPr id="36" name="Text 30"/>
          <p:cNvSpPr txBox="1"/>
          <p:nvPr/>
        </p:nvSpPr>
        <p:spPr>
          <a:xfrm>
            <a:off x="9620402" y="3562502"/>
            <a:ext cx="3629254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招募50位測試用戶，收集實際使用數據與體驗反饋</a:t>
            </a:r>
            <a:endParaRPr lang="en-US" sz="1800" dirty="0"/>
          </a:p>
        </p:txBody>
      </p:sp>
      <p:sp>
        <p:nvSpPr>
          <p:cNvPr id="37" name="Shape 31"/>
          <p:cNvSpPr/>
          <p:nvPr/>
        </p:nvSpPr>
        <p:spPr>
          <a:xfrm>
            <a:off x="9578340" y="4366260"/>
            <a:ext cx="3543300" cy="1867205"/>
          </a:xfrm>
          <a:prstGeom prst="roundRect">
            <a:avLst>
              <a:gd name="adj" fmla="val 24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8000"/>
              </a:srgbClr>
            </a:outerShdw>
          </a:effectLst>
        </p:spPr>
      </p:sp>
      <p:sp>
        <p:nvSpPr>
          <p:cNvPr id="38" name="Text 32"/>
          <p:cNvSpPr txBox="1"/>
          <p:nvPr/>
        </p:nvSpPr>
        <p:spPr>
          <a:xfrm>
            <a:off x="9768535" y="4556455"/>
            <a:ext cx="1314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核心里程碑</a:t>
            </a:r>
            <a:endParaRPr lang="en-US" sz="1800" dirty="0"/>
          </a:p>
        </p:txBody>
      </p:sp>
      <p:sp>
        <p:nvSpPr>
          <p:cNvPr id="39" name="Text 33"/>
          <p:cNvSpPr txBox="1"/>
          <p:nvPr/>
        </p:nvSpPr>
        <p:spPr>
          <a:xfrm>
            <a:off x="9768535" y="5299862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成功標準</a:t>
            </a:r>
            <a:endParaRPr lang="en-US" sz="1800" dirty="0"/>
          </a:p>
        </p:txBody>
      </p:sp>
      <p:sp>
        <p:nvSpPr>
          <p:cNvPr id="40" name="Text 34"/>
          <p:cNvSpPr txBox="1"/>
          <p:nvPr/>
        </p:nvSpPr>
        <p:spPr>
          <a:xfrm>
            <a:off x="9768535" y="4994453"/>
            <a:ext cx="30202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用戶招募計劃 A/B測試 數據分析</a:t>
            </a:r>
            <a:endParaRPr lang="en-US" sz="1500" dirty="0"/>
          </a:p>
        </p:txBody>
      </p:sp>
      <p:sp>
        <p:nvSpPr>
          <p:cNvPr id="41" name="Text 35"/>
          <p:cNvSpPr txBox="1"/>
          <p:nvPr/>
        </p:nvSpPr>
        <p:spPr>
          <a:xfrm>
            <a:off x="9768535" y="5737860"/>
            <a:ext cx="24771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用戶滿意度&gt;85% NPS&gt;40</a:t>
            </a:r>
            <a:endParaRPr lang="en-US" sz="1500" dirty="0"/>
          </a:p>
        </p:txBody>
      </p:sp>
      <p:sp>
        <p:nvSpPr>
          <p:cNvPr id="42" name="Shape 36"/>
          <p:cNvSpPr/>
          <p:nvPr/>
        </p:nvSpPr>
        <p:spPr>
          <a:xfrm>
            <a:off x="15470734" y="2009851"/>
            <a:ext cx="571500" cy="57150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43" name="Shape 37"/>
          <p:cNvSpPr/>
          <p:nvPr/>
        </p:nvSpPr>
        <p:spPr>
          <a:xfrm>
            <a:off x="15423185" y="1962302"/>
            <a:ext cx="666598" cy="666598"/>
          </a:xfrm>
          <a:prstGeom prst="ellipse">
            <a:avLst/>
          </a:prstGeom>
          <a:solidFill>
            <a:srgbClr val="E53935">
              <a:alpha val="20000"/>
            </a:srgbClr>
          </a:solidFill>
          <a:ln/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5603322" y="2143354"/>
            <a:ext cx="304495" cy="304495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15190927" y="2723998"/>
            <a:ext cx="13057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2025年 Q4</a:t>
            </a:r>
            <a:endParaRPr lang="en-US" sz="1800" dirty="0"/>
          </a:p>
        </p:txBody>
      </p:sp>
      <p:sp>
        <p:nvSpPr>
          <p:cNvPr id="46" name="Text 39"/>
          <p:cNvSpPr txBox="1"/>
          <p:nvPr/>
        </p:nvSpPr>
        <p:spPr>
          <a:xfrm>
            <a:off x="15121433" y="3124505"/>
            <a:ext cx="14676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正式商業化</a:t>
            </a:r>
            <a:endParaRPr lang="en-US" sz="2000" dirty="0"/>
          </a:p>
        </p:txBody>
      </p:sp>
      <p:sp>
        <p:nvSpPr>
          <p:cNvPr id="47" name="Text 40"/>
          <p:cNvSpPr txBox="1"/>
          <p:nvPr/>
        </p:nvSpPr>
        <p:spPr>
          <a:xfrm>
            <a:off x="14041526" y="3562502"/>
            <a:ext cx="3600907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產品正式發布，建立線上渠道與首批合作夥伴</a:t>
            </a:r>
            <a:endParaRPr lang="en-US" sz="1800" dirty="0"/>
          </a:p>
        </p:txBody>
      </p:sp>
      <p:sp>
        <p:nvSpPr>
          <p:cNvPr id="48" name="Shape 41"/>
          <p:cNvSpPr/>
          <p:nvPr/>
        </p:nvSpPr>
        <p:spPr>
          <a:xfrm>
            <a:off x="13986662" y="4366260"/>
            <a:ext cx="3543300" cy="2476195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8000"/>
              </a:srgbClr>
            </a:outerShdw>
          </a:effectLst>
        </p:spPr>
      </p:sp>
      <p:sp>
        <p:nvSpPr>
          <p:cNvPr id="49" name="Text 42"/>
          <p:cNvSpPr txBox="1"/>
          <p:nvPr/>
        </p:nvSpPr>
        <p:spPr>
          <a:xfrm>
            <a:off x="14176858" y="4556455"/>
            <a:ext cx="1314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核心里程碑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14176858" y="5604358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成功標準</a:t>
            </a:r>
            <a:endParaRPr lang="en-US" sz="1800" dirty="0"/>
          </a:p>
        </p:txBody>
      </p:sp>
      <p:sp>
        <p:nvSpPr>
          <p:cNvPr id="51" name="Text 44"/>
          <p:cNvSpPr txBox="1"/>
          <p:nvPr/>
        </p:nvSpPr>
        <p:spPr>
          <a:xfrm>
            <a:off x="14176858" y="4994453"/>
            <a:ext cx="32964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產品發布會 電商平台上線 夥伴計劃啟動</a:t>
            </a:r>
            <a:endParaRPr lang="en-US" sz="1500" dirty="0"/>
          </a:p>
        </p:txBody>
      </p:sp>
      <p:sp>
        <p:nvSpPr>
          <p:cNvPr id="52" name="Text 45"/>
          <p:cNvSpPr txBox="1"/>
          <p:nvPr/>
        </p:nvSpPr>
        <p:spPr>
          <a:xfrm>
            <a:off x="14176858" y="6042355"/>
            <a:ext cx="32004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首月銷量&gt;500套 3家體育俱樂部合作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485546"/>
            <a:ext cx="35533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關鍵成就與指標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552651"/>
            <a:ext cx="71158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核心技術突破與關鍵績效指標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1695" y="2572207"/>
            <a:ext cx="5400446" cy="2476195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45252" y="2809951"/>
            <a:ext cx="476402" cy="476402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4" b="-44"/>
          <a:stretch/>
        </p:blipFill>
        <p:spPr>
          <a:xfrm>
            <a:off x="5554980" y="2933395"/>
            <a:ext cx="256946" cy="228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45606" y="2572207"/>
            <a:ext cx="5400446" cy="2476195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128602" y="2572207"/>
            <a:ext cx="5400446" cy="2476195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1128248" y="2809951"/>
            <a:ext cx="476402" cy="476402"/>
          </a:xfrm>
          <a:prstGeom prst="ellipse">
            <a:avLst/>
          </a:prstGeom>
          <a:solidFill>
            <a:srgbClr val="E53935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6811244" y="2809951"/>
            <a:ext cx="476402" cy="476402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47902" y="2781605"/>
            <a:ext cx="11814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85</a:t>
            </a:r>
            <a:endParaRPr lang="en-US" sz="4800" dirty="0"/>
          </a:p>
        </p:txBody>
      </p:sp>
      <p:sp>
        <p:nvSpPr>
          <p:cNvPr id="13" name="Text 10"/>
          <p:cNvSpPr txBox="1"/>
          <p:nvPr/>
        </p:nvSpPr>
        <p:spPr>
          <a:xfrm>
            <a:off x="6730898" y="2781605"/>
            <a:ext cx="1543507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&lt;50</a:t>
            </a:r>
            <a:endParaRPr lang="en-US" sz="4800" dirty="0"/>
          </a:p>
        </p:txBody>
      </p:sp>
      <p:sp>
        <p:nvSpPr>
          <p:cNvPr id="14" name="Text 11"/>
          <p:cNvSpPr txBox="1"/>
          <p:nvPr/>
        </p:nvSpPr>
        <p:spPr>
          <a:xfrm>
            <a:off x="1815084" y="3133649"/>
            <a:ext cx="5239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%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7857439" y="3133649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ms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1047902" y="3684118"/>
            <a:ext cx="857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準確率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047902" y="4169664"/>
            <a:ext cx="49725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經過個人化校準後的動作識別精度，比市場同類產品高出20%</a:t>
            </a:r>
            <a:endParaRPr lang="en-US" sz="18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-57" r="-57" t="0" b="0"/>
          <a:stretch/>
        </p:blipFill>
        <p:spPr>
          <a:xfrm>
            <a:off x="11266322" y="2933395"/>
            <a:ext cx="200254" cy="2286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2413894" y="2781605"/>
            <a:ext cx="1543507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170</a:t>
            </a:r>
            <a:endParaRPr lang="en-US" sz="4800" dirty="0"/>
          </a:p>
        </p:txBody>
      </p:sp>
      <p:sp>
        <p:nvSpPr>
          <p:cNvPr id="20" name="Text 16"/>
          <p:cNvSpPr txBox="1"/>
          <p:nvPr/>
        </p:nvSpPr>
        <p:spPr>
          <a:xfrm>
            <a:off x="13540435" y="3133649"/>
            <a:ext cx="8485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港元</a:t>
            </a:r>
            <a:endParaRPr lang="en-US" sz="2400" dirty="0"/>
          </a:p>
        </p:txBody>
      </p:sp>
      <p:sp>
        <p:nvSpPr>
          <p:cNvPr id="21" name="Text 17"/>
          <p:cNvSpPr txBox="1"/>
          <p:nvPr/>
        </p:nvSpPr>
        <p:spPr>
          <a:xfrm>
            <a:off x="6730898" y="3684118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反饋延遲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12413894" y="3684118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硬體成本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6730898" y="4169664"/>
            <a:ext cx="49725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動作完成到反饋顯示的時間差，達到專業級即時反饋標準</a:t>
            </a:r>
            <a:endParaRPr lang="en-US" sz="18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16978579" y="2933395"/>
            <a:ext cx="142646" cy="2286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2413894" y="4169664"/>
            <a:ext cx="49725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單套硬體零件成本，實現專業訓練輔助工具的普惠化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761695" y="5333695"/>
            <a:ext cx="8238744" cy="2476195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286646" y="5333695"/>
            <a:ext cx="8238744" cy="2476195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762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287207" y="5572354"/>
            <a:ext cx="476402" cy="476402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4" b="-44"/>
          <a:stretch/>
        </p:blipFill>
        <p:spPr>
          <a:xfrm>
            <a:off x="8396021" y="5695798"/>
            <a:ext cx="256946" cy="22860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16811244" y="5572354"/>
            <a:ext cx="476402" cy="476402"/>
          </a:xfrm>
          <a:prstGeom prst="ellipse">
            <a:avLst/>
          </a:prstGeom>
          <a:solidFill>
            <a:srgbClr val="E53935">
              <a:alpha val="10000"/>
            </a:srgbClr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1047902" y="5544007"/>
            <a:ext cx="11814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</a:t>
            </a:r>
            <a:endParaRPr lang="en-US" sz="4800" dirty="0"/>
          </a:p>
        </p:txBody>
      </p:sp>
      <p:sp>
        <p:nvSpPr>
          <p:cNvPr id="32" name="Text 26"/>
          <p:cNvSpPr txBox="1"/>
          <p:nvPr/>
        </p:nvSpPr>
        <p:spPr>
          <a:xfrm>
            <a:off x="9572854" y="5544007"/>
            <a:ext cx="11814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90</a:t>
            </a:r>
            <a:endParaRPr lang="en-US" sz="4800" dirty="0"/>
          </a:p>
        </p:txBody>
      </p:sp>
      <p:sp>
        <p:nvSpPr>
          <p:cNvPr id="33" name="Text 27"/>
          <p:cNvSpPr txBox="1"/>
          <p:nvPr/>
        </p:nvSpPr>
        <p:spPr>
          <a:xfrm>
            <a:off x="1815084" y="5896051"/>
            <a:ext cx="8485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小時</a:t>
            </a:r>
            <a:endParaRPr lang="en-US" sz="2400" dirty="0"/>
          </a:p>
        </p:txBody>
      </p:sp>
      <p:sp>
        <p:nvSpPr>
          <p:cNvPr id="34" name="Text 28"/>
          <p:cNvSpPr txBox="1"/>
          <p:nvPr/>
        </p:nvSpPr>
        <p:spPr>
          <a:xfrm>
            <a:off x="10340035" y="5896051"/>
            <a:ext cx="5239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%</a:t>
            </a:r>
            <a:endParaRPr lang="en-US" sz="2400" dirty="0"/>
          </a:p>
        </p:txBody>
      </p:sp>
      <p:sp>
        <p:nvSpPr>
          <p:cNvPr id="35" name="Text 29"/>
          <p:cNvSpPr txBox="1"/>
          <p:nvPr/>
        </p:nvSpPr>
        <p:spPr>
          <a:xfrm>
            <a:off x="1047902" y="6446520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續航時間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9572854" y="6446520"/>
            <a:ext cx="1314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用戶滿意度</a:t>
            </a:r>
            <a:endParaRPr lang="en-US" sz="1800" dirty="0"/>
          </a:p>
        </p:txBody>
      </p:sp>
      <p:sp>
        <p:nvSpPr>
          <p:cNvPr id="37" name="Text 31"/>
          <p:cNvSpPr txBox="1"/>
          <p:nvPr/>
        </p:nvSpPr>
        <p:spPr>
          <a:xfrm>
            <a:off x="1047902" y="6932066"/>
            <a:ext cx="6572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智能電源管理系統支持的單次充電使用時長，滿足全天訓練需求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9572854" y="6932066"/>
            <a:ext cx="6572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測試用戶對系統功能、準確性與價格的綜合評價，遠超市場預期</a:t>
            </a:r>
            <a:endParaRPr lang="en-US" sz="1800" dirty="0"/>
          </a:p>
        </p:txBody>
      </p:sp>
      <p:sp>
        <p:nvSpPr>
          <p:cNvPr id="39" name="Shape 33"/>
          <p:cNvSpPr/>
          <p:nvPr/>
        </p:nvSpPr>
        <p:spPr>
          <a:xfrm>
            <a:off x="1047902" y="7466076"/>
            <a:ext cx="7667244" cy="66751"/>
          </a:xfrm>
          <a:prstGeom prst="roundRect">
            <a:avLst>
              <a:gd name="adj" fmla="val 782781"/>
            </a:avLst>
          </a:prstGeom>
          <a:solidFill>
            <a:srgbClr val="EEEEEE"/>
          </a:solidFill>
          <a:ln/>
        </p:spPr>
      </p:sp>
      <p:sp>
        <p:nvSpPr>
          <p:cNvPr id="40" name="Shape 34"/>
          <p:cNvSpPr/>
          <p:nvPr/>
        </p:nvSpPr>
        <p:spPr>
          <a:xfrm>
            <a:off x="9572854" y="7466076"/>
            <a:ext cx="7667244" cy="66751"/>
          </a:xfrm>
          <a:prstGeom prst="roundRect">
            <a:avLst>
              <a:gd name="adj" fmla="val 782781"/>
            </a:avLst>
          </a:prstGeom>
          <a:solidFill>
            <a:srgbClr val="EEEEEE"/>
          </a:solidFill>
          <a:ln/>
        </p:spPr>
      </p:sp>
      <p:sp>
        <p:nvSpPr>
          <p:cNvPr id="41" name="Shape 35"/>
          <p:cNvSpPr/>
          <p:nvPr/>
        </p:nvSpPr>
        <p:spPr>
          <a:xfrm>
            <a:off x="1047902" y="7466076"/>
            <a:ext cx="6133795" cy="66751"/>
          </a:xfrm>
          <a:prstGeom prst="roundRect">
            <a:avLst>
              <a:gd name="adj" fmla="val 782781"/>
            </a:avLst>
          </a:prstGeom>
          <a:solidFill>
            <a:srgbClr val="1F77D3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6935602" y="5695798"/>
            <a:ext cx="228600" cy="228600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9572854" y="7466076"/>
            <a:ext cx="7286854" cy="66751"/>
          </a:xfrm>
          <a:prstGeom prst="roundRect">
            <a:avLst>
              <a:gd name="adj" fmla="val 782781"/>
            </a:avLst>
          </a:prstGeom>
          <a:solidFill>
            <a:srgbClr val="E53935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4" b="-44"/>
          <a:stretch/>
        </p:blipFill>
        <p:spPr>
          <a:xfrm>
            <a:off x="761695" y="9677095"/>
            <a:ext cx="256946" cy="228600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1095451" y="9610344"/>
            <a:ext cx="44961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專業級性能 • 親民價格 • 超高用戶滿意度</a:t>
            </a:r>
            <a:endParaRPr lang="en-US" sz="1800" dirty="0"/>
          </a:p>
        </p:txBody>
      </p:sp>
      <p:sp>
        <p:nvSpPr>
          <p:cNvPr id="46" name="Text 38"/>
          <p:cNvSpPr txBox="1"/>
          <p:nvPr/>
        </p:nvSpPr>
        <p:spPr>
          <a:xfrm>
            <a:off x="13224053" y="9610344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36/43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20874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580644"/>
            <a:ext cx="26389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下一步行動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742846"/>
            <a:ext cx="7801661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正處於原型到產品化的關鍵轉折點。接下來的六個月，我們將聚焦於五個關鍵行動，確保產品成功推向市場並與三星生態系統深度融合。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3126334"/>
            <a:ext cx="7715707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每個階段都有明確的時間表和可衡量的目標，確保專案有序推進。我們深知產品的成功不僅依賴於技術創新，更需要完整的商業規劃與生態整合。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1500" y="4134002"/>
            <a:ext cx="7667244" cy="1067105"/>
          </a:xfrm>
          <a:prstGeom prst="rect">
            <a:avLst/>
          </a:prstGeom>
          <a:solidFill>
            <a:srgbClr val="1F77D3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4134002"/>
            <a:ext cx="47549" cy="106710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9244" y="4324198"/>
            <a:ext cx="7296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轉折關鍵：從技術驗證階段邁向產品化是SmartRacket Coach最關鍵的里程碑。這不僅是技術挑戰，也是將創新理念轉化為市場價值的過程。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20379" y="571500"/>
            <a:ext cx="9201607" cy="2066544"/>
          </a:xfrm>
          <a:prstGeom prst="roundRect">
            <a:avLst>
              <a:gd name="adj" fmla="val 20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20379" y="571500"/>
            <a:ext cx="47549" cy="2066544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11" name="Shape 9"/>
          <p:cNvSpPr/>
          <p:nvPr/>
        </p:nvSpPr>
        <p:spPr>
          <a:xfrm>
            <a:off x="8520379" y="2790749"/>
            <a:ext cx="9201607" cy="2066544"/>
          </a:xfrm>
          <a:prstGeom prst="roundRect">
            <a:avLst>
              <a:gd name="adj" fmla="val 20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520379" y="2790749"/>
            <a:ext cx="47549" cy="2066544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13" name="Shape 11"/>
          <p:cNvSpPr/>
          <p:nvPr/>
        </p:nvSpPr>
        <p:spPr>
          <a:xfrm>
            <a:off x="8520379" y="5009998"/>
            <a:ext cx="9201607" cy="2066544"/>
          </a:xfrm>
          <a:prstGeom prst="roundRect">
            <a:avLst>
              <a:gd name="adj" fmla="val 20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20379" y="5009998"/>
            <a:ext cx="47549" cy="2066544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15" name="Shape 13"/>
          <p:cNvSpPr/>
          <p:nvPr/>
        </p:nvSpPr>
        <p:spPr>
          <a:xfrm>
            <a:off x="8520379" y="9448495"/>
            <a:ext cx="9201607" cy="2066544"/>
          </a:xfrm>
          <a:prstGeom prst="roundRect">
            <a:avLst>
              <a:gd name="adj" fmla="val 20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20379" y="9448495"/>
            <a:ext cx="47549" cy="2066544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17" name="Shape 15"/>
          <p:cNvSpPr/>
          <p:nvPr/>
        </p:nvSpPr>
        <p:spPr>
          <a:xfrm>
            <a:off x="8759038" y="761695"/>
            <a:ext cx="571500" cy="571500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30030" y="933602"/>
            <a:ext cx="228600" cy="2286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8520379" y="7229246"/>
            <a:ext cx="9201607" cy="2066544"/>
          </a:xfrm>
          <a:prstGeom prst="roundRect">
            <a:avLst>
              <a:gd name="adj" fmla="val 20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520379" y="7229246"/>
            <a:ext cx="47549" cy="2066544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21" name="Shape 18"/>
          <p:cNvSpPr/>
          <p:nvPr/>
        </p:nvSpPr>
        <p:spPr>
          <a:xfrm>
            <a:off x="8759038" y="2980944"/>
            <a:ext cx="571500" cy="571500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759038" y="5200193"/>
            <a:ext cx="571500" cy="571500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8759038" y="7419442"/>
            <a:ext cx="571500" cy="571500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8759038" y="9638690"/>
            <a:ext cx="571500" cy="571500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520733" y="771754"/>
            <a:ext cx="1886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硬體結構優化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9520733" y="2991002"/>
            <a:ext cx="21717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小批量生產測試</a:t>
            </a:r>
            <a:endParaRPr lang="en-US" sz="2100" dirty="0"/>
          </a:p>
        </p:txBody>
      </p:sp>
      <p:sp>
        <p:nvSpPr>
          <p:cNvPr id="27" name="Text 24"/>
          <p:cNvSpPr txBox="1"/>
          <p:nvPr/>
        </p:nvSpPr>
        <p:spPr>
          <a:xfrm>
            <a:off x="9520733" y="9647834"/>
            <a:ext cx="1886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市場推廣準備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9520733" y="1285646"/>
            <a:ext cx="1828800" cy="381305"/>
          </a:xfrm>
          <a:prstGeom prst="roundRect">
            <a:avLst>
              <a:gd name="adj" fmla="val 119904"/>
            </a:avLst>
          </a:prstGeom>
          <a:solidFill>
            <a:srgbClr val="E53935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635033" y="1324051"/>
            <a:ext cx="17529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2025年Q1 (1-3月)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9520733" y="1762049"/>
            <a:ext cx="80202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進一步減輕重量至11g以下，提升IMU採樣率至250Hz，優化PCB佈局與外殼結構，確保更高的舒適度與穩定性。</a:t>
            </a:r>
            <a:endParaRPr lang="en-US" sz="18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4" b="-44"/>
          <a:stretch/>
        </p:blipFill>
        <p:spPr>
          <a:xfrm>
            <a:off x="8915400" y="3152851"/>
            <a:ext cx="256946" cy="22860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9520733" y="5210251"/>
            <a:ext cx="1886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用戶體驗優化</a:t>
            </a:r>
            <a:endParaRPr lang="en-US" sz="2100" dirty="0"/>
          </a:p>
        </p:txBody>
      </p:sp>
      <p:sp>
        <p:nvSpPr>
          <p:cNvPr id="33" name="Text 29"/>
          <p:cNvSpPr txBox="1"/>
          <p:nvPr/>
        </p:nvSpPr>
        <p:spPr>
          <a:xfrm>
            <a:off x="9520733" y="7429500"/>
            <a:ext cx="3143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Samsung生態深度整合</a:t>
            </a:r>
            <a:endParaRPr lang="en-US" sz="2100" dirty="0"/>
          </a:p>
        </p:txBody>
      </p:sp>
      <p:sp>
        <p:nvSpPr>
          <p:cNvPr id="34" name="Shape 30"/>
          <p:cNvSpPr/>
          <p:nvPr/>
        </p:nvSpPr>
        <p:spPr>
          <a:xfrm>
            <a:off x="9520733" y="3504895"/>
            <a:ext cx="2038198" cy="381305"/>
          </a:xfrm>
          <a:prstGeom prst="roundRect">
            <a:avLst>
              <a:gd name="adj" fmla="val 119904"/>
            </a:avLst>
          </a:prstGeom>
          <a:solidFill>
            <a:srgbClr val="E53935"/>
          </a:solidFill>
          <a:ln/>
        </p:spPr>
      </p:sp>
      <p:sp>
        <p:nvSpPr>
          <p:cNvPr id="35" name="Shape 31"/>
          <p:cNvSpPr/>
          <p:nvPr/>
        </p:nvSpPr>
        <p:spPr>
          <a:xfrm>
            <a:off x="9520733" y="5724144"/>
            <a:ext cx="2238451" cy="381305"/>
          </a:xfrm>
          <a:prstGeom prst="roundRect">
            <a:avLst>
              <a:gd name="adj" fmla="val 119904"/>
            </a:avLst>
          </a:prstGeom>
          <a:solidFill>
            <a:srgbClr val="E53935"/>
          </a:solidFill>
          <a:ln/>
        </p:spPr>
      </p:sp>
      <p:sp>
        <p:nvSpPr>
          <p:cNvPr id="36" name="Shape 32"/>
          <p:cNvSpPr/>
          <p:nvPr/>
        </p:nvSpPr>
        <p:spPr>
          <a:xfrm>
            <a:off x="9520733" y="10162642"/>
            <a:ext cx="2057400" cy="381305"/>
          </a:xfrm>
          <a:prstGeom prst="roundRect">
            <a:avLst>
              <a:gd name="adj" fmla="val 119904"/>
            </a:avLst>
          </a:prstGeom>
          <a:solidFill>
            <a:srgbClr val="E53935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9635033" y="3543300"/>
            <a:ext cx="19623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2025年Q2初 (4-5月)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9635033" y="5762549"/>
            <a:ext cx="21625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2025年Q2中後 (5-6月)</a:t>
            </a:r>
            <a:endParaRPr lang="en-US" sz="1500" dirty="0"/>
          </a:p>
        </p:txBody>
      </p:sp>
      <p:sp>
        <p:nvSpPr>
          <p:cNvPr id="39" name="Text 35"/>
          <p:cNvSpPr txBox="1"/>
          <p:nvPr/>
        </p:nvSpPr>
        <p:spPr>
          <a:xfrm>
            <a:off x="9635033" y="10200132"/>
            <a:ext cx="19815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2025年Q4 (10-12月)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9520733" y="3981298"/>
            <a:ext cx="80970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與深圳合作工廠生產首批100套樣品，進行品質測試與生產流程優化，為後續規模化生產做準備。</a:t>
            </a:r>
            <a:endParaRPr lang="en-US" sz="1800" dirty="0"/>
          </a:p>
        </p:txBody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rcRect l="-80" r="-80" t="0" b="0"/>
          <a:stretch/>
        </p:blipFill>
        <p:spPr>
          <a:xfrm>
            <a:off x="8901684" y="5372100"/>
            <a:ext cx="286207" cy="228600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9635033" y="7981798"/>
            <a:ext cx="17529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2025年Q3 (7-9月)</a:t>
            </a:r>
            <a:endParaRPr lang="en-US" sz="1500" dirty="0"/>
          </a:p>
        </p:txBody>
      </p:sp>
      <p:sp>
        <p:nvSpPr>
          <p:cNvPr id="43" name="Text 38"/>
          <p:cNvSpPr txBox="1"/>
          <p:nvPr/>
        </p:nvSpPr>
        <p:spPr>
          <a:xfrm>
            <a:off x="9520733" y="6200546"/>
            <a:ext cx="78684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招募50名測試用戶進行為期4週的體驗測試，收集反饋並迭代產品功能，提升App介面易用性與直觀性。</a:t>
            </a:r>
            <a:endParaRPr lang="en-US" sz="1800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rcRect l="-133" r="-133" t="0" b="0"/>
          <a:stretch/>
        </p:blipFill>
        <p:spPr>
          <a:xfrm>
            <a:off x="8958377" y="7591349"/>
            <a:ext cx="171907" cy="228600"/>
          </a:xfrm>
          <a:prstGeom prst="rect">
            <a:avLst/>
          </a:prstGeom>
        </p:spPr>
      </p:pic>
      <p:sp>
        <p:nvSpPr>
          <p:cNvPr id="45" name="Shape 39"/>
          <p:cNvSpPr/>
          <p:nvPr/>
        </p:nvSpPr>
        <p:spPr>
          <a:xfrm>
            <a:off x="9520733" y="7943393"/>
            <a:ext cx="1828800" cy="381305"/>
          </a:xfrm>
          <a:prstGeom prst="roundRect">
            <a:avLst>
              <a:gd name="adj" fmla="val 119904"/>
            </a:avLst>
          </a:prstGeom>
          <a:solidFill>
            <a:srgbClr val="E53935"/>
          </a:solidFill>
          <a:ln/>
        </p:spPr>
      </p:sp>
      <p:sp>
        <p:nvSpPr>
          <p:cNvPr id="46" name="Text 40"/>
          <p:cNvSpPr txBox="1"/>
          <p:nvPr/>
        </p:nvSpPr>
        <p:spPr>
          <a:xfrm>
            <a:off x="9520733" y="8419795"/>
            <a:ext cx="7077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開發Samsung獨家功能，實現與Galaxy Watch、Samsung Health、SmartThings的深度整合，提供獨家用戶體驗。</a:t>
            </a:r>
            <a:endParaRPr lang="en-US" sz="1800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930030" y="9810598"/>
            <a:ext cx="228600" cy="228600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9520733" y="10639044"/>
            <a:ext cx="81729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建立官網與電商平台，製作推廣視頻與宣傳素材，籌備首場發佈會，目標在香港與中國內地同步上市。</a:t>
            </a:r>
            <a:endParaRPr lang="en-US" sz="1800" dirty="0"/>
          </a:p>
        </p:txBody>
      </p:sp>
      <p:sp>
        <p:nvSpPr>
          <p:cNvPr id="49" name="Text 42"/>
          <p:cNvSpPr txBox="1"/>
          <p:nvPr/>
        </p:nvSpPr>
        <p:spPr>
          <a:xfrm>
            <a:off x="13953744" y="11534242"/>
            <a:ext cx="39054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37/43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0203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0" y="342900"/>
            <a:ext cx="12673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致謝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55203" y="1228954"/>
            <a:ext cx="19723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感謝與社會願景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858207" y="1800454"/>
            <a:ext cx="8572500" cy="5324551"/>
          </a:xfrm>
          <a:prstGeom prst="roundRect">
            <a:avLst>
              <a:gd name="adj" fmla="val 3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508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95951" y="2038198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1004" r="-1004" t="0" b="0"/>
          <a:stretch/>
        </p:blipFill>
        <p:spPr>
          <a:xfrm>
            <a:off x="5191049" y="2162556"/>
            <a:ext cx="267005" cy="20939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95951" y="3249778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9" name="Shape 6"/>
          <p:cNvSpPr/>
          <p:nvPr/>
        </p:nvSpPr>
        <p:spPr>
          <a:xfrm>
            <a:off x="5095951" y="5672938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95798" y="2038198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教育機構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695798" y="3249778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指導教練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695798" y="5672938"/>
            <a:ext cx="23628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Samsung競賽平台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695798" y="2457907"/>
            <a:ext cx="7668158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感謝VTC青年學院提供的學習環境、實驗設備與導師指導，讓我們得以將創意轉化為實際產品。</a:t>
            </a:r>
            <a:endParaRPr lang="en-US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600" b="-600"/>
          <a:stretch/>
        </p:blipFill>
        <p:spPr>
          <a:xfrm>
            <a:off x="5234026" y="3373222"/>
            <a:ext cx="181051" cy="20939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095951" y="4461358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695798" y="3668573"/>
            <a:ext cx="74871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特別感謝陳教練提供的專業乒乓球技術指導與訓練場景分析，幫助我們深入理解運動員需求。</a:t>
            </a:r>
            <a:endParaRPr lang="en-US" sz="18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1004" r="-1004" t="0" b="0"/>
          <a:stretch/>
        </p:blipFill>
        <p:spPr>
          <a:xfrm>
            <a:off x="5191049" y="4584802"/>
            <a:ext cx="267005" cy="20939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695798" y="4461358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團隊夥伴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5695798" y="4880153"/>
            <a:ext cx="74871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感謝所有參與測試、提供反饋與技術支持的團隊成員，你們的貢獻使這個項目得以不斷完善。</a:t>
            </a:r>
            <a:endParaRPr lang="en-US" sz="18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-1528" r="-1528" t="0" b="0"/>
          <a:stretch/>
        </p:blipFill>
        <p:spPr>
          <a:xfrm>
            <a:off x="5243170" y="5796382"/>
            <a:ext cx="161849" cy="20939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95798" y="6091733"/>
            <a:ext cx="7573061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感謝Samsung明日創新者大賽提供的展示平台與支持，激勵我們追求創新並實現智能運動科技的普及。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026603" y="7417613"/>
            <a:ext cx="24487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香港科創生態願景</a:t>
            </a:r>
            <a:endParaRPr lang="en-US" sz="2100" dirty="0"/>
          </a:p>
        </p:txBody>
      </p:sp>
      <p:sp>
        <p:nvSpPr>
          <p:cNvPr id="23" name="Text 17"/>
          <p:cNvSpPr txBox="1"/>
          <p:nvPr/>
        </p:nvSpPr>
        <p:spPr>
          <a:xfrm>
            <a:off x="4900270" y="7979054"/>
            <a:ext cx="866851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我們相信，普惠科技能夠促進香港體育與科技融合發展。SmartRacket Coach代表著我們對推動香港成為運動科技創新樞紐的承諾，讓每位運動愛好者都能享受到科技帶來的專業訓練體驗。通過開源合作與技術共享，我們希望激發更多本地創新，共同建設充滿活力的科創生態系統。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7953451" y="9779508"/>
            <a:ext cx="2381098" cy="19202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821778" y="9893808"/>
            <a:ext cx="28200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團隊</a:t>
            </a:r>
            <a:endParaRPr lang="en-US" sz="18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71500" y="10633558"/>
            <a:ext cx="200254" cy="20025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47649" y="10570464"/>
            <a:ext cx="40197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科技創新，源於對運動的熱愛與社會責任感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3415162" y="10570464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38/43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580644"/>
            <a:ext cx="30961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產品實物展示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837944"/>
            <a:ext cx="8401507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智能球拍教練系統結合硬體感測和AI演算法，為乒乓愛好者打造全方位訓練輔助系統。這套系統經過精心設計，確保實用性、輕量化和易於使用。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3221431"/>
            <a:ext cx="83439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產品包含球拍硬體模組、Android原生應用和完整的包裝與說明書，讓用戶能夠快速上手並開始數據化訓練。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1500" y="4229100"/>
            <a:ext cx="381305" cy="381305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4343400"/>
            <a:ext cx="152705" cy="1527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" y="4753051"/>
            <a:ext cx="381305" cy="381305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5800954"/>
            <a:ext cx="381305" cy="381305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95451" y="4248302"/>
            <a:ext cx="39913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硬體模組重量僅13g，不影響揮拍平衡</a:t>
            </a:r>
            <a:endParaRPr lang="en-US" sz="1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694944" y="4867351"/>
            <a:ext cx="133502" cy="1527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71500" y="5277002"/>
            <a:ext cx="381305" cy="381305"/>
          </a:xfrm>
          <a:prstGeom prst="ellipse">
            <a:avLst/>
          </a:prstGeom>
          <a:solidFill>
            <a:srgbClr val="1F77D3">
              <a:alpha val="10000"/>
            </a:srgb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1095451" y="4772254"/>
            <a:ext cx="43150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單次充電15小時續航，滿足整日訓練需求</a:t>
            </a:r>
            <a:endParaRPr lang="en-US" sz="1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0" b="-100"/>
          <a:stretch/>
        </p:blipFill>
        <p:spPr>
          <a:xfrm>
            <a:off x="705002" y="5391302"/>
            <a:ext cx="114300" cy="152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5451" y="5296205"/>
            <a:ext cx="39529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App支援Samsung Galaxy全系列裝置</a:t>
            </a:r>
            <a:endParaRPr lang="en-US" sz="1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5800" y="5915254"/>
            <a:ext cx="152705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5451" y="5820156"/>
            <a:ext cx="3600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完整數據分析與訓練歷史追蹤功能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571500" y="6467551"/>
            <a:ext cx="8287207" cy="1067105"/>
          </a:xfrm>
          <a:prstGeom prst="rect">
            <a:avLst/>
          </a:prstGeom>
          <a:solidFill>
            <a:srgbClr val="1F77D3">
              <a:alpha val="8000"/>
            </a:srgbClr>
          </a:solidFill>
          <a:ln/>
        </p:spPr>
      </p:sp>
      <p:sp>
        <p:nvSpPr>
          <p:cNvPr id="19" name="Shape 13"/>
          <p:cNvSpPr/>
          <p:nvPr/>
        </p:nvSpPr>
        <p:spPr>
          <a:xfrm>
            <a:off x="571500" y="6467551"/>
            <a:ext cx="47549" cy="106710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809244" y="6658661"/>
            <a:ext cx="78492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使用者體驗：產品設計堅持「3秒設置，即插即用」的原則，讓非技術用戶也能輕鬆上手，實現專業級數據分析。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9430207" y="571500"/>
            <a:ext cx="8287207" cy="6029554"/>
          </a:xfrm>
          <a:prstGeom prst="roundRect">
            <a:avLst>
              <a:gd name="adj" fmla="val 3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0" dist="63500" dir="5400000">
              <a:srgbClr val="000000">
                <a:alpha val="12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9715500" y="866851"/>
            <a:ext cx="44577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實體產品</a:t>
            </a:r>
            <a:endParaRPr lang="en-US" sz="2400" dirty="0"/>
          </a:p>
        </p:txBody>
      </p:sp>
      <p:sp>
        <p:nvSpPr>
          <p:cNvPr id="23" name="Text 17"/>
          <p:cNvSpPr txBox="1"/>
          <p:nvPr/>
        </p:nvSpPr>
        <p:spPr>
          <a:xfrm>
            <a:off x="9715500" y="1390802"/>
            <a:ext cx="4401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融合運動科學與AI邊緣計算技術的專業訓練助手</a:t>
            </a:r>
            <a:endParaRPr lang="en-US" sz="15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22151" b="22151"/>
          <a:stretch/>
        </p:blipFill>
        <p:spPr>
          <a:xfrm>
            <a:off x="9715500" y="1933956"/>
            <a:ext cx="3762756" cy="2095805"/>
          </a:xfrm>
          <a:prstGeom prst="rect">
            <a:avLst/>
          </a:prstGeom>
        </p:spPr>
      </p:pic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22151" b="22151"/>
          <a:stretch/>
        </p:blipFill>
        <p:spPr>
          <a:xfrm>
            <a:off x="13668451" y="1933956"/>
            <a:ext cx="3762756" cy="2095805"/>
          </a:xfrm>
          <a:prstGeom prst="rect">
            <a:avLst/>
          </a:prstGeom>
        </p:spPr>
      </p:pic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22151" b="22151"/>
          <a:stretch/>
        </p:blipFill>
        <p:spPr>
          <a:xfrm>
            <a:off x="9715500" y="4219956"/>
            <a:ext cx="3762756" cy="2095805"/>
          </a:xfrm>
          <a:prstGeom prst="rect">
            <a:avLst/>
          </a:prstGeom>
        </p:spPr>
      </p:pic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22151" b="22151"/>
          <a:stretch/>
        </p:blipFill>
        <p:spPr>
          <a:xfrm>
            <a:off x="13668451" y="4219956"/>
            <a:ext cx="3762756" cy="2095805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13001854" y="2124151"/>
            <a:ext cx="286207" cy="286207"/>
          </a:xfrm>
          <a:prstGeom prst="ellipse">
            <a:avLst/>
          </a:prstGeom>
          <a:solidFill>
            <a:srgbClr val="E53935">
              <a:alpha val="90000"/>
            </a:srgbClr>
          </a:solidFill>
          <a:ln/>
        </p:spPr>
      </p:sp>
      <p:sp>
        <p:nvSpPr>
          <p:cNvPr id="29" name="Text 19"/>
          <p:cNvSpPr txBox="1"/>
          <p:nvPr/>
        </p:nvSpPr>
        <p:spPr>
          <a:xfrm>
            <a:off x="13092379" y="2133295"/>
            <a:ext cx="247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Shape 20"/>
          <p:cNvSpPr/>
          <p:nvPr/>
        </p:nvSpPr>
        <p:spPr>
          <a:xfrm>
            <a:off x="9715500" y="3534156"/>
            <a:ext cx="3762756" cy="495605"/>
          </a:xfrm>
          <a:prstGeom prst="rect">
            <a:avLst/>
          </a:prstGeom>
          <a:solidFill>
            <a:srgbClr val="1F77D3">
              <a:alpha val="85000"/>
            </a:srgbClr>
          </a:solidFill>
          <a:ln/>
        </p:spPr>
      </p:sp>
      <p:sp>
        <p:nvSpPr>
          <p:cNvPr id="31" name="Shape 21"/>
          <p:cNvSpPr/>
          <p:nvPr/>
        </p:nvSpPr>
        <p:spPr>
          <a:xfrm>
            <a:off x="13668451" y="3534156"/>
            <a:ext cx="3762756" cy="495605"/>
          </a:xfrm>
          <a:prstGeom prst="rect">
            <a:avLst/>
          </a:prstGeom>
          <a:solidFill>
            <a:srgbClr val="1F77D3">
              <a:alpha val="85000"/>
            </a:srgbClr>
          </a:solidFill>
          <a:ln/>
        </p:spPr>
      </p:sp>
      <p:sp>
        <p:nvSpPr>
          <p:cNvPr id="32" name="Shape 22"/>
          <p:cNvSpPr/>
          <p:nvPr/>
        </p:nvSpPr>
        <p:spPr>
          <a:xfrm>
            <a:off x="9715500" y="5820156"/>
            <a:ext cx="3762756" cy="495605"/>
          </a:xfrm>
          <a:prstGeom prst="rect">
            <a:avLst/>
          </a:prstGeom>
          <a:solidFill>
            <a:srgbClr val="1F77D3">
              <a:alpha val="85000"/>
            </a:srgbClr>
          </a:solidFill>
          <a:ln/>
        </p:spPr>
      </p:sp>
      <p:sp>
        <p:nvSpPr>
          <p:cNvPr id="33" name="Shape 23"/>
          <p:cNvSpPr/>
          <p:nvPr/>
        </p:nvSpPr>
        <p:spPr>
          <a:xfrm>
            <a:off x="13668451" y="5820156"/>
            <a:ext cx="3762756" cy="495605"/>
          </a:xfrm>
          <a:prstGeom prst="rect">
            <a:avLst/>
          </a:prstGeom>
          <a:solidFill>
            <a:srgbClr val="1F77D3">
              <a:alpha val="85000"/>
            </a:srgbClr>
          </a:solidFill>
          <a:ln/>
        </p:spPr>
      </p:sp>
      <p:sp>
        <p:nvSpPr>
          <p:cNvPr id="34" name="Text 24"/>
          <p:cNvSpPr txBox="1"/>
          <p:nvPr/>
        </p:nvSpPr>
        <p:spPr>
          <a:xfrm>
            <a:off x="9858146" y="3629254"/>
            <a:ext cx="17812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硬體模組安裝效果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13811098" y="3629254"/>
            <a:ext cx="21534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Android原生應用界面</a:t>
            </a:r>
            <a:endParaRPr lang="en-US" sz="1500" dirty="0"/>
          </a:p>
        </p:txBody>
      </p:sp>
      <p:sp>
        <p:nvSpPr>
          <p:cNvPr id="36" name="Text 26"/>
          <p:cNvSpPr txBox="1"/>
          <p:nvPr/>
        </p:nvSpPr>
        <p:spPr>
          <a:xfrm>
            <a:off x="9858146" y="5915254"/>
            <a:ext cx="13716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訓練場景實拍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13811098" y="5915254"/>
            <a:ext cx="13716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環保包裝設計</a:t>
            </a:r>
            <a:endParaRPr lang="en-US" sz="1500" dirty="0"/>
          </a:p>
        </p:txBody>
      </p:sp>
      <p:sp>
        <p:nvSpPr>
          <p:cNvPr id="38" name="Shape 28"/>
          <p:cNvSpPr/>
          <p:nvPr/>
        </p:nvSpPr>
        <p:spPr>
          <a:xfrm>
            <a:off x="13858646" y="3267151"/>
            <a:ext cx="286207" cy="286207"/>
          </a:xfrm>
          <a:prstGeom prst="ellipse">
            <a:avLst/>
          </a:prstGeom>
          <a:solidFill>
            <a:srgbClr val="E53935">
              <a:alpha val="90000"/>
            </a:srgbClr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13949172" y="3276295"/>
            <a:ext cx="247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Shape 30"/>
          <p:cNvSpPr/>
          <p:nvPr/>
        </p:nvSpPr>
        <p:spPr>
          <a:xfrm>
            <a:off x="9905695" y="4695444"/>
            <a:ext cx="286207" cy="286207"/>
          </a:xfrm>
          <a:prstGeom prst="ellipse">
            <a:avLst/>
          </a:prstGeom>
          <a:solidFill>
            <a:srgbClr val="E53935">
              <a:alpha val="90000"/>
            </a:srgbClr>
          </a:solidFill>
          <a:ln/>
        </p:spPr>
      </p:sp>
      <p:sp>
        <p:nvSpPr>
          <p:cNvPr id="41" name="Text 31"/>
          <p:cNvSpPr txBox="1"/>
          <p:nvPr/>
        </p:nvSpPr>
        <p:spPr>
          <a:xfrm>
            <a:off x="9996221" y="4705502"/>
            <a:ext cx="247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400" dirty="0"/>
          </a:p>
        </p:txBody>
      </p:sp>
      <p:sp>
        <p:nvSpPr>
          <p:cNvPr id="42" name="Shape 32"/>
          <p:cNvSpPr/>
          <p:nvPr/>
        </p:nvSpPr>
        <p:spPr>
          <a:xfrm>
            <a:off x="16954805" y="5458054"/>
            <a:ext cx="286207" cy="286207"/>
          </a:xfrm>
          <a:prstGeom prst="ellipse">
            <a:avLst/>
          </a:prstGeom>
          <a:solidFill>
            <a:srgbClr val="E53935">
              <a:alpha val="90000"/>
            </a:srgbClr>
          </a:solidFill>
          <a:ln/>
        </p:spPr>
      </p:sp>
      <p:sp>
        <p:nvSpPr>
          <p:cNvPr id="43" name="Text 33"/>
          <p:cNvSpPr txBox="1"/>
          <p:nvPr/>
        </p:nvSpPr>
        <p:spPr>
          <a:xfrm>
            <a:off x="17044416" y="5467198"/>
            <a:ext cx="247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Shape 34"/>
          <p:cNvSpPr/>
          <p:nvPr/>
        </p:nvSpPr>
        <p:spPr>
          <a:xfrm>
            <a:off x="9430207" y="6886346"/>
            <a:ext cx="8287207" cy="2095805"/>
          </a:xfrm>
          <a:prstGeom prst="rect">
            <a:avLst/>
          </a:prstGeom>
          <a:solidFill>
            <a:srgbClr val="1F77D3">
              <a:alpha val="8000"/>
            </a:srgbClr>
          </a:solidFill>
          <a:ln/>
        </p:spPr>
      </p:sp>
      <p:sp>
        <p:nvSpPr>
          <p:cNvPr id="45" name="Shape 35"/>
          <p:cNvSpPr/>
          <p:nvPr/>
        </p:nvSpPr>
        <p:spPr>
          <a:xfrm>
            <a:off x="9430207" y="6886346"/>
            <a:ext cx="47549" cy="2095805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46" name="Text 36"/>
          <p:cNvSpPr txBox="1"/>
          <p:nvPr/>
        </p:nvSpPr>
        <p:spPr>
          <a:xfrm>
            <a:off x="9667951" y="7077456"/>
            <a:ext cx="13149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註釋說明：</a:t>
            </a:r>
            <a:endParaRPr lang="en-US" sz="1800" dirty="0"/>
          </a:p>
        </p:txBody>
      </p:sp>
      <p:sp>
        <p:nvSpPr>
          <p:cNvPr id="47" name="Text 37"/>
          <p:cNvSpPr txBox="1"/>
          <p:nvPr/>
        </p:nvSpPr>
        <p:spPr>
          <a:xfrm>
            <a:off x="9667951" y="7420356"/>
            <a:ext cx="43059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1. 模組採用磁吸式安裝，不損傷球拍結構</a:t>
            </a:r>
            <a:endParaRPr lang="en-US" sz="1800" dirty="0"/>
          </a:p>
        </p:txBody>
      </p:sp>
      <p:sp>
        <p:nvSpPr>
          <p:cNvPr id="48" name="Text 38"/>
          <p:cNvSpPr txBox="1"/>
          <p:nvPr/>
        </p:nvSpPr>
        <p:spPr>
          <a:xfrm>
            <a:off x="9667951" y="7763256"/>
            <a:ext cx="49249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2. 應用界面經過Samsung One UI設計準則優化</a:t>
            </a:r>
            <a:endParaRPr lang="en-US" sz="1800" dirty="0"/>
          </a:p>
        </p:txBody>
      </p:sp>
      <p:sp>
        <p:nvSpPr>
          <p:cNvPr id="49" name="Text 39"/>
          <p:cNvSpPr txBox="1"/>
          <p:nvPr/>
        </p:nvSpPr>
        <p:spPr>
          <a:xfrm>
            <a:off x="9667951" y="8106156"/>
            <a:ext cx="37344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3. 訓練數據實時分析，50ms內反饋</a:t>
            </a:r>
            <a:endParaRPr lang="en-US" sz="1800" dirty="0"/>
          </a:p>
        </p:txBody>
      </p:sp>
      <p:sp>
        <p:nvSpPr>
          <p:cNvPr id="50" name="Text 40"/>
          <p:cNvSpPr txBox="1"/>
          <p:nvPr/>
        </p:nvSpPr>
        <p:spPr>
          <a:xfrm>
            <a:off x="9667951" y="8449056"/>
            <a:ext cx="35250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4. 包裝採用100%可回收紙質材料</a:t>
            </a:r>
            <a:endParaRPr lang="en-US" sz="1800" dirty="0"/>
          </a:p>
        </p:txBody>
      </p:sp>
      <p:sp>
        <p:nvSpPr>
          <p:cNvPr id="51" name="Text 41"/>
          <p:cNvSpPr txBox="1"/>
          <p:nvPr/>
        </p:nvSpPr>
        <p:spPr>
          <a:xfrm>
            <a:off x="13953744" y="9734702"/>
            <a:ext cx="39054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39/43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0" y="1957730"/>
            <a:ext cx="30961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核心創新回顧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2360066" y="2938882"/>
            <a:ext cx="13764463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的核心創新在於將邊緣運算機器學習與低成本IMU感測器結合，創造首個混合計算架構的乒乓球訓練系統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80744" y="3605479"/>
            <a:ext cx="2857500" cy="2857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7D3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508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38044" y="3648456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41018" y="4176979"/>
            <a:ext cx="237195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邊緣AI + 低成本IMU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777594" y="5119726"/>
            <a:ext cx="2238451" cy="1438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將MPU-6050與ESP32結合，實現低於170港元的硬體成本，同時確保85%動作識別準確率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952744" y="3605479"/>
            <a:ext cx="2857500" cy="2857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3935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508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10044" y="4014216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67551" y="4542739"/>
            <a:ext cx="2067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混合計算架構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353251" y="5028286"/>
            <a:ext cx="2229307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邊緣感測+手機端推論的混合架構，確保低於50ms延遲與完全離線運行能力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9477756" y="4557370"/>
            <a:ext cx="2857500" cy="2857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3935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508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-607" r="-607" t="0" b="0"/>
          <a:stretch/>
        </p:blipFill>
        <p:spPr>
          <a:xfrm>
            <a:off x="10711282" y="4966106"/>
            <a:ext cx="390449" cy="3429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991649" y="5494630"/>
            <a:ext cx="2067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高光一刻功能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9873691" y="5981090"/>
            <a:ext cx="2238451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自動捕捉完美擊球瞬間，節省95%編輯時間，一鍵分享精彩訓練片段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14049756" y="4557370"/>
            <a:ext cx="2857500" cy="2857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7D3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508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5" b="-45"/>
          <a:stretch/>
        </p:blipFill>
        <p:spPr>
          <a:xfrm>
            <a:off x="15349118" y="4737506"/>
            <a:ext cx="256946" cy="342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327734" y="5266030"/>
            <a:ext cx="253380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Samsung生態整合</a:t>
            </a:r>
            <a:endParaRPr lang="en-US" sz="2400" dirty="0"/>
          </a:p>
        </p:txBody>
      </p:sp>
      <p:sp>
        <p:nvSpPr>
          <p:cNvPr id="20" name="Text 14"/>
          <p:cNvSpPr txBox="1"/>
          <p:nvPr/>
        </p:nvSpPr>
        <p:spPr>
          <a:xfrm>
            <a:off x="14424660" y="6209690"/>
            <a:ext cx="2286000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與Galaxy Watch深度整合，結合心率與運動數據，提供全面訓練分析與個性化建議</a:t>
            </a:r>
            <a:endParaRPr lang="en-US" sz="18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-837" r="-837" t="0" b="0"/>
          <a:stretch/>
        </p:blipFill>
        <p:spPr>
          <a:xfrm>
            <a:off x="571500" y="9855403"/>
            <a:ext cx="152705" cy="20025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00100" y="9791395"/>
            <a:ext cx="63633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創新的價值在於讓精英級運動分析普及化，服務全球3億乒乓球愛好者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3415162" y="9791395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40/43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8287207" y="4962449"/>
            <a:ext cx="1714500" cy="1714500"/>
          </a:xfrm>
          <a:prstGeom prst="ellipse">
            <a:avLst/>
          </a:prstGeom>
          <a:solidFill>
            <a:srgbClr val="1F77D3"/>
          </a:solidFill>
          <a:ln/>
          <a:effectLst>
            <a:outerShdw sx="100000" sy="100000" kx="0" ky="0" algn="bl" rotWithShape="0" blurRad="139700" dist="50800" dir="5400000">
              <a:srgbClr val="000000">
                <a:alpha val="20000"/>
              </a:srgbClr>
            </a:outerShdw>
          </a:effectLst>
        </p:spPr>
      </p:sp>
      <p:sp>
        <p:nvSpPr>
          <p:cNvPr id="25" name="Text 18"/>
          <p:cNvSpPr txBox="1"/>
          <p:nvPr/>
        </p:nvSpPr>
        <p:spPr>
          <a:xfrm>
            <a:off x="8171993" y="5372100"/>
            <a:ext cx="21817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</a:t>
            </a:r>
            <a:endParaRPr lang="en-US" sz="2400" dirty="0"/>
          </a:p>
        </p:txBody>
      </p:sp>
      <p:sp>
        <p:nvSpPr>
          <p:cNvPr id="26" name="Text 19"/>
          <p:cNvSpPr txBox="1"/>
          <p:nvPr/>
        </p:nvSpPr>
        <p:spPr>
          <a:xfrm>
            <a:off x="8684057" y="5829300"/>
            <a:ext cx="11530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Coach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28854" y="371246"/>
            <a:ext cx="30961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使用情境演示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28854" y="1343254"/>
            <a:ext cx="84774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的完整使用流程，從安裝到數據分析一氣呵成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28854" y="1933042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6" name="Shape 4"/>
          <p:cNvSpPr/>
          <p:nvPr/>
        </p:nvSpPr>
        <p:spPr>
          <a:xfrm>
            <a:off x="428854" y="4881982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7" name="Shape 5"/>
          <p:cNvSpPr/>
          <p:nvPr/>
        </p:nvSpPr>
        <p:spPr>
          <a:xfrm>
            <a:off x="428854" y="7830922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8" name="Shape 6"/>
          <p:cNvSpPr/>
          <p:nvPr/>
        </p:nvSpPr>
        <p:spPr>
          <a:xfrm>
            <a:off x="428854" y="10779862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75158" y="1952244"/>
            <a:ext cx="381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75158" y="4901184"/>
            <a:ext cx="381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75158" y="7850124"/>
            <a:ext cx="381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75158" y="10799064"/>
            <a:ext cx="381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123798" y="1933042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設備安裝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23798" y="10779862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即時反饋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23798" y="2428646"/>
            <a:ext cx="16735349" cy="2247595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57300" y="2618842"/>
            <a:ext cx="228600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23798" y="4881982"/>
            <a:ext cx="11914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App配對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123798" y="7830922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開始訓練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1123798" y="5377586"/>
            <a:ext cx="16735349" cy="2247595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123798" y="8326526"/>
            <a:ext cx="16735349" cy="2247595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3798" y="11275466"/>
            <a:ext cx="16735349" cy="2247595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1561795" y="2562149"/>
            <a:ext cx="245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輕鬆安裝，不影響揮拍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505102" y="5511089"/>
            <a:ext cx="154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一鍵配對連接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257300" y="2971800"/>
            <a:ext cx="78775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將傳感器模組安裝在球拍握把底部，僅重13g，不影響球拍平衡性與揮拍手感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257300" y="3396082"/>
            <a:ext cx="16468344" cy="11430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952183" y="3815791"/>
            <a:ext cx="52395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球拍底部安裝傳感器的示意圖，展示安裝位置和固定方式</a:t>
            </a:r>
            <a:endParaRPr lang="en-US" sz="15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rcRect l="-133" r="-133" t="0" b="0"/>
          <a:stretch/>
        </p:blipFill>
        <p:spPr>
          <a:xfrm>
            <a:off x="1257300" y="5567782"/>
            <a:ext cx="171907" cy="22860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561795" y="8460029"/>
            <a:ext cx="1543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簡潔操作界面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1257300" y="5920740"/>
            <a:ext cx="8001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開啟智能球拍電源，App自動掃描並連接，BLE 5.0確保穩定連接，低功耗運行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1257300" y="8869680"/>
            <a:ext cx="86584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選擇訓練模式（基礎練習/技術提升/比賽模擬），一鍵開始，系統自動校準IMU傳感器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1257300" y="6345022"/>
            <a:ext cx="16468344" cy="11430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475220" y="6764731"/>
            <a:ext cx="4191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App配對介面截圖，展示設備搜尋和連接過程</a:t>
            </a:r>
            <a:endParaRPr lang="en-US" sz="150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57300" y="8516722"/>
            <a:ext cx="228600" cy="228600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1257300" y="9293962"/>
            <a:ext cx="16468344" cy="11430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7053682" y="9713671"/>
            <a:ext cx="50292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訓練模式選擇界面截圖，展示不同訓練選項和開始按鈕</a:t>
            </a:r>
            <a:endParaRPr lang="en-US" sz="15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rcRect l="-57" r="-57" t="0" b="0"/>
          <a:stretch/>
        </p:blipFill>
        <p:spPr>
          <a:xfrm>
            <a:off x="1257300" y="11465662"/>
            <a:ext cx="200254" cy="228600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428854" y="13728802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38" name="Shape 32"/>
          <p:cNvSpPr/>
          <p:nvPr/>
        </p:nvSpPr>
        <p:spPr>
          <a:xfrm>
            <a:off x="428854" y="16677742"/>
            <a:ext cx="457200" cy="457200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575158" y="13748004"/>
            <a:ext cx="381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2100" dirty="0"/>
          </a:p>
        </p:txBody>
      </p:sp>
      <p:sp>
        <p:nvSpPr>
          <p:cNvPr id="40" name="Text 34"/>
          <p:cNvSpPr txBox="1"/>
          <p:nvPr/>
        </p:nvSpPr>
        <p:spPr>
          <a:xfrm>
            <a:off x="575158" y="16696944"/>
            <a:ext cx="381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2100" dirty="0"/>
          </a:p>
        </p:txBody>
      </p:sp>
      <p:sp>
        <p:nvSpPr>
          <p:cNvPr id="41" name="Text 35"/>
          <p:cNvSpPr txBox="1"/>
          <p:nvPr/>
        </p:nvSpPr>
        <p:spPr>
          <a:xfrm>
            <a:off x="1123798" y="13728802"/>
            <a:ext cx="171541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高光時刻捕捉</a:t>
            </a:r>
            <a:endParaRPr lang="en-US" sz="2000" dirty="0"/>
          </a:p>
        </p:txBody>
      </p:sp>
      <p:sp>
        <p:nvSpPr>
          <p:cNvPr id="42" name="Text 36"/>
          <p:cNvSpPr txBox="1"/>
          <p:nvPr/>
        </p:nvSpPr>
        <p:spPr>
          <a:xfrm>
            <a:off x="1123798" y="16677742"/>
            <a:ext cx="12097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數據回顧</a:t>
            </a:r>
            <a:endParaRPr lang="en-US" sz="2000" dirty="0"/>
          </a:p>
        </p:txBody>
      </p:sp>
      <p:sp>
        <p:nvSpPr>
          <p:cNvPr id="43" name="Shape 37"/>
          <p:cNvSpPr/>
          <p:nvPr/>
        </p:nvSpPr>
        <p:spPr>
          <a:xfrm>
            <a:off x="1123798" y="14224406"/>
            <a:ext cx="16735349" cy="2247595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1123798" y="17173346"/>
            <a:ext cx="16735349" cy="2247595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50800" dir="5400000">
              <a:srgbClr val="000000">
                <a:alpha val="8000"/>
              </a:srgbClr>
            </a:outerShdw>
          </a:effectLst>
        </p:spPr>
      </p:sp>
      <p:sp>
        <p:nvSpPr>
          <p:cNvPr id="45" name="Text 39"/>
          <p:cNvSpPr txBox="1"/>
          <p:nvPr/>
        </p:nvSpPr>
        <p:spPr>
          <a:xfrm>
            <a:off x="1533449" y="11408969"/>
            <a:ext cx="17721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毫秒級實時分析</a:t>
            </a:r>
            <a:endParaRPr lang="en-US" sz="1800" dirty="0"/>
          </a:p>
        </p:txBody>
      </p:sp>
      <p:sp>
        <p:nvSpPr>
          <p:cNvPr id="46" name="Text 40"/>
          <p:cNvSpPr txBox="1"/>
          <p:nvPr/>
        </p:nvSpPr>
        <p:spPr>
          <a:xfrm>
            <a:off x="1591056" y="14357909"/>
            <a:ext cx="20007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自動記錄精彩瞬間</a:t>
            </a:r>
            <a:endParaRPr lang="en-US" sz="1800" dirty="0"/>
          </a:p>
        </p:txBody>
      </p:sp>
      <p:sp>
        <p:nvSpPr>
          <p:cNvPr id="47" name="Text 41"/>
          <p:cNvSpPr txBox="1"/>
          <p:nvPr/>
        </p:nvSpPr>
        <p:spPr>
          <a:xfrm>
            <a:off x="1257300" y="11818620"/>
            <a:ext cx="91732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每次揮拍後&lt;50ms反饋，識別動作類型（正手/反手/發球等），提供0-10分評分與改進建議</a:t>
            </a:r>
            <a:endParaRPr lang="en-US" sz="1800" dirty="0"/>
          </a:p>
        </p:txBody>
      </p:sp>
      <p:sp>
        <p:nvSpPr>
          <p:cNvPr id="48" name="Text 42"/>
          <p:cNvSpPr txBox="1"/>
          <p:nvPr/>
        </p:nvSpPr>
        <p:spPr>
          <a:xfrm>
            <a:off x="1257300" y="14767560"/>
            <a:ext cx="95728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系統自動識別優質揮拍（評分≥8分），一鍵保存高光時刻，無需手動編輯，節省95%編輯時間</a:t>
            </a:r>
            <a:endParaRPr lang="en-US" sz="1800" dirty="0"/>
          </a:p>
        </p:txBody>
      </p:sp>
      <p:sp>
        <p:nvSpPr>
          <p:cNvPr id="49" name="Shape 43"/>
          <p:cNvSpPr/>
          <p:nvPr/>
        </p:nvSpPr>
        <p:spPr>
          <a:xfrm>
            <a:off x="1257300" y="12242902"/>
            <a:ext cx="16468344" cy="11430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6952183" y="12661697"/>
            <a:ext cx="52395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即時反饋界面截圖，展示動作識別結果、評分和改進建議</a:t>
            </a:r>
            <a:endParaRPr lang="en-US" sz="1500" dirty="0"/>
          </a:p>
        </p:txBody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4" b="-44"/>
          <a:stretch/>
        </p:blipFill>
        <p:spPr>
          <a:xfrm>
            <a:off x="1257300" y="14414602"/>
            <a:ext cx="256946" cy="228600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1561795" y="17306849"/>
            <a:ext cx="17721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全方位訓練分析</a:t>
            </a:r>
            <a:endParaRPr lang="en-US" sz="1800" dirty="0"/>
          </a:p>
        </p:txBody>
      </p:sp>
      <p:sp>
        <p:nvSpPr>
          <p:cNvPr id="53" name="Text 46"/>
          <p:cNvSpPr txBox="1"/>
          <p:nvPr/>
        </p:nvSpPr>
        <p:spPr>
          <a:xfrm>
            <a:off x="1257300" y="17716500"/>
            <a:ext cx="92016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查看詳細訓練數據（總揮拍次數、動作分布、平均得分、進步曲線），支援數據導出與分享</a:t>
            </a:r>
            <a:endParaRPr lang="en-US" sz="1800" dirty="0"/>
          </a:p>
        </p:txBody>
      </p:sp>
      <p:sp>
        <p:nvSpPr>
          <p:cNvPr id="54" name="Shape 47"/>
          <p:cNvSpPr/>
          <p:nvPr/>
        </p:nvSpPr>
        <p:spPr>
          <a:xfrm>
            <a:off x="1257300" y="15191842"/>
            <a:ext cx="16468344" cy="11430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55" name="Shape 48"/>
          <p:cNvSpPr/>
          <p:nvPr/>
        </p:nvSpPr>
        <p:spPr>
          <a:xfrm>
            <a:off x="1257300" y="18140782"/>
            <a:ext cx="16468344" cy="11430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56" name="Text 49"/>
          <p:cNvSpPr txBox="1"/>
          <p:nvPr/>
        </p:nvSpPr>
        <p:spPr>
          <a:xfrm>
            <a:off x="7256678" y="15610637"/>
            <a:ext cx="46296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高光時刻捕捉界面截圖，展示觸發按鈕和保存效果</a:t>
            </a:r>
            <a:endParaRPr lang="en-US" sz="1500" dirty="0"/>
          </a:p>
        </p:txBody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257300" y="17363542"/>
            <a:ext cx="228600" cy="228600"/>
          </a:xfrm>
          <a:prstGeom prst="rect">
            <a:avLst/>
          </a:prstGeom>
        </p:spPr>
      </p:pic>
      <p:sp>
        <p:nvSpPr>
          <p:cNvPr id="58" name="Text 50"/>
          <p:cNvSpPr txBox="1"/>
          <p:nvPr/>
        </p:nvSpPr>
        <p:spPr>
          <a:xfrm>
            <a:off x="7256678" y="18559577"/>
            <a:ext cx="46296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數據分析界面截圖，展示訓練統計圖表和進步曲線</a:t>
            </a:r>
            <a:endParaRPr lang="en-US" sz="1500" dirty="0"/>
          </a:p>
        </p:txBody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28854" y="9569196"/>
            <a:ext cx="200254" cy="200254"/>
          </a:xfrm>
          <a:prstGeom prst="rect">
            <a:avLst/>
          </a:prstGeom>
        </p:spPr>
      </p:pic>
      <p:sp>
        <p:nvSpPr>
          <p:cNvPr id="60" name="Text 51"/>
          <p:cNvSpPr txBox="1"/>
          <p:nvPr/>
        </p:nvSpPr>
        <p:spPr>
          <a:xfrm>
            <a:off x="705002" y="9506102"/>
            <a:ext cx="36100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無縫用戶體驗，從安裝到分析一氣呵成</a:t>
            </a:r>
            <a:endParaRPr lang="en-US" sz="1500" dirty="0"/>
          </a:p>
        </p:txBody>
      </p:sp>
      <p:sp>
        <p:nvSpPr>
          <p:cNvPr id="61" name="Text 52"/>
          <p:cNvSpPr txBox="1"/>
          <p:nvPr/>
        </p:nvSpPr>
        <p:spPr>
          <a:xfrm>
            <a:off x="13557809" y="9506102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41/43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29400" y="1571854"/>
            <a:ext cx="53821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感謝聆聽，期待您的提問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162142" y="2514600"/>
            <a:ext cx="62014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團隊樂於回答任何問題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333695" y="3247949"/>
            <a:ext cx="7619695" cy="3771900"/>
          </a:xfrm>
          <a:prstGeom prst="roundRect">
            <a:avLst>
              <a:gd name="adj" fmla="val 7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508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72500" y="3534156"/>
            <a:ext cx="1143000" cy="1143000"/>
          </a:xfrm>
          <a:prstGeom prst="ellipse">
            <a:avLst/>
          </a:prstGeom>
          <a:solidFill>
            <a:srgbClr val="1F77D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6" b="-16"/>
          <a:stretch/>
        </p:blipFill>
        <p:spPr>
          <a:xfrm>
            <a:off x="8786470" y="3819449"/>
            <a:ext cx="714146" cy="5715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13118" y="4914900"/>
            <a:ext cx="42583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我們準備好討論以下議題及更多內容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687568" y="5486400"/>
            <a:ext cx="1399946" cy="457200"/>
          </a:xfrm>
          <a:prstGeom prst="roundRect">
            <a:avLst>
              <a:gd name="adj" fmla="val 200000"/>
            </a:avLst>
          </a:prstGeom>
          <a:solidFill>
            <a:srgbClr val="1F77D3">
              <a:alpha val="10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77763" y="5615330"/>
            <a:ext cx="200254" cy="20025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224674" y="5486400"/>
            <a:ext cx="1457554" cy="457200"/>
          </a:xfrm>
          <a:prstGeom prst="roundRect">
            <a:avLst>
              <a:gd name="adj" fmla="val 200000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8818474" y="5486400"/>
            <a:ext cx="2247595" cy="457200"/>
          </a:xfrm>
          <a:prstGeom prst="roundRect">
            <a:avLst>
              <a:gd name="adj" fmla="val 200000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078017" y="5562295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技術架構</a:t>
            </a:r>
            <a:endParaRPr lang="en-US" sz="15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-1324" r="-1324" t="0" b="0"/>
          <a:stretch/>
        </p:blipFill>
        <p:spPr>
          <a:xfrm>
            <a:off x="7414870" y="5615330"/>
            <a:ext cx="256946" cy="20025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671816" y="5562295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開源計劃</a:t>
            </a:r>
            <a:endParaRPr lang="en-US" sz="15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-837" r="-837" t="0" b="0"/>
          <a:stretch/>
        </p:blipFill>
        <p:spPr>
          <a:xfrm>
            <a:off x="9008669" y="5615330"/>
            <a:ext cx="152705" cy="20025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1206886" y="5486400"/>
            <a:ext cx="1399946" cy="457200"/>
          </a:xfrm>
          <a:prstGeom prst="roundRect">
            <a:avLst>
              <a:gd name="adj" fmla="val 200000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9161374" y="5562295"/>
            <a:ext cx="18672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Samsung生態整合</a:t>
            </a:r>
            <a:endParaRPr lang="en-US" sz="15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397082" y="5615330"/>
            <a:ext cx="200254" cy="20025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673645" y="6086246"/>
            <a:ext cx="1352398" cy="457200"/>
          </a:xfrm>
          <a:prstGeom prst="roundRect">
            <a:avLst>
              <a:gd name="adj" fmla="val 200000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11597335" y="5562295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商業模式</a:t>
            </a:r>
            <a:endParaRPr lang="en-US" sz="15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-837" r="-837" t="0" b="0"/>
          <a:stretch/>
        </p:blipFill>
        <p:spPr>
          <a:xfrm>
            <a:off x="7864754" y="6215177"/>
            <a:ext cx="152705" cy="20025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163202" y="6086246"/>
            <a:ext cx="1457554" cy="457200"/>
          </a:xfrm>
          <a:prstGeom prst="roundRect">
            <a:avLst>
              <a:gd name="adj" fmla="val 200000"/>
            </a:avLst>
          </a:prstGeom>
          <a:solidFill>
            <a:srgbClr val="1F77D3">
              <a:alpha val="10000"/>
            </a:srgbClr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8016545" y="6163056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未來發展</a:t>
            </a:r>
            <a:endParaRPr lang="en-US" sz="15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rcRect l="-1324" r="-1324" t="0" b="0"/>
          <a:stretch/>
        </p:blipFill>
        <p:spPr>
          <a:xfrm>
            <a:off x="9353398" y="6215177"/>
            <a:ext cx="256946" cy="20025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610344" y="6163056"/>
            <a:ext cx="972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用戶體驗</a:t>
            </a:r>
            <a:endParaRPr lang="en-US" sz="1500" dirty="0"/>
          </a:p>
        </p:txBody>
      </p:sp>
      <p:sp>
        <p:nvSpPr>
          <p:cNvPr id="27" name="Text 18"/>
          <p:cNvSpPr txBox="1"/>
          <p:nvPr/>
        </p:nvSpPr>
        <p:spPr>
          <a:xfrm>
            <a:off x="5372100" y="7401154"/>
            <a:ext cx="77157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「提問是智慧的開端，對話是創新的催化劑。每個問題都是我們共同進步的契機。」</a:t>
            </a:r>
            <a:endParaRPr lang="en-US" sz="18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71500" y="9902952"/>
            <a:ext cx="200254" cy="20025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847649" y="9838944"/>
            <a:ext cx="36100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歡迎任何問題，我們期待與您深入交流</a:t>
            </a:r>
            <a:endParaRPr lang="en-US" sz="1500" dirty="0"/>
          </a:p>
        </p:txBody>
      </p:sp>
      <p:sp>
        <p:nvSpPr>
          <p:cNvPr id="30" name="Text 20"/>
          <p:cNvSpPr txBox="1"/>
          <p:nvPr/>
        </p:nvSpPr>
        <p:spPr>
          <a:xfrm>
            <a:off x="13415162" y="9838944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42/43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543800" y="490118"/>
            <a:ext cx="35533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聯絡資訊與簽名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20610" y="1376172"/>
            <a:ext cx="3238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讓我們持續交流，共創未來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86500" y="1900123"/>
            <a:ext cx="5715000" cy="5458054"/>
          </a:xfrm>
          <a:prstGeom prst="roundRect">
            <a:avLst>
              <a:gd name="adj" fmla="val 3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508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58407" y="2247595"/>
            <a:ext cx="381305" cy="381305"/>
          </a:xfrm>
          <a:prstGeom prst="ellipse">
            <a:avLst/>
          </a:prstGeom>
          <a:solidFill>
            <a:srgbClr val="1F77D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760" r="-760" t="0" b="0"/>
          <a:stretch/>
        </p:blipFill>
        <p:spPr>
          <a:xfrm>
            <a:off x="6572707" y="2352751"/>
            <a:ext cx="152705" cy="17190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58407" y="3057754"/>
            <a:ext cx="381305" cy="381305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9" name="Shape 6"/>
          <p:cNvSpPr/>
          <p:nvPr/>
        </p:nvSpPr>
        <p:spPr>
          <a:xfrm>
            <a:off x="6458407" y="4677156"/>
            <a:ext cx="381305" cy="381305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10" name="Shape 7"/>
          <p:cNvSpPr/>
          <p:nvPr/>
        </p:nvSpPr>
        <p:spPr>
          <a:xfrm>
            <a:off x="6458407" y="5486400"/>
            <a:ext cx="381305" cy="381305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81444" y="2072030"/>
            <a:ext cx="7050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姓名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981444" y="2881274"/>
            <a:ext cx="7050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學校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981444" y="4500677"/>
            <a:ext cx="10771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GitHub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981444" y="5309921"/>
            <a:ext cx="12865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LinkedIn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981444" y="2499970"/>
            <a:ext cx="762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黃小明</a:t>
            </a:r>
            <a:endParaRPr lang="en-US" sz="15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-1064" r="-1064" t="0" b="0"/>
          <a:stretch/>
        </p:blipFill>
        <p:spPr>
          <a:xfrm>
            <a:off x="6538874" y="3161995"/>
            <a:ext cx="219456" cy="171907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458407" y="3866998"/>
            <a:ext cx="381305" cy="381305"/>
          </a:xfrm>
          <a:prstGeom prst="ellipse">
            <a:avLst/>
          </a:prstGeom>
          <a:solidFill>
            <a:srgbClr val="1F77D3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981444" y="3310128"/>
            <a:ext cx="33631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VTC青年學院人工智能與機械人課程</a:t>
            </a:r>
            <a:endParaRPr lang="en-US" sz="15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62649" y="3972154"/>
            <a:ext cx="171907" cy="17190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981444" y="3690518"/>
            <a:ext cx="9052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Email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6981444" y="4119372"/>
            <a:ext cx="35725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xiaoming.wong@student.vtc.edu.hk</a:t>
            </a:r>
            <a:endParaRPr lang="en-US" sz="15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448" b="-1448"/>
          <a:stretch/>
        </p:blipFill>
        <p:spPr>
          <a:xfrm>
            <a:off x="6567221" y="4781398"/>
            <a:ext cx="161849" cy="17190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981444" y="4929530"/>
            <a:ext cx="30769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github.com/smartracket-coach</a:t>
            </a:r>
            <a:endParaRPr lang="en-US" sz="15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-760" r="-760" t="0" b="0"/>
          <a:stretch/>
        </p:blipFill>
        <p:spPr>
          <a:xfrm>
            <a:off x="6572707" y="5591556"/>
            <a:ext cx="152705" cy="17190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981444" y="5738774"/>
            <a:ext cx="3200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linkedin.com/in/xiaoming-wong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7905902" y="6139282"/>
            <a:ext cx="1047902" cy="1047902"/>
          </a:xfrm>
          <a:prstGeom prst="roundRect">
            <a:avLst>
              <a:gd name="adj" fmla="val 6346"/>
            </a:avLst>
          </a:prstGeom>
          <a:noFill/>
          <a:ln w="25400">
            <a:solidFill>
              <a:srgbClr val="1F77D3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38" b="-138"/>
          <a:stretch/>
        </p:blipFill>
        <p:spPr>
          <a:xfrm>
            <a:off x="8201254" y="6400800"/>
            <a:ext cx="457200" cy="523951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334195" y="6139282"/>
            <a:ext cx="1047902" cy="1047902"/>
          </a:xfrm>
          <a:prstGeom prst="roundRect">
            <a:avLst>
              <a:gd name="adj" fmla="val 6346"/>
            </a:avLst>
          </a:prstGeom>
          <a:noFill/>
          <a:ln w="25400">
            <a:solidFill>
              <a:srgbClr val="1F77D3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8074152" y="7138721"/>
            <a:ext cx="8485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開源專案</a:t>
            </a:r>
            <a:endParaRPr lang="en-US" sz="14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38" b="-138"/>
          <a:stretch/>
        </p:blipFill>
        <p:spPr>
          <a:xfrm>
            <a:off x="9629546" y="6400800"/>
            <a:ext cx="457200" cy="523951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9503359" y="7138721"/>
            <a:ext cx="8485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產品頁面</a:t>
            </a:r>
            <a:endParaRPr lang="en-US" sz="1400" dirty="0"/>
          </a:p>
        </p:txBody>
      </p:sp>
      <p:sp>
        <p:nvSpPr>
          <p:cNvPr id="32" name="Text 23"/>
          <p:cNvSpPr txBox="1"/>
          <p:nvPr/>
        </p:nvSpPr>
        <p:spPr>
          <a:xfrm>
            <a:off x="5372100" y="7500823"/>
            <a:ext cx="77157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「與其用科技取代人，不如用科技去放大人的潛能。智能拍設計，就是我和訓練歷程最誠實的對話。」</a:t>
            </a:r>
            <a:endParaRPr lang="en-US" sz="1800" dirty="0"/>
          </a:p>
        </p:txBody>
      </p:sp>
      <p:sp>
        <p:nvSpPr>
          <p:cNvPr id="33" name="Shape 24"/>
          <p:cNvSpPr/>
          <p:nvPr/>
        </p:nvSpPr>
        <p:spPr>
          <a:xfrm>
            <a:off x="7953451" y="8900770"/>
            <a:ext cx="2381098" cy="19202"/>
          </a:xfrm>
          <a:prstGeom prst="rect">
            <a:avLst/>
          </a:prstGeom>
          <a:solidFill>
            <a:srgbClr val="1F77D3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8801100" y="9015070"/>
            <a:ext cx="857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黃小明</a:t>
            </a:r>
            <a:endParaRPr lang="en-US" sz="18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71500" y="9902952"/>
            <a:ext cx="200254" cy="200254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47649" y="9838944"/>
            <a:ext cx="46296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77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期待與您聯絡，一同探討智能運動輔助技術的未來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13415162" y="9838944"/>
            <a:ext cx="44577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SmartRacket Coach | 智能球拍教練系統 | 43/43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2025-11-08T14:03:30Z</dcterms:created>
  <dcterms:modified xsi:type="dcterms:W3CDTF">2025-11-08T14:03:30Z</dcterms:modified>
</cp:coreProperties>
</file>