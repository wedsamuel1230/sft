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2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2330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8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26.png"/><Relationship Id="rId21" Type="http://schemas.openxmlformats.org/officeDocument/2006/relationships/image" Target="../media/image63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19" Type="http://schemas.openxmlformats.org/officeDocument/2006/relationships/image" Target="../media/image61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Relationship Id="rId22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18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18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42.png"/><Relationship Id="rId4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18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79.png"/><Relationship Id="rId10" Type="http://schemas.openxmlformats.org/officeDocument/2006/relationships/image" Target="../media/image81.png"/><Relationship Id="rId4" Type="http://schemas.openxmlformats.org/officeDocument/2006/relationships/image" Target="../media/image78.png"/><Relationship Id="rId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10" Type="http://schemas.openxmlformats.org/officeDocument/2006/relationships/image" Target="../media/image29.png"/><Relationship Id="rId4" Type="http://schemas.openxmlformats.org/officeDocument/2006/relationships/image" Target="../media/image82.png"/><Relationship Id="rId9" Type="http://schemas.openxmlformats.org/officeDocument/2006/relationships/image" Target="../media/image8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18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26.png"/><Relationship Id="rId9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18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83.png"/><Relationship Id="rId10" Type="http://schemas.openxmlformats.org/officeDocument/2006/relationships/image" Target="../media/image29.png"/><Relationship Id="rId4" Type="http://schemas.openxmlformats.org/officeDocument/2006/relationships/image" Target="../media/image93.png"/><Relationship Id="rId9" Type="http://schemas.openxmlformats.org/officeDocument/2006/relationships/image" Target="../media/image9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18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38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18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8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11" Type="http://schemas.openxmlformats.org/officeDocument/2006/relationships/image" Target="../media/image40.png"/><Relationship Id="rId5" Type="http://schemas.openxmlformats.org/officeDocument/2006/relationships/image" Target="../media/image10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8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0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32.png"/><Relationship Id="rId3" Type="http://schemas.openxmlformats.org/officeDocument/2006/relationships/image" Target="../media/image18.png"/><Relationship Id="rId7" Type="http://schemas.openxmlformats.org/officeDocument/2006/relationships/image" Target="../media/image128.png"/><Relationship Id="rId12" Type="http://schemas.openxmlformats.org/officeDocument/2006/relationships/image" Target="../media/image1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11" Type="http://schemas.openxmlformats.org/officeDocument/2006/relationships/image" Target="../media/image9.png"/><Relationship Id="rId5" Type="http://schemas.openxmlformats.org/officeDocument/2006/relationships/image" Target="../media/image126.png"/><Relationship Id="rId10" Type="http://schemas.openxmlformats.org/officeDocument/2006/relationships/image" Target="../media/image130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3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8.png"/><Relationship Id="rId7" Type="http://schemas.openxmlformats.org/officeDocument/2006/relationships/image" Target="../media/image137.png"/><Relationship Id="rId12" Type="http://schemas.openxmlformats.org/officeDocument/2006/relationships/image" Target="../media/image1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6.png"/><Relationship Id="rId11" Type="http://schemas.openxmlformats.org/officeDocument/2006/relationships/image" Target="../media/image139.png"/><Relationship Id="rId5" Type="http://schemas.openxmlformats.org/officeDocument/2006/relationships/image" Target="../media/image135.png"/><Relationship Id="rId10" Type="http://schemas.openxmlformats.org/officeDocument/2006/relationships/image" Target="../media/image84.png"/><Relationship Id="rId4" Type="http://schemas.openxmlformats.org/officeDocument/2006/relationships/image" Target="../media/image134.png"/><Relationship Id="rId9" Type="http://schemas.openxmlformats.org/officeDocument/2006/relationships/image" Target="../media/image1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png"/><Relationship Id="rId5" Type="http://schemas.openxmlformats.org/officeDocument/2006/relationships/image" Target="../media/image117.png"/><Relationship Id="rId4" Type="http://schemas.openxmlformats.org/officeDocument/2006/relationships/image" Target="../media/image14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3" Type="http://schemas.openxmlformats.org/officeDocument/2006/relationships/image" Target="../media/image18.png"/><Relationship Id="rId7" Type="http://schemas.openxmlformats.org/officeDocument/2006/relationships/image" Target="../media/image146.png"/><Relationship Id="rId12" Type="http://schemas.openxmlformats.org/officeDocument/2006/relationships/image" Target="../media/image1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5" Type="http://schemas.openxmlformats.org/officeDocument/2006/relationships/image" Target="../media/image144.png"/><Relationship Id="rId15" Type="http://schemas.openxmlformats.org/officeDocument/2006/relationships/image" Target="../media/image154.png"/><Relationship Id="rId10" Type="http://schemas.openxmlformats.org/officeDocument/2006/relationships/image" Target="../media/image149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8.png"/><Relationship Id="rId7" Type="http://schemas.openxmlformats.org/officeDocument/2006/relationships/image" Target="../media/image15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6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6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5" Type="http://schemas.openxmlformats.org/officeDocument/2006/relationships/image" Target="../media/image164.png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18.png"/><Relationship Id="rId7" Type="http://schemas.openxmlformats.org/officeDocument/2006/relationships/image" Target="../media/image16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67.png"/><Relationship Id="rId10" Type="http://schemas.openxmlformats.org/officeDocument/2006/relationships/image" Target="../media/image29.png"/><Relationship Id="rId4" Type="http://schemas.openxmlformats.org/officeDocument/2006/relationships/image" Target="../media/image166.png"/><Relationship Id="rId9" Type="http://schemas.openxmlformats.org/officeDocument/2006/relationships/image" Target="../media/image8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8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7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6.png"/><Relationship Id="rId5" Type="http://schemas.openxmlformats.org/officeDocument/2006/relationships/image" Target="../media/image42.png"/><Relationship Id="rId4" Type="http://schemas.openxmlformats.org/officeDocument/2006/relationships/image" Target="../media/image17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0.png"/><Relationship Id="rId3" Type="http://schemas.openxmlformats.org/officeDocument/2006/relationships/image" Target="../media/image18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3.png"/><Relationship Id="rId11" Type="http://schemas.openxmlformats.org/officeDocument/2006/relationships/image" Target="../media/image188.png"/><Relationship Id="rId5" Type="http://schemas.openxmlformats.org/officeDocument/2006/relationships/image" Target="../media/image182.png"/><Relationship Id="rId10" Type="http://schemas.openxmlformats.org/officeDocument/2006/relationships/image" Target="../media/image187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rcRect l="-676" r="-676"/>
          <a:stretch/>
        </p:blipFill>
        <p:spPr>
          <a:xfrm>
            <a:off x="4063594" y="0"/>
            <a:ext cx="8134502" cy="60194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394606" y="476402"/>
            <a:ext cx="3553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VTC 青年學院 AI 與機械人課程專案展示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5486400" y="1028700"/>
            <a:ext cx="1218895" cy="1218895"/>
          </a:xfrm>
          <a:prstGeom prst="roundRect">
            <a:avLst>
              <a:gd name="adj" fmla="val 75019"/>
            </a:avLst>
          </a:prstGeom>
          <a:noFill/>
          <a:ln w="508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7" name="Shape 3"/>
          <p:cNvSpPr/>
          <p:nvPr/>
        </p:nvSpPr>
        <p:spPr>
          <a:xfrm>
            <a:off x="5562295" y="1104595"/>
            <a:ext cx="1067105" cy="1067105"/>
          </a:xfrm>
          <a:prstGeom prst="roundRect">
            <a:avLst>
              <a:gd name="adj" fmla="val 85690"/>
            </a:avLst>
          </a:prstGeom>
          <a:noFill/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10098" y="1410005"/>
            <a:ext cx="571500" cy="4572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328062" y="2419502"/>
            <a:ext cx="805860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SmartRacket Coach</a:t>
            </a:r>
            <a:endParaRPr lang="en-US" sz="5400" dirty="0"/>
          </a:p>
        </p:txBody>
      </p:sp>
      <p:sp>
        <p:nvSpPr>
          <p:cNvPr id="10" name="Text 5"/>
          <p:cNvSpPr txBox="1"/>
          <p:nvPr/>
        </p:nvSpPr>
        <p:spPr>
          <a:xfrm>
            <a:off x="4267505" y="3429000"/>
            <a:ext cx="401055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智能球拍教練系統</a:t>
            </a:r>
            <a:endParaRPr lang="en-US" sz="3600" dirty="0"/>
          </a:p>
        </p:txBody>
      </p:sp>
      <p:sp>
        <p:nvSpPr>
          <p:cNvPr id="11" name="Text 6"/>
          <p:cNvSpPr txBox="1"/>
          <p:nvPr/>
        </p:nvSpPr>
        <p:spPr>
          <a:xfrm>
            <a:off x="3238805" y="4401007"/>
            <a:ext cx="5858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讓每一次揮拍，都有數據相伴；讓每一次學習，都能被看見與改變。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5057545"/>
            <a:ext cx="1205179" cy="22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VTC 青年學院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5324550"/>
            <a:ext cx="2243938" cy="22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與機械人課程二年級學生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0268712" y="5191049"/>
            <a:ext cx="12911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 年 11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-12939" r="-12939"/>
          <a:stretch/>
        </p:blipFill>
        <p:spPr>
          <a:xfrm>
            <a:off x="0" y="2723998"/>
            <a:ext cx="12191695" cy="272399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353105" y="-38405"/>
            <a:ext cx="583935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引言：我為何要做這件事？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5639105" y="609905"/>
            <a:ext cx="914400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Text 3"/>
          <p:cNvSpPr txBox="1"/>
          <p:nvPr/>
        </p:nvSpPr>
        <p:spPr>
          <a:xfrm>
            <a:off x="3524098" y="1257300"/>
            <a:ext cx="535838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一句話：被「數據缺失」打敗的學習曲線</a:t>
            </a:r>
            <a:endParaRPr lang="en-US" sz="2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1828800" y="2038198"/>
            <a:ext cx="95098" cy="15270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038198" y="2000707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看影片逐幀找錯，卻錯過最佳修正時機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1828800" y="2457907"/>
            <a:ext cx="95098" cy="15270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2038198" y="2419502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肌肉記憶固化錯誤，進步速度被拉慢</a:t>
            </a:r>
            <a:endParaRPr lang="en-US" sz="15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828800" y="2876702"/>
            <a:ext cx="152705" cy="15270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2095805" y="2838298"/>
            <a:ext cx="3001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問題：如何在當下得到量化回饋？</a:t>
            </a:r>
            <a:endParaRPr lang="en-US" sz="1500" dirty="0"/>
          </a:p>
        </p:txBody>
      </p:sp>
      <p:sp>
        <p:nvSpPr>
          <p:cNvPr id="14" name="Text 7"/>
          <p:cNvSpPr txBox="1"/>
          <p:nvPr/>
        </p:nvSpPr>
        <p:spPr>
          <a:xfrm>
            <a:off x="1828800" y="4095598"/>
            <a:ext cx="1095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簡報地圖：</a:t>
            </a:r>
            <a:endParaRPr lang="en-US" sz="1500" dirty="0"/>
          </a:p>
        </p:txBody>
      </p:sp>
      <p:sp>
        <p:nvSpPr>
          <p:cNvPr id="15" name="Shape 8"/>
          <p:cNvSpPr/>
          <p:nvPr/>
        </p:nvSpPr>
        <p:spPr>
          <a:xfrm>
            <a:off x="1828800" y="4533595"/>
            <a:ext cx="914400" cy="914400"/>
          </a:xfrm>
          <a:prstGeom prst="roundRect">
            <a:avLst>
              <a:gd name="adj" fmla="val 10000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 l="-1118" r="-1118"/>
          <a:stretch/>
        </p:blipFill>
        <p:spPr>
          <a:xfrm>
            <a:off x="2042770" y="4848149"/>
            <a:ext cx="219456" cy="286207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2262226" y="4934102"/>
            <a:ext cx="3675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動機</a:t>
            </a:r>
            <a:endParaRPr lang="en-US" sz="10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857500" y="4876495"/>
            <a:ext cx="228600" cy="22860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3353105" y="4533595"/>
            <a:ext cx="914400" cy="914400"/>
          </a:xfrm>
          <a:prstGeom prst="roundRect">
            <a:avLst>
              <a:gd name="adj" fmla="val 10000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3648456" y="4733849"/>
            <a:ext cx="323698" cy="286207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3676802" y="5076749"/>
            <a:ext cx="3675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架構</a:t>
            </a:r>
            <a:endParaRPr lang="en-US" sz="10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81805" y="4876495"/>
            <a:ext cx="228600" cy="228600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xfrm>
            <a:off x="4876495" y="4533595"/>
            <a:ext cx="914400" cy="914400"/>
          </a:xfrm>
          <a:prstGeom prst="roundRect">
            <a:avLst>
              <a:gd name="adj" fmla="val 10000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191049" y="4733849"/>
            <a:ext cx="286207" cy="286207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5044745" y="5076749"/>
            <a:ext cx="681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硬體/軟體</a:t>
            </a:r>
            <a:endParaRPr lang="en-US" sz="10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05195" y="4876495"/>
            <a:ext cx="228600" cy="228600"/>
          </a:xfrm>
          <a:prstGeom prst="rect">
            <a:avLst/>
          </a:prstGeom>
        </p:spPr>
      </p:pic>
      <p:sp>
        <p:nvSpPr>
          <p:cNvPr id="27" name="Shape 14"/>
          <p:cNvSpPr/>
          <p:nvPr/>
        </p:nvSpPr>
        <p:spPr>
          <a:xfrm>
            <a:off x="6400800" y="4533595"/>
            <a:ext cx="914400" cy="914400"/>
          </a:xfrm>
          <a:prstGeom prst="roundRect">
            <a:avLst>
              <a:gd name="adj" fmla="val 10000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0"/>
          <a:srcRect l="-266" r="-266"/>
          <a:stretch/>
        </p:blipFill>
        <p:spPr>
          <a:xfrm>
            <a:off x="6696151" y="4733849"/>
            <a:ext cx="323698" cy="286207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6590995" y="5076749"/>
            <a:ext cx="6336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高光功能</a:t>
            </a:r>
            <a:endParaRPr lang="en-US" sz="10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29500" y="4876495"/>
            <a:ext cx="228600" cy="228600"/>
          </a:xfrm>
          <a:prstGeom prst="rect">
            <a:avLst/>
          </a:prstGeom>
        </p:spPr>
      </p:pic>
      <p:sp>
        <p:nvSpPr>
          <p:cNvPr id="31" name="Shape 16"/>
          <p:cNvSpPr/>
          <p:nvPr/>
        </p:nvSpPr>
        <p:spPr>
          <a:xfrm>
            <a:off x="7925105" y="4533595"/>
            <a:ext cx="914400" cy="914400"/>
          </a:xfrm>
          <a:prstGeom prst="roundRect">
            <a:avLst>
              <a:gd name="adj" fmla="val 10000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11"/>
          <a:srcRect l="-266" r="-266"/>
          <a:stretch/>
        </p:blipFill>
        <p:spPr>
          <a:xfrm>
            <a:off x="8220456" y="4733849"/>
            <a:ext cx="323698" cy="286207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8248802" y="5076749"/>
            <a:ext cx="3675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應用</a:t>
            </a:r>
            <a:endParaRPr lang="en-US" sz="1000" dirty="0"/>
          </a:p>
        </p:txBody>
      </p:sp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953805" y="4876495"/>
            <a:ext cx="228600" cy="228600"/>
          </a:xfrm>
          <a:prstGeom prst="rect">
            <a:avLst/>
          </a:prstGeom>
        </p:spPr>
      </p:pic>
      <p:sp>
        <p:nvSpPr>
          <p:cNvPr id="35" name="Shape 18"/>
          <p:cNvSpPr/>
          <p:nvPr/>
        </p:nvSpPr>
        <p:spPr>
          <a:xfrm>
            <a:off x="9448495" y="4533595"/>
            <a:ext cx="914400" cy="914400"/>
          </a:xfrm>
          <a:prstGeom prst="roundRect">
            <a:avLst>
              <a:gd name="adj" fmla="val 10000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6" name="Image 15" descr="preencoded.png"/>
          <p:cNvPicPr>
            <a:picLocks noChangeAspect="1"/>
          </p:cNvPicPr>
          <p:nvPr/>
        </p:nvPicPr>
        <p:blipFill>
          <a:blip r:embed="rId12"/>
          <a:srcRect l="-266" r="-266"/>
          <a:stretch/>
        </p:blipFill>
        <p:spPr>
          <a:xfrm>
            <a:off x="9743846" y="4733849"/>
            <a:ext cx="323698" cy="286207"/>
          </a:xfrm>
          <a:prstGeom prst="rect">
            <a:avLst/>
          </a:prstGeom>
        </p:spPr>
      </p:pic>
      <p:sp>
        <p:nvSpPr>
          <p:cNvPr id="37" name="Text 19"/>
          <p:cNvSpPr txBox="1"/>
          <p:nvPr/>
        </p:nvSpPr>
        <p:spPr>
          <a:xfrm>
            <a:off x="9773107" y="5076749"/>
            <a:ext cx="3675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未來</a:t>
            </a:r>
            <a:endParaRPr lang="en-US" sz="1000" dirty="0"/>
          </a:p>
        </p:txBody>
      </p:sp>
      <p:sp>
        <p:nvSpPr>
          <p:cNvPr id="38" name="Text 20"/>
          <p:cNvSpPr txBox="1"/>
          <p:nvPr/>
        </p:nvSpPr>
        <p:spPr>
          <a:xfrm>
            <a:off x="11701577" y="4981651"/>
            <a:ext cx="243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" name="Text 1"/>
          <p:cNvSpPr txBox="1"/>
          <p:nvPr/>
        </p:nvSpPr>
        <p:spPr>
          <a:xfrm>
            <a:off x="11701577" y="5020056"/>
            <a:ext cx="243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61695" y="599846"/>
            <a:ext cx="33531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我的起點：球場上的自我對話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61695" y="1600200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761695" y="3276295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1E40AF">
              <a:alpha val="5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6307" y="3657600"/>
            <a:ext cx="5715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17797" y="609905"/>
            <a:ext cx="19202" cy="4267505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0" name="Shape 6"/>
          <p:cNvSpPr/>
          <p:nvPr/>
        </p:nvSpPr>
        <p:spPr>
          <a:xfrm>
            <a:off x="4718304" y="6099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4851806" y="724205"/>
            <a:ext cx="114300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1399" y="666598"/>
            <a:ext cx="629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情境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251399" y="1123798"/>
            <a:ext cx="2429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每一拍都是與自己的對話。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718304" y="16760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32604" y="1790395"/>
            <a:ext cx="152705" cy="152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251399" y="1733702"/>
            <a:ext cx="629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痛點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5251399" y="2190902"/>
            <a:ext cx="2429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感受有偏差、證據卻缺席。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718304" y="27432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32604" y="2857500"/>
            <a:ext cx="15270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251399" y="2800807"/>
            <a:ext cx="629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目標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5251399" y="3258007"/>
            <a:ext cx="3572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把當下的力度、角度、速度量化給我看。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4718304" y="38103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4851806" y="3924605"/>
            <a:ext cx="114300" cy="1527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251399" y="3866998"/>
            <a:ext cx="629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D34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方法</a:t>
            </a:r>
            <a:endParaRPr lang="en-US" sz="1800" dirty="0"/>
          </a:p>
        </p:txBody>
      </p:sp>
      <p:sp>
        <p:nvSpPr>
          <p:cNvPr id="25" name="Text 17"/>
          <p:cNvSpPr txBox="1"/>
          <p:nvPr/>
        </p:nvSpPr>
        <p:spPr>
          <a:xfrm>
            <a:off x="5251399" y="4324198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讓球拍自己「說話」。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810098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54918" r="-54918"/>
          <a:stretch/>
        </p:blipFill>
        <p:spPr>
          <a:xfrm>
            <a:off x="0" y="0"/>
            <a:ext cx="12191695" cy="581009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295351"/>
            <a:ext cx="50676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痛點拆解：為何僅靠影片不夠？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800100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2286000" y="1591056"/>
            <a:ext cx="1828800" cy="18288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347" r="-347"/>
          <a:stretch/>
        </p:blipFill>
        <p:spPr>
          <a:xfrm>
            <a:off x="2876702" y="2219249"/>
            <a:ext cx="647395" cy="5715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962095" y="2200046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DC2626">
              <a:alpha val="7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1118" r="-1118"/>
          <a:stretch/>
        </p:blipFill>
        <p:spPr>
          <a:xfrm>
            <a:off x="4157777" y="2361895"/>
            <a:ext cx="219456" cy="28620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210105" y="3648456"/>
            <a:ext cx="914400" cy="609905"/>
          </a:xfrm>
          <a:prstGeom prst="roundRect">
            <a:avLst>
              <a:gd name="adj" fmla="val 9370"/>
            </a:avLst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595982" y="3857854"/>
            <a:ext cx="142646" cy="19019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276295" y="3648456"/>
            <a:ext cx="914400" cy="609905"/>
          </a:xfrm>
          <a:prstGeom prst="roundRect">
            <a:avLst>
              <a:gd name="adj" fmla="val 9370"/>
            </a:avLst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>
            <a:alphaModFix amt="50000"/>
          </a:blip>
          <a:srcRect/>
          <a:stretch/>
        </p:blipFill>
        <p:spPr>
          <a:xfrm>
            <a:off x="3638398" y="3857854"/>
            <a:ext cx="190195" cy="19019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3114446" y="4410151"/>
            <a:ext cx="171907" cy="22860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2686507" y="4743907"/>
            <a:ext cx="1157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修正時機已過</a:t>
            </a:r>
            <a:endParaRPr lang="en-US" sz="1300" dirty="0"/>
          </a:p>
        </p:txBody>
      </p:sp>
      <p:sp>
        <p:nvSpPr>
          <p:cNvPr id="16" name="Shape 8"/>
          <p:cNvSpPr/>
          <p:nvPr/>
        </p:nvSpPr>
        <p:spPr>
          <a:xfrm>
            <a:off x="6096305" y="1371600"/>
            <a:ext cx="19202" cy="3829507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7" name="Shape 9"/>
          <p:cNvSpPr/>
          <p:nvPr/>
        </p:nvSpPr>
        <p:spPr>
          <a:xfrm>
            <a:off x="6572707" y="13716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8" name="Text 10"/>
          <p:cNvSpPr txBox="1"/>
          <p:nvPr/>
        </p:nvSpPr>
        <p:spPr>
          <a:xfrm>
            <a:off x="6734556" y="1485900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7181698" y="1390802"/>
            <a:ext cx="1095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環境依賴高</a:t>
            </a:r>
            <a:endParaRPr lang="en-US" sz="1500" dirty="0"/>
          </a:p>
        </p:txBody>
      </p:sp>
      <p:sp>
        <p:nvSpPr>
          <p:cNvPr id="20" name="Text 12"/>
          <p:cNvSpPr txBox="1"/>
          <p:nvPr/>
        </p:nvSpPr>
        <p:spPr>
          <a:xfrm>
            <a:off x="7181698" y="1666951"/>
            <a:ext cx="2529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光線、機位、背景雜訊影響大。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6572707" y="213329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2" name="Text 14"/>
          <p:cNvSpPr txBox="1"/>
          <p:nvPr/>
        </p:nvSpPr>
        <p:spPr>
          <a:xfrm>
            <a:off x="6734556" y="2247595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7181698" y="2152498"/>
            <a:ext cx="1095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回饋不即時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7181698" y="2428646"/>
            <a:ext cx="20153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無法在動作形成時矯正。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6572707" y="289590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6" name="Text 18"/>
          <p:cNvSpPr txBox="1"/>
          <p:nvPr/>
        </p:nvSpPr>
        <p:spPr>
          <a:xfrm>
            <a:off x="6734556" y="3010205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7181698" y="2915107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隱私問題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7181698" y="3191256"/>
            <a:ext cx="23582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錄影、上傳與存儲都不友善。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6572707" y="36576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0" name="Text 22"/>
          <p:cNvSpPr txBox="1"/>
          <p:nvPr/>
        </p:nvSpPr>
        <p:spPr>
          <a:xfrm>
            <a:off x="6734556" y="3771900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7181698" y="3676802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成本考量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181698" y="3952951"/>
            <a:ext cx="21863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需要專業設備與存儲空間。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6572707" y="4419295"/>
            <a:ext cx="4858207" cy="1920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4" name="Shape 26"/>
          <p:cNvSpPr/>
          <p:nvPr/>
        </p:nvSpPr>
        <p:spPr>
          <a:xfrm>
            <a:off x="6572707" y="470550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6715354" y="4839005"/>
            <a:ext cx="171907" cy="19019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181698" y="4686300"/>
            <a:ext cx="523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結論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7181698" y="4962449"/>
            <a:ext cx="32150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需要低侵入、低延遲、離線可用的方案。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11701577" y="5343754"/>
            <a:ext cx="243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15354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40775" r="-40775"/>
          <a:stretch/>
        </p:blipFill>
        <p:spPr>
          <a:xfrm>
            <a:off x="0" y="0"/>
            <a:ext cx="12191695" cy="671535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599846"/>
            <a:ext cx="57534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為何選擇球拍內嵌傳感器（決策表）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11045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1218895" y="1524305"/>
            <a:ext cx="1943100" cy="58064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1218895" y="2085746"/>
            <a:ext cx="1943100" cy="1920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8" name="Text 5"/>
          <p:cNvSpPr txBox="1"/>
          <p:nvPr/>
        </p:nvSpPr>
        <p:spPr>
          <a:xfrm>
            <a:off x="2018995" y="1705356"/>
            <a:ext cx="4718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方案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161995" y="1524305"/>
            <a:ext cx="1628546" cy="58064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0" name="Shape 7"/>
          <p:cNvSpPr/>
          <p:nvPr/>
        </p:nvSpPr>
        <p:spPr>
          <a:xfrm>
            <a:off x="3161995" y="2085746"/>
            <a:ext cx="1628546" cy="1920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1" name="Text 8"/>
          <p:cNvSpPr txBox="1"/>
          <p:nvPr/>
        </p:nvSpPr>
        <p:spPr>
          <a:xfrm>
            <a:off x="3632911" y="1705356"/>
            <a:ext cx="814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數據精度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88713" y="1524305"/>
            <a:ext cx="1781251" cy="58064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3" name="Shape 10"/>
          <p:cNvSpPr/>
          <p:nvPr/>
        </p:nvSpPr>
        <p:spPr>
          <a:xfrm>
            <a:off x="4788713" y="2085746"/>
            <a:ext cx="1781251" cy="1920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4" name="Text 11"/>
          <p:cNvSpPr txBox="1"/>
          <p:nvPr/>
        </p:nvSpPr>
        <p:spPr>
          <a:xfrm>
            <a:off x="5301691" y="1705356"/>
            <a:ext cx="8814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隱私/合規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61734" y="1524305"/>
            <a:ext cx="1876349" cy="58064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6" name="Shape 13"/>
          <p:cNvSpPr/>
          <p:nvPr/>
        </p:nvSpPr>
        <p:spPr>
          <a:xfrm>
            <a:off x="6561734" y="2085746"/>
            <a:ext cx="1876349" cy="1920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7" name="Text 14"/>
          <p:cNvSpPr txBox="1"/>
          <p:nvPr/>
        </p:nvSpPr>
        <p:spPr>
          <a:xfrm>
            <a:off x="7153351" y="1705356"/>
            <a:ext cx="814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環境依賴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429854" y="1524305"/>
            <a:ext cx="933602" cy="58064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9" name="Shape 16"/>
          <p:cNvSpPr/>
          <p:nvPr/>
        </p:nvSpPr>
        <p:spPr>
          <a:xfrm>
            <a:off x="8429854" y="2085746"/>
            <a:ext cx="933602" cy="1920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0" name="Text 17"/>
          <p:cNvSpPr txBox="1"/>
          <p:nvPr/>
        </p:nvSpPr>
        <p:spPr>
          <a:xfrm>
            <a:off x="8722462" y="1705356"/>
            <a:ext cx="4718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成本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357055" y="1524305"/>
            <a:ext cx="1619402" cy="58064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2" name="Shape 19"/>
          <p:cNvSpPr/>
          <p:nvPr/>
        </p:nvSpPr>
        <p:spPr>
          <a:xfrm>
            <a:off x="9357055" y="2085746"/>
            <a:ext cx="1619402" cy="1920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3" name="Text 20"/>
          <p:cNvSpPr txBox="1"/>
          <p:nvPr/>
        </p:nvSpPr>
        <p:spPr>
          <a:xfrm>
            <a:off x="9821570" y="1705356"/>
            <a:ext cx="814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綜合評估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218895" y="2104949"/>
            <a:ext cx="9753905" cy="933602"/>
          </a:xfrm>
          <a:prstGeom prst="rect">
            <a:avLst/>
          </a:prstGeom>
          <a:solidFill>
            <a:srgbClr val="1E40AF">
              <a:alpha val="2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5" name="Shape 22"/>
          <p:cNvSpPr/>
          <p:nvPr/>
        </p:nvSpPr>
        <p:spPr>
          <a:xfrm>
            <a:off x="1218895" y="3029407"/>
            <a:ext cx="1943100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6" name="Shape 23"/>
          <p:cNvSpPr/>
          <p:nvPr/>
        </p:nvSpPr>
        <p:spPr>
          <a:xfrm>
            <a:off x="1447495" y="2381098"/>
            <a:ext cx="371246" cy="381305"/>
          </a:xfrm>
          <a:prstGeom prst="roundRect">
            <a:avLst>
              <a:gd name="adj" fmla="val 246306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1575511" y="2495398"/>
            <a:ext cx="114300" cy="152705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933042" y="2333549"/>
            <a:ext cx="98663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手機視覺系統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3161995" y="3029407"/>
            <a:ext cx="1628546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0" name="Text 26"/>
          <p:cNvSpPr txBox="1"/>
          <p:nvPr/>
        </p:nvSpPr>
        <p:spPr>
          <a:xfrm>
            <a:off x="3390595" y="2476195"/>
            <a:ext cx="1343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高（可捕捉全身）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788713" y="3029407"/>
            <a:ext cx="1781251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2" name="Text 28"/>
          <p:cNvSpPr txBox="1"/>
          <p:nvPr/>
        </p:nvSpPr>
        <p:spPr>
          <a:xfrm>
            <a:off x="5160874" y="2467051"/>
            <a:ext cx="1157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需錄影，敏感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561734" y="3029407"/>
            <a:ext cx="1876349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4" name="Text 30"/>
          <p:cNvSpPr txBox="1"/>
          <p:nvPr/>
        </p:nvSpPr>
        <p:spPr>
          <a:xfrm>
            <a:off x="6790334" y="2476195"/>
            <a:ext cx="1591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高（光線/背景/機位）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8429854" y="3029407"/>
            <a:ext cx="933602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6" name="Text 32"/>
          <p:cNvSpPr txBox="1"/>
          <p:nvPr/>
        </p:nvSpPr>
        <p:spPr>
          <a:xfrm>
            <a:off x="8807501" y="2467051"/>
            <a:ext cx="3008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高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9357055" y="3029407"/>
            <a:ext cx="1619402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8" name="Text 34"/>
          <p:cNvSpPr txBox="1"/>
          <p:nvPr/>
        </p:nvSpPr>
        <p:spPr>
          <a:xfrm>
            <a:off x="9650578" y="2333549"/>
            <a:ext cx="115763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不利於日常訓練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1218895" y="3796589"/>
            <a:ext cx="1943100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0" name="Shape 36"/>
          <p:cNvSpPr/>
          <p:nvPr/>
        </p:nvSpPr>
        <p:spPr>
          <a:xfrm>
            <a:off x="1447495" y="322874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1" name="Text 37"/>
          <p:cNvSpPr txBox="1"/>
          <p:nvPr/>
        </p:nvSpPr>
        <p:spPr>
          <a:xfrm>
            <a:off x="1943100" y="3314700"/>
            <a:ext cx="8531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手腕 IMU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3161995" y="3796589"/>
            <a:ext cx="1628546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3" name="Text 39"/>
          <p:cNvSpPr txBox="1"/>
          <p:nvPr/>
        </p:nvSpPr>
        <p:spPr>
          <a:xfrm>
            <a:off x="3441802" y="3323844"/>
            <a:ext cx="1191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中（間接推斷）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4788713" y="3796589"/>
            <a:ext cx="1781251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5" name="Text 41"/>
          <p:cNvSpPr txBox="1"/>
          <p:nvPr/>
        </p:nvSpPr>
        <p:spPr>
          <a:xfrm>
            <a:off x="5589727" y="3314700"/>
            <a:ext cx="3008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佳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6561734" y="3796589"/>
            <a:ext cx="1876349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7" name="Text 43"/>
          <p:cNvSpPr txBox="1"/>
          <p:nvPr/>
        </p:nvSpPr>
        <p:spPr>
          <a:xfrm>
            <a:off x="6810451" y="3323844"/>
            <a:ext cx="14959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中（與拍面不同步）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8429854" y="3796589"/>
            <a:ext cx="933602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9" name="Text 45"/>
          <p:cNvSpPr txBox="1"/>
          <p:nvPr/>
        </p:nvSpPr>
        <p:spPr>
          <a:xfrm>
            <a:off x="8807501" y="3314700"/>
            <a:ext cx="3008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CD34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中</a:t>
            </a:r>
            <a:endParaRPr lang="en-US" sz="1300" dirty="0"/>
          </a:p>
        </p:txBody>
      </p:sp>
      <p:sp>
        <p:nvSpPr>
          <p:cNvPr id="50" name="Shape 46"/>
          <p:cNvSpPr/>
          <p:nvPr/>
        </p:nvSpPr>
        <p:spPr>
          <a:xfrm>
            <a:off x="9357055" y="3796589"/>
            <a:ext cx="1619402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51" name="Text 47"/>
          <p:cNvSpPr txBox="1"/>
          <p:nvPr/>
        </p:nvSpPr>
        <p:spPr>
          <a:xfrm>
            <a:off x="9650578" y="3314700"/>
            <a:ext cx="1157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CD34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當作輔助資料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1218895" y="3804818"/>
            <a:ext cx="9753905" cy="923544"/>
          </a:xfrm>
          <a:prstGeom prst="rect">
            <a:avLst/>
          </a:prstGeom>
          <a:solidFill>
            <a:srgbClr val="1E40AF">
              <a:alpha val="2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53" name="Shape 49"/>
          <p:cNvSpPr/>
          <p:nvPr/>
        </p:nvSpPr>
        <p:spPr>
          <a:xfrm>
            <a:off x="1218895" y="4719218"/>
            <a:ext cx="1943100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54" name="Text 50"/>
          <p:cNvSpPr txBox="1"/>
          <p:nvPr/>
        </p:nvSpPr>
        <p:spPr>
          <a:xfrm>
            <a:off x="1447495" y="4172407"/>
            <a:ext cx="14959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球拍傳感器（選定）</a:t>
            </a:r>
            <a:endParaRPr lang="en-US" sz="1200" dirty="0"/>
          </a:p>
        </p:txBody>
      </p:sp>
      <p:sp>
        <p:nvSpPr>
          <p:cNvPr id="55" name="Shape 51"/>
          <p:cNvSpPr/>
          <p:nvPr/>
        </p:nvSpPr>
        <p:spPr>
          <a:xfrm>
            <a:off x="3161995" y="4719218"/>
            <a:ext cx="1628546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56" name="Text 52"/>
          <p:cNvSpPr txBox="1"/>
          <p:nvPr/>
        </p:nvSpPr>
        <p:spPr>
          <a:xfrm>
            <a:off x="3441802" y="4172407"/>
            <a:ext cx="1191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高（直測拍體）</a:t>
            </a:r>
            <a:endParaRPr lang="en-US" sz="1200" dirty="0"/>
          </a:p>
        </p:txBody>
      </p:sp>
      <p:sp>
        <p:nvSpPr>
          <p:cNvPr id="57" name="Shape 53"/>
          <p:cNvSpPr/>
          <p:nvPr/>
        </p:nvSpPr>
        <p:spPr>
          <a:xfrm>
            <a:off x="4788713" y="4719218"/>
            <a:ext cx="1781251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58" name="Text 54"/>
          <p:cNvSpPr txBox="1"/>
          <p:nvPr/>
        </p:nvSpPr>
        <p:spPr>
          <a:xfrm>
            <a:off x="5017313" y="4172407"/>
            <a:ext cx="14959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佳（動作數據為主）</a:t>
            </a:r>
            <a:endParaRPr lang="en-US" sz="1200" dirty="0"/>
          </a:p>
        </p:txBody>
      </p:sp>
      <p:sp>
        <p:nvSpPr>
          <p:cNvPr id="59" name="Shape 55"/>
          <p:cNvSpPr/>
          <p:nvPr/>
        </p:nvSpPr>
        <p:spPr>
          <a:xfrm>
            <a:off x="6561734" y="4719218"/>
            <a:ext cx="1876349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0" name="Text 56"/>
          <p:cNvSpPr txBox="1"/>
          <p:nvPr/>
        </p:nvSpPr>
        <p:spPr>
          <a:xfrm>
            <a:off x="7410298" y="4162349"/>
            <a:ext cx="3008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低</a:t>
            </a:r>
            <a:endParaRPr lang="en-US" sz="1300" dirty="0"/>
          </a:p>
        </p:txBody>
      </p:sp>
      <p:sp>
        <p:nvSpPr>
          <p:cNvPr id="61" name="Shape 57"/>
          <p:cNvSpPr/>
          <p:nvPr/>
        </p:nvSpPr>
        <p:spPr>
          <a:xfrm>
            <a:off x="8429854" y="4719218"/>
            <a:ext cx="933602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2" name="Text 58"/>
          <p:cNvSpPr txBox="1"/>
          <p:nvPr/>
        </p:nvSpPr>
        <p:spPr>
          <a:xfrm>
            <a:off x="8736178" y="4028846"/>
            <a:ext cx="45262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低~中</a:t>
            </a:r>
            <a:endParaRPr lang="en-US" sz="1300" dirty="0"/>
          </a:p>
        </p:txBody>
      </p:sp>
      <p:sp>
        <p:nvSpPr>
          <p:cNvPr id="63" name="Shape 59"/>
          <p:cNvSpPr/>
          <p:nvPr/>
        </p:nvSpPr>
        <p:spPr>
          <a:xfrm>
            <a:off x="9357055" y="4719218"/>
            <a:ext cx="1619402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4" name="Text 60"/>
          <p:cNvSpPr txBox="1"/>
          <p:nvPr/>
        </p:nvSpPr>
        <p:spPr>
          <a:xfrm>
            <a:off x="9663379" y="4162349"/>
            <a:ext cx="11384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MVP 最優解</a:t>
            </a:r>
            <a:endParaRPr lang="en-US" sz="1300" dirty="0"/>
          </a:p>
        </p:txBody>
      </p:sp>
      <p:sp>
        <p:nvSpPr>
          <p:cNvPr id="65" name="Shape 61"/>
          <p:cNvSpPr/>
          <p:nvPr/>
        </p:nvSpPr>
        <p:spPr>
          <a:xfrm>
            <a:off x="3222346" y="5115154"/>
            <a:ext cx="5753405" cy="990295"/>
          </a:xfrm>
          <a:prstGeom prst="roundRect">
            <a:avLst>
              <a:gd name="adj" fmla="val 7103"/>
            </a:avLst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6" name="Shape 62"/>
          <p:cNvSpPr/>
          <p:nvPr/>
        </p:nvSpPr>
        <p:spPr>
          <a:xfrm>
            <a:off x="3450946" y="538124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67" name="Image 2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3594506" y="5514746"/>
            <a:ext cx="171907" cy="190195"/>
          </a:xfrm>
          <a:prstGeom prst="rect">
            <a:avLst/>
          </a:prstGeom>
        </p:spPr>
      </p:pic>
      <p:sp>
        <p:nvSpPr>
          <p:cNvPr id="68" name="Text 63"/>
          <p:cNvSpPr txBox="1"/>
          <p:nvPr/>
        </p:nvSpPr>
        <p:spPr>
          <a:xfrm>
            <a:off x="4060850" y="5362956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人機協作定位</a:t>
            </a:r>
            <a:endParaRPr lang="en-US" sz="1500" dirty="0"/>
          </a:p>
        </p:txBody>
      </p:sp>
      <p:sp>
        <p:nvSpPr>
          <p:cNvPr id="69" name="Text 64"/>
          <p:cNvSpPr txBox="1"/>
          <p:nvPr/>
        </p:nvSpPr>
        <p:spPr>
          <a:xfrm>
            <a:off x="4060850" y="5639105"/>
            <a:ext cx="4815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量化與追蹤，教練負責策略指導，學習者持續實作與反饋。</a:t>
            </a:r>
            <a:endParaRPr lang="en-US" sz="1300" dirty="0"/>
          </a:p>
        </p:txBody>
      </p:sp>
      <p:sp>
        <p:nvSpPr>
          <p:cNvPr id="70" name="Text 65"/>
          <p:cNvSpPr txBox="1"/>
          <p:nvPr/>
        </p:nvSpPr>
        <p:spPr>
          <a:xfrm>
            <a:off x="11701577" y="6248095"/>
            <a:ext cx="243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" name="Text 1"/>
          <p:cNvSpPr txBox="1"/>
          <p:nvPr/>
        </p:nvSpPr>
        <p:spPr>
          <a:xfrm>
            <a:off x="761695" y="599846"/>
            <a:ext cx="329641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MVP 的曲折與成長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11045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1218895" y="2438705"/>
            <a:ext cx="9753905" cy="152705"/>
          </a:xfrm>
          <a:prstGeom prst="roundRect">
            <a:avLst>
              <a:gd name="adj" fmla="val 598802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8995" y="1524305"/>
            <a:ext cx="228600" cy="228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115007" y="2152955"/>
            <a:ext cx="38405" cy="30449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9" name="Shape 5"/>
          <p:cNvSpPr/>
          <p:nvPr/>
        </p:nvSpPr>
        <p:spPr>
          <a:xfrm>
            <a:off x="1323593" y="3028492"/>
            <a:ext cx="1828800" cy="1410005"/>
          </a:xfrm>
          <a:prstGeom prst="roundRect">
            <a:avLst>
              <a:gd name="adj" fmla="val 3505"/>
            </a:avLst>
          </a:prstGeom>
          <a:solidFill>
            <a:srgbClr val="1E40AF">
              <a:alpha val="7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0" name="Text 6"/>
          <p:cNvSpPr txBox="1"/>
          <p:nvPr/>
        </p:nvSpPr>
        <p:spPr>
          <a:xfrm>
            <a:off x="1476298" y="3209543"/>
            <a:ext cx="15005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第一代：原型驗證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476298" y="3543299"/>
            <a:ext cx="14337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micro:bit + MIT App Inventor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476298" y="3924604"/>
            <a:ext cx="11676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只為驗證數據流通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476298" y="4114799"/>
            <a:ext cx="14337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算力與藍牙穩定性受限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82005" y="1524305"/>
            <a:ext cx="228600" cy="2286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077102" y="2133295"/>
            <a:ext cx="38405" cy="30449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6" name="Shape 11"/>
          <p:cNvSpPr/>
          <p:nvPr/>
        </p:nvSpPr>
        <p:spPr>
          <a:xfrm>
            <a:off x="5201107" y="3028492"/>
            <a:ext cx="1828800" cy="1410005"/>
          </a:xfrm>
          <a:prstGeom prst="roundRect">
            <a:avLst>
              <a:gd name="adj" fmla="val 3505"/>
            </a:avLst>
          </a:prstGeom>
          <a:solidFill>
            <a:srgbClr val="B91C1C">
              <a:alpha val="7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7" name="Text 12"/>
          <p:cNvSpPr txBox="1"/>
          <p:nvPr/>
        </p:nvSpPr>
        <p:spPr>
          <a:xfrm>
            <a:off x="5352897" y="3209543"/>
            <a:ext cx="814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ECAC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結構教訓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352897" y="3543299"/>
            <a:ext cx="1567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早期未做重心與耐久測試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5352897" y="3733495"/>
            <a:ext cx="10341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手感「怪怪的」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5352897" y="3924604"/>
            <a:ext cx="15005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改進：CNC 精準開孔，拍柄後端中心內嵌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944100" y="1524305"/>
            <a:ext cx="228600" cy="2286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0039198" y="2133295"/>
            <a:ext cx="38405" cy="30449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3" name="Shape 17"/>
          <p:cNvSpPr/>
          <p:nvPr/>
        </p:nvSpPr>
        <p:spPr>
          <a:xfrm>
            <a:off x="9144000" y="3028492"/>
            <a:ext cx="1828800" cy="1790395"/>
          </a:xfrm>
          <a:prstGeom prst="roundRect">
            <a:avLst>
              <a:gd name="adj" fmla="val 2173"/>
            </a:avLst>
          </a:prstGeom>
          <a:solidFill>
            <a:srgbClr val="047857">
              <a:alpha val="7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4" name="Text 18"/>
          <p:cNvSpPr txBox="1"/>
          <p:nvPr/>
        </p:nvSpPr>
        <p:spPr>
          <a:xfrm>
            <a:off x="9283446" y="3209543"/>
            <a:ext cx="15005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7F3D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第二代：升級飛躍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9296705" y="3543299"/>
            <a:ext cx="13578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Seeed Studio XIAO ESP32‑C3 Mini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9296705" y="3924604"/>
            <a:ext cx="15672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資料流、連線與續航全面提升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296705" y="4304995"/>
            <a:ext cx="14337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首次感覺「原型真的能用」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37793" y="4715560"/>
            <a:ext cx="3810305" cy="1904695"/>
          </a:xfrm>
          <a:prstGeom prst="roundRect">
            <a:avLst>
              <a:gd name="adj" fmla="val 1920"/>
            </a:avLst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9" name="Shape 23"/>
          <p:cNvSpPr/>
          <p:nvPr/>
        </p:nvSpPr>
        <p:spPr>
          <a:xfrm>
            <a:off x="866393" y="494416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22027" y="5096864"/>
            <a:ext cx="142646" cy="19019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476298" y="4963362"/>
            <a:ext cx="1095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關鍵轉折點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1476298" y="5315406"/>
            <a:ext cx="28721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從功能驗證到實用原型，關鍵在於：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1666493" y="5649162"/>
            <a:ext cx="2105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硬體升級：提升穩定性與算力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1666493" y="5916167"/>
            <a:ext cx="25630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結構改良：從外掛到內嵌，維護手感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1666493" y="6182258"/>
            <a:ext cx="22576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架構優化：降低延遲，提升續航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11701577" y="4334256"/>
            <a:ext cx="243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1848458" y="1924355"/>
            <a:ext cx="609905" cy="228600"/>
          </a:xfrm>
          <a:prstGeom prst="roundRect">
            <a:avLst>
              <a:gd name="adj" fmla="val 40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8" name="Shape 31"/>
          <p:cNvSpPr/>
          <p:nvPr/>
        </p:nvSpPr>
        <p:spPr>
          <a:xfrm>
            <a:off x="5790895" y="1959036"/>
            <a:ext cx="609905" cy="228600"/>
          </a:xfrm>
          <a:prstGeom prst="roundRect">
            <a:avLst>
              <a:gd name="adj" fmla="val 400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9" name="Shape 32"/>
          <p:cNvSpPr/>
          <p:nvPr/>
        </p:nvSpPr>
        <p:spPr>
          <a:xfrm>
            <a:off x="9753447" y="1933656"/>
            <a:ext cx="609905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zh-HK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86770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53888" r="-53888"/>
          <a:stretch/>
        </p:blipFill>
        <p:spPr>
          <a:xfrm>
            <a:off x="0" y="0"/>
            <a:ext cx="12191695" cy="586770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8446" r="-8446"/>
          <a:stretch/>
        </p:blipFill>
        <p:spPr>
          <a:xfrm>
            <a:off x="0" y="2933395"/>
            <a:ext cx="12191695" cy="29333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246681" y="-38405"/>
            <a:ext cx="8049463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關鍵洞察：把『動作⇄結果』重新接上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5639105" y="609905"/>
            <a:ext cx="914400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Text 3"/>
          <p:cNvSpPr txBox="1"/>
          <p:nvPr/>
        </p:nvSpPr>
        <p:spPr>
          <a:xfrm>
            <a:off x="3381451" y="1257300"/>
            <a:ext cx="564367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核心命題：即時建立動作與結果的因果關聯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1828800" y="198150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962302" y="2115007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438705" y="2000707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設計原則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2438705" y="2343607"/>
            <a:ext cx="4325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現場修正 &gt; 事後回放；可持續迭代 &gt; 一次性炫技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1828800" y="281909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938528" y="2952598"/>
            <a:ext cx="237744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438705" y="2838298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人機協作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2438705" y="3181198"/>
            <a:ext cx="4963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負責量化與追蹤，教練負責策略指導，學習者持續反饋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2895905" y="5067605"/>
            <a:ext cx="6400800" cy="75895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7" name="Shape 11"/>
          <p:cNvSpPr/>
          <p:nvPr/>
        </p:nvSpPr>
        <p:spPr>
          <a:xfrm>
            <a:off x="2895905" y="4343400"/>
            <a:ext cx="1524305" cy="1524305"/>
          </a:xfrm>
          <a:prstGeom prst="roundRect">
            <a:avLst>
              <a:gd name="adj" fmla="val 59988"/>
            </a:avLst>
          </a:prstGeom>
          <a:solidFill>
            <a:srgbClr val="1E40AF"/>
          </a:solidFill>
          <a:ln w="50800">
            <a:solidFill>
              <a:srgbClr val="2563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zh-HK" alt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514954" y="4791456"/>
            <a:ext cx="286207" cy="28620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486607" y="5181905"/>
            <a:ext cx="4718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動作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5715000" y="4572000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EF4444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zh-HK" alt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82005" y="4839005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790895" y="5429707"/>
            <a:ext cx="734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即時回饋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7772400" y="4343400"/>
            <a:ext cx="1524305" cy="1524305"/>
          </a:xfrm>
          <a:prstGeom prst="roundRect">
            <a:avLst>
              <a:gd name="adj" fmla="val 59988"/>
            </a:avLst>
          </a:prstGeom>
          <a:solidFill>
            <a:srgbClr val="1E40AF"/>
          </a:solidFill>
          <a:ln w="50800">
            <a:solidFill>
              <a:srgbClr val="2563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zh-HK" alt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391449" y="4791456"/>
            <a:ext cx="286207" cy="286207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363102" y="5181905"/>
            <a:ext cx="4718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結果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11701577" y="5400446"/>
            <a:ext cx="243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01070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36951" r="-36951"/>
          <a:stretch/>
        </p:blipFill>
        <p:spPr>
          <a:xfrm>
            <a:off x="0" y="0"/>
            <a:ext cx="12191695" cy="70107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599846"/>
            <a:ext cx="33531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設計原則：五大支柱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11045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761695" y="1447495"/>
            <a:ext cx="3409798" cy="1790395"/>
          </a:xfrm>
          <a:prstGeom prst="roundRect">
            <a:avLst>
              <a:gd name="adj" fmla="val 2173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2158898" y="167609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49094" y="1867205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46758" y="2457907"/>
            <a:ext cx="1181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低侵入性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701698" y="2800807"/>
            <a:ext cx="16486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不改變球拍手感與性能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94606" y="1447495"/>
            <a:ext cx="3409798" cy="1790395"/>
          </a:xfrm>
          <a:prstGeom prst="roundRect">
            <a:avLst>
              <a:gd name="adj" fmla="val 2173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2" name="Shape 8"/>
          <p:cNvSpPr/>
          <p:nvPr/>
        </p:nvSpPr>
        <p:spPr>
          <a:xfrm>
            <a:off x="5790895" y="167609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5952744" y="1867205"/>
            <a:ext cx="286207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79669" y="2457907"/>
            <a:ext cx="1181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本地優先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5383987" y="2800807"/>
            <a:ext cx="15435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邊緣/手機端閉環運算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26603" y="1447495"/>
            <a:ext cx="3409798" cy="1790395"/>
          </a:xfrm>
          <a:prstGeom prst="roundRect">
            <a:avLst>
              <a:gd name="adj" fmla="val 2173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7" name="Shape 12"/>
          <p:cNvSpPr/>
          <p:nvPr/>
        </p:nvSpPr>
        <p:spPr>
          <a:xfrm>
            <a:off x="9423806" y="167609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614002" y="1867205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06763" y="2457907"/>
            <a:ext cx="991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可負擔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994038" y="2800807"/>
            <a:ext cx="1591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控制 BOM，普惠應用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61695" y="3467405"/>
            <a:ext cx="3409798" cy="1790395"/>
          </a:xfrm>
          <a:prstGeom prst="roundRect">
            <a:avLst>
              <a:gd name="adj" fmla="val 2173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2" name="Shape 16"/>
          <p:cNvSpPr/>
          <p:nvPr/>
        </p:nvSpPr>
        <p:spPr>
          <a:xfrm>
            <a:off x="2158898" y="369600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t="-44" b="-44"/>
          <a:stretch/>
        </p:blipFill>
        <p:spPr>
          <a:xfrm>
            <a:off x="2335378" y="3886200"/>
            <a:ext cx="256946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2042770" y="4476902"/>
            <a:ext cx="991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可量產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1777594" y="4819802"/>
            <a:ext cx="14959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機構簡潔、加工友善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394606" y="3467405"/>
            <a:ext cx="3409798" cy="1790395"/>
          </a:xfrm>
          <a:prstGeom prst="roundRect">
            <a:avLst>
              <a:gd name="adj" fmla="val 2173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7" name="Shape 20"/>
          <p:cNvSpPr/>
          <p:nvPr/>
        </p:nvSpPr>
        <p:spPr>
          <a:xfrm>
            <a:off x="5790895" y="369600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5952744" y="3886200"/>
            <a:ext cx="286207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579669" y="4476902"/>
            <a:ext cx="1181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5. 人機協作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5486400" y="4819802"/>
            <a:ext cx="1343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輔助而非取代教練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761695" y="5639105"/>
            <a:ext cx="10668305" cy="761695"/>
          </a:xfrm>
          <a:prstGeom prst="roundRect">
            <a:avLst>
              <a:gd name="adj" fmla="val 12005"/>
            </a:avLst>
          </a:prstGeom>
          <a:solidFill>
            <a:srgbClr val="1E40AF">
              <a:alpha val="2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2" name="Shape 24"/>
          <p:cNvSpPr/>
          <p:nvPr/>
        </p:nvSpPr>
        <p:spPr>
          <a:xfrm>
            <a:off x="952805" y="58293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rcRect l="-760" r="-760"/>
          <a:stretch/>
        </p:blipFill>
        <p:spPr>
          <a:xfrm>
            <a:off x="1067105" y="5934456"/>
            <a:ext cx="152705" cy="171907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485900" y="5924398"/>
            <a:ext cx="50008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這五大支柱共同支撐系統設計，確保產品實用性、可持續性與易於推廣。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11701577" y="6543446"/>
            <a:ext cx="243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" name="Text 1"/>
          <p:cNvSpPr txBox="1"/>
          <p:nvPr/>
        </p:nvSpPr>
        <p:spPr>
          <a:xfrm>
            <a:off x="11701577" y="5020056"/>
            <a:ext cx="243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61695" y="599846"/>
            <a:ext cx="3182112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MVP架構與混合計算邏輯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61695" y="1600200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761695" y="3276295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1E40AF">
              <a:alpha val="5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3000" y="3657600"/>
            <a:ext cx="4572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17797" y="609905"/>
            <a:ext cx="19202" cy="4267505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0" name="Shape 6"/>
          <p:cNvSpPr/>
          <p:nvPr/>
        </p:nvSpPr>
        <p:spPr>
          <a:xfrm>
            <a:off x="4718304" y="6099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32604" y="724205"/>
            <a:ext cx="152705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1399" y="666598"/>
            <a:ext cx="2229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邊緣端（球拍模組）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251399" y="1123798"/>
            <a:ext cx="4696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高頻採集、初步濾波、時間戳封裝、BLE低功耗傳輸。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718304" y="16760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4851806" y="1790395"/>
            <a:ext cx="114300" cy="152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251399" y="1733702"/>
            <a:ext cx="23344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移動端（Android）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5251399" y="2190902"/>
            <a:ext cx="4819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特徵工程、決策樹/輕量CNN推論、視覺化與訓練日誌。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718304" y="27432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4813402" y="2857500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251399" y="2800807"/>
            <a:ext cx="15435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D34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雲端（可選）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5251399" y="3258007"/>
            <a:ext cx="3762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商業化後期再引入協作分析與跨裝置同步。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4718304" y="38103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4841748" y="3924605"/>
            <a:ext cx="133502" cy="1527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251399" y="3866998"/>
            <a:ext cx="629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優勢</a:t>
            </a:r>
            <a:endParaRPr lang="en-US" sz="1800" dirty="0"/>
          </a:p>
        </p:txBody>
      </p:sp>
      <p:sp>
        <p:nvSpPr>
          <p:cNvPr id="25" name="Text 17"/>
          <p:cNvSpPr txBox="1"/>
          <p:nvPr/>
        </p:nvSpPr>
        <p:spPr>
          <a:xfrm>
            <a:off x="5251399" y="4324198"/>
            <a:ext cx="3952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低延遲、離線可用、模型升級無需重刷韌體。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609905" y="448056"/>
            <a:ext cx="26673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系統三層架構圖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09905" y="914400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8" name="Shape 5"/>
          <p:cNvSpPr/>
          <p:nvPr/>
        </p:nvSpPr>
        <p:spPr>
          <a:xfrm>
            <a:off x="1859890" y="1561795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2594" y="17145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69034" y="2200046"/>
            <a:ext cx="6437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感測層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635862" y="2457907"/>
            <a:ext cx="10908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IMU + 藍牙模組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43884" y="18672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15207" y="1962302"/>
            <a:ext cx="237744" cy="1901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01084" y="1962302"/>
            <a:ext cx="14008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MPU-6050 傳感器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612587" y="18672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5693969" y="1962302"/>
            <a:ext cx="219456" cy="19019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069787" y="1962302"/>
            <a:ext cx="1047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BLE 5.0 通訊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228332" y="18672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23430" y="1962302"/>
            <a:ext cx="190195" cy="19019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685532" y="1962302"/>
            <a:ext cx="1191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初步濾波與封包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24205" y="1410005"/>
            <a:ext cx="228600" cy="2286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859890" y="15809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2004517" y="1714500"/>
            <a:ext cx="171907" cy="2286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2039722" y="4898475"/>
            <a:ext cx="13962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邊緣/手機推論層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3643884" y="15243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3748126" y="1619402"/>
            <a:ext cx="171907" cy="19019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4101084" y="1619402"/>
            <a:ext cx="1619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特徵工程 (8→12參數)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5830214" y="15243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25312" y="1619402"/>
            <a:ext cx="190195" cy="190195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287414" y="1619402"/>
            <a:ext cx="12673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決策樹/輕量CNN</a:t>
            </a:r>
            <a:endParaRPr lang="en-US" sz="1200" dirty="0"/>
          </a:p>
        </p:txBody>
      </p:sp>
      <p:sp>
        <p:nvSpPr>
          <p:cNvPr id="33" name="Shape 22"/>
          <p:cNvSpPr/>
          <p:nvPr/>
        </p:nvSpPr>
        <p:spPr>
          <a:xfrm>
            <a:off x="7663586" y="15243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758684" y="1619402"/>
            <a:ext cx="190195" cy="190195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8120786" y="1619402"/>
            <a:ext cx="1343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視覺化與訓練日誌</a:t>
            </a:r>
            <a:endParaRPr lang="en-US" sz="1200" dirty="0"/>
          </a:p>
        </p:txBody>
      </p:sp>
      <p:sp>
        <p:nvSpPr>
          <p:cNvPr id="36" name="Shape 24"/>
          <p:cNvSpPr/>
          <p:nvPr/>
        </p:nvSpPr>
        <p:spPr>
          <a:xfrm>
            <a:off x="9340596" y="16386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2"/>
          <a:srcRect l="-1648" r="-1648"/>
          <a:stretch/>
        </p:blipFill>
        <p:spPr>
          <a:xfrm>
            <a:off x="9444838" y="1733702"/>
            <a:ext cx="171907" cy="190195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9797796" y="1733702"/>
            <a:ext cx="10387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即時回饋系統</a:t>
            </a:r>
            <a:endParaRPr lang="en-US" sz="1200" dirty="0"/>
          </a:p>
        </p:txBody>
      </p:sp>
      <p:sp>
        <p:nvSpPr>
          <p:cNvPr id="39" name="Shape 26"/>
          <p:cNvSpPr/>
          <p:nvPr/>
        </p:nvSpPr>
        <p:spPr>
          <a:xfrm>
            <a:off x="3834536" y="3075429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3938778" y="3170526"/>
            <a:ext cx="171907" cy="190195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4291736" y="3170526"/>
            <a:ext cx="10387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本地資料儲存</a:t>
            </a:r>
            <a:endParaRPr lang="en-US" sz="1200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14">
            <a:alphaModFix amt="50000"/>
          </a:blip>
          <a:srcRect/>
          <a:stretch/>
        </p:blipFill>
        <p:spPr>
          <a:xfrm>
            <a:off x="724205" y="1410005"/>
            <a:ext cx="228600" cy="228600"/>
          </a:xfrm>
          <a:prstGeom prst="rect">
            <a:avLst/>
          </a:prstGeom>
        </p:spPr>
      </p:pic>
      <p:sp>
        <p:nvSpPr>
          <p:cNvPr id="43" name="Shape 28"/>
          <p:cNvSpPr/>
          <p:nvPr/>
        </p:nvSpPr>
        <p:spPr>
          <a:xfrm>
            <a:off x="6208319" y="3170526"/>
            <a:ext cx="2581351" cy="1371600"/>
          </a:xfrm>
          <a:prstGeom prst="roundRect">
            <a:avLst>
              <a:gd name="adj" fmla="val 3704"/>
            </a:avLst>
          </a:prstGeom>
          <a:solidFill>
            <a:srgbClr val="374151">
              <a:alpha val="6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4" name="Shape 29"/>
          <p:cNvSpPr/>
          <p:nvPr/>
        </p:nvSpPr>
        <p:spPr>
          <a:xfrm>
            <a:off x="7229704" y="3322316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4B5563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5"/>
          <a:srcRect l="-80" r="-80"/>
          <a:stretch/>
        </p:blipFill>
        <p:spPr>
          <a:xfrm>
            <a:off x="3027579" y="1733702"/>
            <a:ext cx="286207" cy="228600"/>
          </a:xfrm>
          <a:prstGeom prst="rect">
            <a:avLst/>
          </a:prstGeom>
        </p:spPr>
      </p:pic>
      <p:sp>
        <p:nvSpPr>
          <p:cNvPr id="48" name="Shape 32"/>
          <p:cNvSpPr/>
          <p:nvPr/>
        </p:nvSpPr>
        <p:spPr>
          <a:xfrm>
            <a:off x="3643884" y="18672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4B5563">
              <a:alpha val="7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16">
            <a:alphaModFix amt="70000"/>
          </a:blip>
          <a:srcRect/>
          <a:stretch/>
        </p:blipFill>
        <p:spPr>
          <a:xfrm>
            <a:off x="3715207" y="1962302"/>
            <a:ext cx="237744" cy="190195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4101084" y="1962302"/>
            <a:ext cx="10387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教練協同監看</a:t>
            </a:r>
            <a:endParaRPr lang="en-US" sz="1200" dirty="0"/>
          </a:p>
        </p:txBody>
      </p:sp>
      <p:sp>
        <p:nvSpPr>
          <p:cNvPr id="51" name="Shape 34"/>
          <p:cNvSpPr/>
          <p:nvPr/>
        </p:nvSpPr>
        <p:spPr>
          <a:xfrm>
            <a:off x="5244084" y="18672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4B5563">
              <a:alpha val="7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52" name="Image 15" descr="preencoded.png"/>
          <p:cNvPicPr>
            <a:picLocks noChangeAspect="1"/>
          </p:cNvPicPr>
          <p:nvPr/>
        </p:nvPicPr>
        <p:blipFill>
          <a:blip r:embed="rId17">
            <a:alphaModFix amt="70000"/>
          </a:blip>
          <a:srcRect/>
          <a:stretch/>
        </p:blipFill>
        <p:spPr>
          <a:xfrm>
            <a:off x="5339182" y="1962302"/>
            <a:ext cx="190195" cy="190195"/>
          </a:xfrm>
          <a:prstGeom prst="rect">
            <a:avLst/>
          </a:prstGeom>
        </p:spPr>
      </p:pic>
      <p:sp>
        <p:nvSpPr>
          <p:cNvPr id="53" name="Text 35"/>
          <p:cNvSpPr txBox="1"/>
          <p:nvPr/>
        </p:nvSpPr>
        <p:spPr>
          <a:xfrm>
            <a:off x="5701284" y="1962302"/>
            <a:ext cx="8860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跨裝置同步</a:t>
            </a:r>
            <a:endParaRPr lang="en-US" sz="1200" dirty="0"/>
          </a:p>
        </p:txBody>
      </p:sp>
      <p:sp>
        <p:nvSpPr>
          <p:cNvPr id="54" name="Shape 36"/>
          <p:cNvSpPr/>
          <p:nvPr/>
        </p:nvSpPr>
        <p:spPr>
          <a:xfrm>
            <a:off x="6691579" y="18672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4B5563">
              <a:alpha val="7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55" name="Image 16" descr="preencoded.png"/>
          <p:cNvPicPr>
            <a:picLocks noChangeAspect="1"/>
          </p:cNvPicPr>
          <p:nvPr/>
        </p:nvPicPr>
        <p:blipFill>
          <a:blip r:embed="rId18">
            <a:alphaModFix amt="70000"/>
          </a:blip>
          <a:srcRect l="-1282" r="-1282"/>
          <a:stretch/>
        </p:blipFill>
        <p:spPr>
          <a:xfrm>
            <a:off x="6772961" y="1962302"/>
            <a:ext cx="219456" cy="190195"/>
          </a:xfrm>
          <a:prstGeom prst="rect">
            <a:avLst/>
          </a:prstGeom>
        </p:spPr>
      </p:pic>
      <p:sp>
        <p:nvSpPr>
          <p:cNvPr id="56" name="Text 37"/>
          <p:cNvSpPr txBox="1"/>
          <p:nvPr/>
        </p:nvSpPr>
        <p:spPr>
          <a:xfrm>
            <a:off x="7148779" y="1962302"/>
            <a:ext cx="1191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高級分析與排名</a:t>
            </a:r>
            <a:endParaRPr lang="en-US" sz="1200" dirty="0"/>
          </a:p>
        </p:txBody>
      </p:sp>
      <p:pic>
        <p:nvPicPr>
          <p:cNvPr id="57" name="Image 17" descr="preencoded.png"/>
          <p:cNvPicPr>
            <a:picLocks noChangeAspect="1"/>
          </p:cNvPicPr>
          <p:nvPr/>
        </p:nvPicPr>
        <p:blipFill>
          <a:blip r:embed="rId19"/>
          <a:srcRect l="-133" r="-133"/>
          <a:stretch/>
        </p:blipFill>
        <p:spPr>
          <a:xfrm>
            <a:off x="10734142" y="990295"/>
            <a:ext cx="171907" cy="228600"/>
          </a:xfrm>
          <a:prstGeom prst="rect">
            <a:avLst/>
          </a:prstGeom>
        </p:spPr>
      </p:pic>
      <p:pic>
        <p:nvPicPr>
          <p:cNvPr id="58" name="Image 18" descr="preencoded.png"/>
          <p:cNvPicPr>
            <a:picLocks noChangeAspect="1"/>
          </p:cNvPicPr>
          <p:nvPr/>
        </p:nvPicPr>
        <p:blipFill>
          <a:blip r:embed="rId20"/>
          <a:srcRect l="-133" r="-133"/>
          <a:stretch/>
        </p:blipFill>
        <p:spPr>
          <a:xfrm>
            <a:off x="10734142" y="1295705"/>
            <a:ext cx="171907" cy="228600"/>
          </a:xfrm>
          <a:prstGeom prst="rect">
            <a:avLst/>
          </a:prstGeom>
        </p:spPr>
      </p:pic>
      <p:sp>
        <p:nvSpPr>
          <p:cNvPr id="59" name="Text 38"/>
          <p:cNvSpPr txBox="1"/>
          <p:nvPr/>
        </p:nvSpPr>
        <p:spPr>
          <a:xfrm>
            <a:off x="10515600" y="1619402"/>
            <a:ext cx="734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數據流向</a:t>
            </a:r>
            <a:endParaRPr lang="en-US" sz="1200" dirty="0"/>
          </a:p>
        </p:txBody>
      </p:sp>
      <p:sp>
        <p:nvSpPr>
          <p:cNvPr id="61" name="Shape 40"/>
          <p:cNvSpPr/>
          <p:nvPr/>
        </p:nvSpPr>
        <p:spPr>
          <a:xfrm>
            <a:off x="800100" y="20574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62" name="Image 19" descr="preencoded.png"/>
          <p:cNvPicPr>
            <a:picLocks noChangeAspect="1"/>
          </p:cNvPicPr>
          <p:nvPr/>
        </p:nvPicPr>
        <p:blipFill>
          <a:blip r:embed="rId21"/>
          <a:srcRect l="-1773" r="-1773"/>
          <a:stretch/>
        </p:blipFill>
        <p:spPr>
          <a:xfrm>
            <a:off x="957377" y="2162556"/>
            <a:ext cx="66751" cy="171907"/>
          </a:xfrm>
          <a:prstGeom prst="rect">
            <a:avLst/>
          </a:prstGeom>
        </p:spPr>
      </p:pic>
      <p:sp>
        <p:nvSpPr>
          <p:cNvPr id="63" name="Text 41"/>
          <p:cNvSpPr txBox="1"/>
          <p:nvPr/>
        </p:nvSpPr>
        <p:spPr>
          <a:xfrm>
            <a:off x="6703009" y="3837123"/>
            <a:ext cx="35341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資料流模式： TLV 打包、抗丟包、低功耗通訊協議</a:t>
            </a:r>
            <a:endParaRPr lang="en-US" sz="1200" dirty="0"/>
          </a:p>
        </p:txBody>
      </p:sp>
      <p:sp>
        <p:nvSpPr>
          <p:cNvPr id="64" name="Text 42"/>
          <p:cNvSpPr txBox="1"/>
          <p:nvPr/>
        </p:nvSpPr>
        <p:spPr>
          <a:xfrm>
            <a:off x="1305077" y="3586010"/>
            <a:ext cx="41340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設計原則： 邊緣端為主、雲端為輔，確保低延遲與離線可用</a:t>
            </a:r>
            <a:endParaRPr lang="en-US" sz="1200" dirty="0"/>
          </a:p>
        </p:txBody>
      </p:sp>
      <p:sp>
        <p:nvSpPr>
          <p:cNvPr id="65" name="Text 43"/>
          <p:cNvSpPr txBox="1"/>
          <p:nvPr/>
        </p:nvSpPr>
        <p:spPr>
          <a:xfrm>
            <a:off x="11592763" y="277154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</a:t>
            </a:r>
            <a:endParaRPr lang="en-US" sz="1300" dirty="0"/>
          </a:p>
        </p:txBody>
      </p:sp>
      <p:pic>
        <p:nvPicPr>
          <p:cNvPr id="67" name="圖片 66" descr="一張含有 文字, 行, 圖表, 字型 的圖片&#10;&#10;AI 產生的內容可能不正確。">
            <a:extLst>
              <a:ext uri="{FF2B5EF4-FFF2-40B4-BE49-F238E27FC236}">
                <a16:creationId xmlns:a16="http://schemas.microsoft.com/office/drawing/2014/main" id="{85EE8045-4FF5-92F1-B52A-B3CA344A3DA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1752600"/>
            <a:ext cx="12192000" cy="3352800"/>
          </a:xfrm>
          <a:prstGeom prst="rect">
            <a:avLst/>
          </a:prstGeom>
        </p:spPr>
      </p:pic>
      <p:pic>
        <p:nvPicPr>
          <p:cNvPr id="68" name="圖片 67" descr="一張含有 文字, 行, 圖表, 字型 的圖片&#10;&#10;AI 產生的內容可能不正確。">
            <a:extLst>
              <a:ext uri="{FF2B5EF4-FFF2-40B4-BE49-F238E27FC236}">
                <a16:creationId xmlns:a16="http://schemas.microsoft.com/office/drawing/2014/main" id="{92E950DE-7FB5-4053-E4B6-3EAA3E31629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507" y="1124407"/>
            <a:ext cx="12192000" cy="37924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579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50626" r="-50626"/>
          <a:stretch/>
        </p:blipFill>
        <p:spPr>
          <a:xfrm>
            <a:off x="0" y="0"/>
            <a:ext cx="12191695" cy="60579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599846"/>
            <a:ext cx="40389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邊緣計算的三個關鍵優勢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11045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761695" y="1447495"/>
            <a:ext cx="3305556" cy="2857500"/>
          </a:xfrm>
          <a:prstGeom prst="roundRect">
            <a:avLst>
              <a:gd name="adj" fmla="val 853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2031797" y="1752905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530" b="-530"/>
          <a:stretch/>
        </p:blipFill>
        <p:spPr>
          <a:xfrm>
            <a:off x="2288743" y="1990649"/>
            <a:ext cx="247802" cy="28620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93138" y="2762402"/>
            <a:ext cx="14200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體感即時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127455" y="3228746"/>
            <a:ext cx="2701138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回饋延遲可控於即時互動級，讓學習者能在動作形成瞬間得到修正建議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444898" y="1447495"/>
            <a:ext cx="3305556" cy="2857500"/>
          </a:xfrm>
          <a:prstGeom prst="roundRect">
            <a:avLst>
              <a:gd name="adj" fmla="val 853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2" name="Shape 8"/>
          <p:cNvSpPr/>
          <p:nvPr/>
        </p:nvSpPr>
        <p:spPr>
          <a:xfrm>
            <a:off x="5715000" y="1752905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5915254" y="1990649"/>
            <a:ext cx="362102" cy="2862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76342" y="2762402"/>
            <a:ext cx="14200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隱私友好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809744" y="3228746"/>
            <a:ext cx="270113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資料留在裝置端，不需連網也能運作，無須擔心訓練影像外流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28102" y="1447495"/>
            <a:ext cx="3305556" cy="2857500"/>
          </a:xfrm>
          <a:prstGeom prst="roundRect">
            <a:avLst>
              <a:gd name="adj" fmla="val 853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7" name="Shape 12"/>
          <p:cNvSpPr/>
          <p:nvPr/>
        </p:nvSpPr>
        <p:spPr>
          <a:xfrm>
            <a:off x="9398203" y="1752905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l="-266" r="-266"/>
          <a:stretch/>
        </p:blipFill>
        <p:spPr>
          <a:xfrm>
            <a:off x="9616745" y="1990649"/>
            <a:ext cx="323698" cy="28620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59545" y="2762402"/>
            <a:ext cx="14200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耗能效率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578901" y="3228746"/>
            <a:ext cx="252923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運算分流、低功耗傳輸與喚醒策略，使球拍與手機雙雙續航更長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761695" y="4610405"/>
            <a:ext cx="10668305" cy="838505"/>
          </a:xfrm>
          <a:prstGeom prst="roundRect">
            <a:avLst>
              <a:gd name="adj" fmla="val 9914"/>
            </a:avLst>
          </a:prstGeom>
          <a:solidFill>
            <a:srgbClr val="1E40AF">
              <a:alpha val="2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2" name="Shape 16"/>
          <p:cNvSpPr/>
          <p:nvPr/>
        </p:nvSpPr>
        <p:spPr>
          <a:xfrm>
            <a:off x="952805" y="48006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86307" y="4934102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00200" y="4924044"/>
            <a:ext cx="91302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邊緣運算是 SmartRacket Coach 的核心競爭力，讓學習者在任何場合都能享有低延遲、高隱私、長續航的訓練體驗。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11592763" y="559155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61108" r="-61108"/>
          <a:stretch/>
        </p:blipFill>
        <p:spPr>
          <a:xfrm>
            <a:off x="0" y="0"/>
            <a:ext cx="12191695" cy="5486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592763" y="502005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61695" y="599846"/>
            <a:ext cx="23244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人機協作定位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61695" y="12188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761695" y="3276295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1E40AF">
              <a:alpha val="5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27" r="-27"/>
          <a:stretch/>
        </p:blipFill>
        <p:spPr>
          <a:xfrm>
            <a:off x="966521" y="3715207"/>
            <a:ext cx="428854" cy="34290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743" r="-743"/>
          <a:stretch/>
        </p:blipFill>
        <p:spPr>
          <a:xfrm>
            <a:off x="1471270" y="3715207"/>
            <a:ext cx="304495" cy="3429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317797" y="609905"/>
            <a:ext cx="19202" cy="4267505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1" name="Shape 6"/>
          <p:cNvSpPr/>
          <p:nvPr/>
        </p:nvSpPr>
        <p:spPr>
          <a:xfrm>
            <a:off x="4718304" y="6099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32604" y="724205"/>
            <a:ext cx="152705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251399" y="666598"/>
            <a:ext cx="4389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5251399" y="1123798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量化與追蹤、提供客觀分數與趨勢。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4718304" y="16760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4813402" y="1790395"/>
            <a:ext cx="190195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251399" y="1733702"/>
            <a:ext cx="629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教練</a:t>
            </a:r>
            <a:endParaRPr lang="en-US" sz="1800" dirty="0"/>
          </a:p>
        </p:txBody>
      </p:sp>
      <p:sp>
        <p:nvSpPr>
          <p:cNvPr id="18" name="Text 11"/>
          <p:cNvSpPr txBox="1"/>
          <p:nvPr/>
        </p:nvSpPr>
        <p:spPr>
          <a:xfrm>
            <a:off x="5251399" y="2190902"/>
            <a:ext cx="2238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策略與課表、介入時機。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4718304" y="27432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4841748" y="2857500"/>
            <a:ext cx="133502" cy="152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251399" y="2800807"/>
            <a:ext cx="857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學習者</a:t>
            </a:r>
            <a:endParaRPr lang="en-US" sz="1800" dirty="0"/>
          </a:p>
        </p:txBody>
      </p:sp>
      <p:sp>
        <p:nvSpPr>
          <p:cNvPr id="22" name="Text 14"/>
          <p:cNvSpPr txBox="1"/>
          <p:nvPr/>
        </p:nvSpPr>
        <p:spPr>
          <a:xfrm>
            <a:off x="5251399" y="3258007"/>
            <a:ext cx="3001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主動練習、即時修正、長期堅持。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4718304" y="38103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832604" y="3924605"/>
            <a:ext cx="152705" cy="15270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251399" y="3866998"/>
            <a:ext cx="629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D34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成果</a:t>
            </a:r>
            <a:endParaRPr lang="en-US" sz="1800" dirty="0"/>
          </a:p>
        </p:txBody>
      </p:sp>
      <p:sp>
        <p:nvSpPr>
          <p:cNvPr id="26" name="Text 17"/>
          <p:cNvSpPr txBox="1"/>
          <p:nvPr/>
        </p:nvSpPr>
        <p:spPr>
          <a:xfrm>
            <a:off x="5251399" y="4324198"/>
            <a:ext cx="2238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建立可複用的學習閉環。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4870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31838" r="-31838"/>
          <a:stretch/>
        </p:blipFill>
        <p:spPr>
          <a:xfrm>
            <a:off x="0" y="0"/>
            <a:ext cx="12191695" cy="74487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599846"/>
            <a:ext cx="40389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代際演進：從原型到可用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11045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1218895" y="1524305"/>
            <a:ext cx="2838298" cy="58064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1218895" y="2085746"/>
            <a:ext cx="2838298" cy="1920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8" name="Text 5"/>
          <p:cNvSpPr txBox="1"/>
          <p:nvPr/>
        </p:nvSpPr>
        <p:spPr>
          <a:xfrm>
            <a:off x="2464308" y="1705356"/>
            <a:ext cx="4718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指標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051706" y="1524305"/>
            <a:ext cx="2895905" cy="58064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0" name="Shape 7"/>
          <p:cNvSpPr/>
          <p:nvPr/>
        </p:nvSpPr>
        <p:spPr>
          <a:xfrm>
            <a:off x="4051706" y="2085746"/>
            <a:ext cx="2895905" cy="1920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1" name="Text 8"/>
          <p:cNvSpPr txBox="1"/>
          <p:nvPr/>
        </p:nvSpPr>
        <p:spPr>
          <a:xfrm>
            <a:off x="4860950" y="1705356"/>
            <a:ext cx="14054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micro:bit 原型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45782" y="1524305"/>
            <a:ext cx="4028846" cy="58064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3" name="Shape 10"/>
          <p:cNvSpPr/>
          <p:nvPr/>
        </p:nvSpPr>
        <p:spPr>
          <a:xfrm>
            <a:off x="6945782" y="2085746"/>
            <a:ext cx="4028846" cy="1920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4" name="Text 11"/>
          <p:cNvSpPr txBox="1"/>
          <p:nvPr/>
        </p:nvSpPr>
        <p:spPr>
          <a:xfrm>
            <a:off x="8062265" y="1705356"/>
            <a:ext cx="19293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ESP32‑C3 Mini 現行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218895" y="2104949"/>
            <a:ext cx="9753905" cy="780898"/>
          </a:xfrm>
          <a:prstGeom prst="rect">
            <a:avLst/>
          </a:prstGeom>
          <a:solidFill>
            <a:srgbClr val="1E40AF">
              <a:alpha val="2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6" name="Shape 13"/>
          <p:cNvSpPr/>
          <p:nvPr/>
        </p:nvSpPr>
        <p:spPr>
          <a:xfrm>
            <a:off x="1218895" y="2876702"/>
            <a:ext cx="2838298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7" name="Shape 14"/>
          <p:cNvSpPr/>
          <p:nvPr/>
        </p:nvSpPr>
        <p:spPr>
          <a:xfrm>
            <a:off x="1447495" y="230520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1543507" y="2419502"/>
            <a:ext cx="190195" cy="1527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943100" y="2391156"/>
            <a:ext cx="814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採樣頻率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051706" y="2876702"/>
            <a:ext cx="2895905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1" name="Text 17"/>
          <p:cNvSpPr txBox="1"/>
          <p:nvPr/>
        </p:nvSpPr>
        <p:spPr>
          <a:xfrm>
            <a:off x="5253228" y="2391156"/>
            <a:ext cx="6245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CD34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50 Hz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945782" y="2876702"/>
            <a:ext cx="4028846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3" name="Text 19"/>
          <p:cNvSpPr txBox="1"/>
          <p:nvPr/>
        </p:nvSpPr>
        <p:spPr>
          <a:xfrm>
            <a:off x="7981798" y="2400300"/>
            <a:ext cx="20766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最高可至 200 Hz（目標值）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4" name="Shape 20"/>
          <p:cNvSpPr/>
          <p:nvPr/>
        </p:nvSpPr>
        <p:spPr>
          <a:xfrm>
            <a:off x="1218895" y="3643884"/>
            <a:ext cx="2838298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5" name="Shape 21"/>
          <p:cNvSpPr/>
          <p:nvPr/>
        </p:nvSpPr>
        <p:spPr>
          <a:xfrm>
            <a:off x="1447495" y="307695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61795" y="3191256"/>
            <a:ext cx="152705" cy="152705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943100" y="3161995"/>
            <a:ext cx="8814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連線/計算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4051706" y="3643884"/>
            <a:ext cx="2895905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9" name="Text 24"/>
          <p:cNvSpPr txBox="1"/>
          <p:nvPr/>
        </p:nvSpPr>
        <p:spPr>
          <a:xfrm>
            <a:off x="5327294" y="3161995"/>
            <a:ext cx="4718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受限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6945782" y="3643884"/>
            <a:ext cx="4028846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1" name="Text 26"/>
          <p:cNvSpPr txBox="1"/>
          <p:nvPr/>
        </p:nvSpPr>
        <p:spPr>
          <a:xfrm>
            <a:off x="8128102" y="3172054"/>
            <a:ext cx="1781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藍牙 5.0計算與內存充裕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2" name="Shape 27"/>
          <p:cNvSpPr/>
          <p:nvPr/>
        </p:nvSpPr>
        <p:spPr>
          <a:xfrm>
            <a:off x="1218895" y="3653028"/>
            <a:ext cx="9753905" cy="771754"/>
          </a:xfrm>
          <a:prstGeom prst="rect">
            <a:avLst/>
          </a:prstGeom>
          <a:solidFill>
            <a:srgbClr val="1E40AF">
              <a:alpha val="2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3" name="Shape 28"/>
          <p:cNvSpPr/>
          <p:nvPr/>
        </p:nvSpPr>
        <p:spPr>
          <a:xfrm>
            <a:off x="1218895" y="4415638"/>
            <a:ext cx="2838298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4" name="Shape 29"/>
          <p:cNvSpPr/>
          <p:nvPr/>
        </p:nvSpPr>
        <p:spPr>
          <a:xfrm>
            <a:off x="1447495" y="38477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61795" y="3962095"/>
            <a:ext cx="152705" cy="15270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943100" y="3933749"/>
            <a:ext cx="814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延遲體感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4051706" y="4415638"/>
            <a:ext cx="2895905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8" name="Text 32"/>
          <p:cNvSpPr txBox="1"/>
          <p:nvPr/>
        </p:nvSpPr>
        <p:spPr>
          <a:xfrm>
            <a:off x="5327294" y="3933749"/>
            <a:ext cx="4718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偏高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6945782" y="4415638"/>
            <a:ext cx="4028846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0" name="Text 34"/>
          <p:cNvSpPr txBox="1"/>
          <p:nvPr/>
        </p:nvSpPr>
        <p:spPr>
          <a:xfrm>
            <a:off x="8359445" y="3933749"/>
            <a:ext cx="1329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穩定即時回饋級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1218895" y="5187391"/>
            <a:ext cx="2838298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2" name="Shape 36"/>
          <p:cNvSpPr/>
          <p:nvPr/>
        </p:nvSpPr>
        <p:spPr>
          <a:xfrm>
            <a:off x="1447495" y="4619549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1552651" y="4733849"/>
            <a:ext cx="171907" cy="152705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1943100" y="4705502"/>
            <a:ext cx="4718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續航</a:t>
            </a:r>
            <a:endParaRPr lang="en-US" sz="1300" dirty="0"/>
          </a:p>
        </p:txBody>
      </p:sp>
      <p:sp>
        <p:nvSpPr>
          <p:cNvPr id="45" name="Shape 38"/>
          <p:cNvSpPr/>
          <p:nvPr/>
        </p:nvSpPr>
        <p:spPr>
          <a:xfrm>
            <a:off x="4051706" y="5187391"/>
            <a:ext cx="2895905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6" name="Text 39"/>
          <p:cNvSpPr txBox="1"/>
          <p:nvPr/>
        </p:nvSpPr>
        <p:spPr>
          <a:xfrm>
            <a:off x="5413248" y="4705502"/>
            <a:ext cx="3008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低</a:t>
            </a:r>
            <a:endParaRPr lang="en-US" sz="1300" dirty="0"/>
          </a:p>
        </p:txBody>
      </p:sp>
      <p:sp>
        <p:nvSpPr>
          <p:cNvPr id="47" name="Shape 40"/>
          <p:cNvSpPr/>
          <p:nvPr/>
        </p:nvSpPr>
        <p:spPr>
          <a:xfrm>
            <a:off x="6945782" y="5187391"/>
            <a:ext cx="4028846" cy="91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8" name="Text 41"/>
          <p:cNvSpPr txBox="1"/>
          <p:nvPr/>
        </p:nvSpPr>
        <p:spPr>
          <a:xfrm>
            <a:off x="8044891" y="4714646"/>
            <a:ext cx="19531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可長時訓練（依功耗策略）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9" name="Shape 42"/>
          <p:cNvSpPr/>
          <p:nvPr/>
        </p:nvSpPr>
        <p:spPr>
          <a:xfrm>
            <a:off x="1828800" y="5581498"/>
            <a:ext cx="8534095" cy="1257300"/>
          </a:xfrm>
          <a:prstGeom prst="roundRect">
            <a:avLst>
              <a:gd name="adj" fmla="val 4408"/>
            </a:avLst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50" name="Shape 43"/>
          <p:cNvSpPr/>
          <p:nvPr/>
        </p:nvSpPr>
        <p:spPr>
          <a:xfrm>
            <a:off x="2057400" y="598200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rcRect l="-3205" r="-3205"/>
          <a:stretch/>
        </p:blipFill>
        <p:spPr>
          <a:xfrm>
            <a:off x="2247595" y="6115507"/>
            <a:ext cx="75895" cy="190195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2667305" y="5829300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效能提升</a:t>
            </a:r>
            <a:endParaRPr lang="en-US" sz="1500" dirty="0"/>
          </a:p>
        </p:txBody>
      </p:sp>
      <p:sp>
        <p:nvSpPr>
          <p:cNvPr id="53" name="Text 45"/>
          <p:cNvSpPr txBox="1"/>
          <p:nvPr/>
        </p:nvSpPr>
        <p:spPr>
          <a:xfrm>
            <a:off x="2667305" y="6105449"/>
            <a:ext cx="750173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從早期原型的基礎驗證，到現行版本的穩定實用，各項指標全面提升。以體感與功能為先，數值僅供參考。</a:t>
            </a:r>
            <a:endParaRPr lang="en-US" sz="1300" dirty="0"/>
          </a:p>
        </p:txBody>
      </p:sp>
      <p:sp>
        <p:nvSpPr>
          <p:cNvPr id="54" name="Text 46"/>
          <p:cNvSpPr txBox="1"/>
          <p:nvPr/>
        </p:nvSpPr>
        <p:spPr>
          <a:xfrm>
            <a:off x="11592763" y="6981444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9089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55266" r="-55266"/>
          <a:stretch/>
        </p:blipFill>
        <p:spPr>
          <a:xfrm>
            <a:off x="0" y="0"/>
            <a:ext cx="12191695" cy="57908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295351"/>
            <a:ext cx="26673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核心元件與分工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800100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1981505" y="1371600"/>
            <a:ext cx="2438705" cy="914400"/>
          </a:xfrm>
          <a:prstGeom prst="roundRect">
            <a:avLst>
              <a:gd name="adj" fmla="val 8333"/>
            </a:avLst>
          </a:prstGeom>
          <a:solidFill>
            <a:srgbClr val="1E40AF"/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7" name="Text 4"/>
          <p:cNvSpPr txBox="1"/>
          <p:nvPr/>
        </p:nvSpPr>
        <p:spPr>
          <a:xfrm>
            <a:off x="2427732" y="1619402"/>
            <a:ext cx="1696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ESP32‑C3 Mini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933395" y="1886407"/>
            <a:ext cx="6336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主控晶片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72407" y="12380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86707" y="1352398"/>
            <a:ext cx="152705" cy="15270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981505" y="2590495"/>
            <a:ext cx="2438705" cy="914400"/>
          </a:xfrm>
          <a:prstGeom prst="roundRect">
            <a:avLst>
              <a:gd name="adj" fmla="val 8333"/>
            </a:avLst>
          </a:prstGeom>
          <a:solidFill>
            <a:srgbClr val="1E40AF"/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Text 8"/>
          <p:cNvSpPr txBox="1"/>
          <p:nvPr/>
        </p:nvSpPr>
        <p:spPr>
          <a:xfrm>
            <a:off x="2653589" y="2838298"/>
            <a:ext cx="1239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MPU‑6050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800807" y="3105302"/>
            <a:ext cx="9006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慣性測量單元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172407" y="2457907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286707" y="2572207"/>
            <a:ext cx="152705" cy="152705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3114446" y="3810305"/>
            <a:ext cx="171907" cy="2286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2286000" y="4038905"/>
            <a:ext cx="1828800" cy="457200"/>
          </a:xfrm>
          <a:prstGeom prst="roundRect">
            <a:avLst>
              <a:gd name="adj" fmla="val 33333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8" name="Text 12"/>
          <p:cNvSpPr txBox="1"/>
          <p:nvPr/>
        </p:nvSpPr>
        <p:spPr>
          <a:xfrm>
            <a:off x="2793492" y="4190695"/>
            <a:ext cx="9198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BLE 5.0 通訊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3114446" y="4496105"/>
            <a:ext cx="171907" cy="2286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2286000" y="4724705"/>
            <a:ext cx="1828800" cy="45720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1" name="Text 14"/>
          <p:cNvSpPr txBox="1"/>
          <p:nvPr/>
        </p:nvSpPr>
        <p:spPr>
          <a:xfrm>
            <a:off x="2790749" y="4876495"/>
            <a:ext cx="9198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Android App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6096305" y="1410005"/>
            <a:ext cx="19202" cy="3733495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3" name="Shape 16"/>
          <p:cNvSpPr/>
          <p:nvPr/>
        </p:nvSpPr>
        <p:spPr>
          <a:xfrm>
            <a:off x="6572707" y="141000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05295" y="1543507"/>
            <a:ext cx="190195" cy="19019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181698" y="1429207"/>
            <a:ext cx="523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主控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7181698" y="1705356"/>
            <a:ext cx="423458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Seeed Studio XIAO ESP32‑C3 Mini，小巧但算力充足。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572707" y="247619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05295" y="2609698"/>
            <a:ext cx="190195" cy="19019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181698" y="2495398"/>
            <a:ext cx="562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IMU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7181698" y="2771546"/>
            <a:ext cx="433882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MPU‑6050（6 軸，陀螺儀 + 加速度計）精準感測運動參數。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572707" y="35433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60A5F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6691579" y="3676802"/>
            <a:ext cx="219456" cy="19019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181698" y="3562502"/>
            <a:ext cx="523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通信</a:t>
            </a:r>
            <a:endParaRPr lang="en-US" sz="1500" dirty="0"/>
          </a:p>
        </p:txBody>
      </p:sp>
      <p:sp>
        <p:nvSpPr>
          <p:cNvPr id="34" name="Text 24"/>
          <p:cNvSpPr txBox="1"/>
          <p:nvPr/>
        </p:nvSpPr>
        <p:spPr>
          <a:xfrm>
            <a:off x="7181698" y="3838651"/>
            <a:ext cx="36822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BLE 5.0 GATT，實現封包聚合、低功耗傳輸。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6572707" y="43434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0"/>
          <a:srcRect l="-1282" r="-1282"/>
          <a:stretch/>
        </p:blipFill>
        <p:spPr>
          <a:xfrm>
            <a:off x="6691579" y="4476902"/>
            <a:ext cx="219456" cy="190195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7181698" y="4362602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計算分工</a:t>
            </a:r>
            <a:endParaRPr lang="en-US" sz="1500" dirty="0"/>
          </a:p>
        </p:txBody>
      </p:sp>
      <p:sp>
        <p:nvSpPr>
          <p:cNvPr id="38" name="Text 27"/>
          <p:cNvSpPr txBox="1"/>
          <p:nvPr/>
        </p:nvSpPr>
        <p:spPr>
          <a:xfrm>
            <a:off x="7181698" y="4638751"/>
            <a:ext cx="424373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邊緣端負責高頻採集與預處理；模型推論在手機端，便於快速迭代。</a:t>
            </a:r>
            <a:endParaRPr lang="en-US" sz="1300" dirty="0"/>
          </a:p>
        </p:txBody>
      </p:sp>
      <p:sp>
        <p:nvSpPr>
          <p:cNvPr id="39" name="Text 28"/>
          <p:cNvSpPr txBox="1"/>
          <p:nvPr/>
        </p:nvSpPr>
        <p:spPr>
          <a:xfrm>
            <a:off x="11592763" y="5324551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8210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39881" r="-39881"/>
          <a:stretch/>
        </p:blipFill>
        <p:spPr>
          <a:xfrm>
            <a:off x="0" y="0"/>
            <a:ext cx="12191695" cy="67821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599846"/>
            <a:ext cx="26673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電源與續航策略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11045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761695" y="1371600"/>
            <a:ext cx="5181905" cy="1638605"/>
          </a:xfrm>
          <a:prstGeom prst="roundRect">
            <a:avLst>
              <a:gd name="adj" fmla="val 2596"/>
            </a:avLst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990295" y="1600200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44" b="-44"/>
          <a:stretch/>
        </p:blipFill>
        <p:spPr>
          <a:xfrm>
            <a:off x="1128370" y="1752905"/>
            <a:ext cx="2569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76095" y="1619402"/>
            <a:ext cx="715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主電池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2324405" y="161940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2381098" y="1666951"/>
            <a:ext cx="114300" cy="1335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76095" y="1962302"/>
            <a:ext cx="19531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紐扣電池作為主要電源供應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676095" y="2266798"/>
            <a:ext cx="27148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優點：體積小巧、容量適中、易於更換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676095" y="2572207"/>
            <a:ext cx="31720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限制：需要良好的低功耗管理以延長電池壽命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248095" y="1371600"/>
            <a:ext cx="5181905" cy="1638605"/>
          </a:xfrm>
          <a:prstGeom prst="roundRect">
            <a:avLst>
              <a:gd name="adj" fmla="val 2596"/>
            </a:avLst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6" name="Shape 11"/>
          <p:cNvSpPr/>
          <p:nvPr/>
        </p:nvSpPr>
        <p:spPr>
          <a:xfrm>
            <a:off x="6476695" y="1600200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6644030" y="1752905"/>
            <a:ext cx="200254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62495" y="1619402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能源策略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8001000" y="161940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8058607" y="1666951"/>
            <a:ext cx="114300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162495" y="1962302"/>
            <a:ext cx="20482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睡眠/喚醒（揮拍/按鍵）機制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7162495" y="2266798"/>
            <a:ext cx="16486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間歇傳輸降低藍牙功耗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7162495" y="2572207"/>
            <a:ext cx="27148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動作感知，僅在需要時啟動高功耗模式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61695" y="3314700"/>
            <a:ext cx="5181905" cy="1943100"/>
          </a:xfrm>
          <a:prstGeom prst="roundRect">
            <a:avLst>
              <a:gd name="adj" fmla="val 1845"/>
            </a:avLst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5" name="Shape 18"/>
          <p:cNvSpPr/>
          <p:nvPr/>
        </p:nvSpPr>
        <p:spPr>
          <a:xfrm>
            <a:off x="990295" y="3543300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1157630" y="3696005"/>
            <a:ext cx="200254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76095" y="3562502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使用體驗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2514600" y="356250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2572207" y="3610051"/>
            <a:ext cx="114300" cy="13350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676095" y="3905402"/>
            <a:ext cx="31153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主動訓練：長時段可用（3-4小時連續使用）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1676095" y="4209898"/>
            <a:ext cx="1800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待機模式：多月待機時間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1676095" y="4515307"/>
            <a:ext cx="2400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充電提示：App內電量顯示與提醒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6248095" y="3314700"/>
            <a:ext cx="5181905" cy="1943100"/>
          </a:xfrm>
          <a:prstGeom prst="roundRect">
            <a:avLst>
              <a:gd name="adj" fmla="val 1845"/>
            </a:avLst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4" name="Shape 25"/>
          <p:cNvSpPr/>
          <p:nvPr/>
        </p:nvSpPr>
        <p:spPr>
          <a:xfrm>
            <a:off x="6476695" y="3543300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29400" y="3696005"/>
            <a:ext cx="228600" cy="22860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162495" y="3562502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未來規劃</a:t>
            </a:r>
            <a:endParaRPr lang="en-US" sz="1500" dirty="0"/>
          </a:p>
        </p:txBody>
      </p:sp>
      <p:sp>
        <p:nvSpPr>
          <p:cNvPr id="37" name="Shape 27"/>
          <p:cNvSpPr/>
          <p:nvPr/>
        </p:nvSpPr>
        <p:spPr>
          <a:xfrm>
            <a:off x="8001000" y="356250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48549" y="3610051"/>
            <a:ext cx="133502" cy="133502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7162495" y="3905402"/>
            <a:ext cx="12289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Phase 2 評估：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7162495" y="4209898"/>
            <a:ext cx="1867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超級電容 + 無線充電結合</a:t>
            </a:r>
            <a:endParaRPr lang="en-US" sz="1200" dirty="0"/>
          </a:p>
        </p:txBody>
      </p:sp>
      <p:sp>
        <p:nvSpPr>
          <p:cNvPr id="41" name="Text 30"/>
          <p:cNvSpPr txBox="1"/>
          <p:nvPr/>
        </p:nvSpPr>
        <p:spPr>
          <a:xfrm>
            <a:off x="7162495" y="4515307"/>
            <a:ext cx="2105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磁性充電座，提升使用便利性</a:t>
            </a:r>
            <a:endParaRPr lang="en-US" sz="1200" dirty="0"/>
          </a:p>
        </p:txBody>
      </p:sp>
      <p:sp>
        <p:nvSpPr>
          <p:cNvPr id="42" name="Text 31"/>
          <p:cNvSpPr txBox="1"/>
          <p:nvPr/>
        </p:nvSpPr>
        <p:spPr>
          <a:xfrm>
            <a:off x="7162495" y="4819802"/>
            <a:ext cx="16486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更先進的電源管理晶片</a:t>
            </a:r>
            <a:endParaRPr lang="en-US" sz="1200" dirty="0"/>
          </a:p>
        </p:txBody>
      </p:sp>
      <p:sp>
        <p:nvSpPr>
          <p:cNvPr id="43" name="Shape 32"/>
          <p:cNvSpPr/>
          <p:nvPr/>
        </p:nvSpPr>
        <p:spPr>
          <a:xfrm>
            <a:off x="761695" y="5486400"/>
            <a:ext cx="10668305" cy="685800"/>
          </a:xfrm>
          <a:prstGeom prst="roundRect">
            <a:avLst>
              <a:gd name="adj" fmla="val 14815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4" name="Shape 33"/>
          <p:cNvSpPr/>
          <p:nvPr/>
        </p:nvSpPr>
        <p:spPr>
          <a:xfrm>
            <a:off x="914400" y="56391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3272" y="5734202"/>
            <a:ext cx="142646" cy="190195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1447495" y="5734202"/>
            <a:ext cx="5306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目前版本已達到基本使用需求，但未來將進一步優化電池壽命與充電便利性。</a:t>
            </a:r>
            <a:endParaRPr lang="en-US" sz="1200" dirty="0"/>
          </a:p>
        </p:txBody>
      </p:sp>
      <p:sp>
        <p:nvSpPr>
          <p:cNvPr id="47" name="Text 35"/>
          <p:cNvSpPr txBox="1"/>
          <p:nvPr/>
        </p:nvSpPr>
        <p:spPr>
          <a:xfrm>
            <a:off x="11592763" y="631484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2000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44951" r="-44951"/>
          <a:stretch/>
        </p:blipFill>
        <p:spPr>
          <a:xfrm>
            <a:off x="0" y="0"/>
            <a:ext cx="12191695" cy="64200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295351"/>
            <a:ext cx="413400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CNC精準安裝與結構設計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800100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1676095" y="1742846"/>
            <a:ext cx="3047695" cy="3047695"/>
          </a:xfrm>
          <a:prstGeom prst="roundRect">
            <a:avLst>
              <a:gd name="adj" fmla="val 750"/>
            </a:avLst>
          </a:prstGeom>
          <a:solidFill>
            <a:srgbClr val="1E40AF"/>
          </a:solidFill>
          <a:ln w="508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2361895" y="2428646"/>
            <a:ext cx="1676095" cy="1676095"/>
          </a:xfrm>
          <a:prstGeom prst="rect">
            <a:avLst/>
          </a:prstGeom>
          <a:solidFill>
            <a:srgbClr val="2563EB"/>
          </a:solidFill>
          <a:ln w="254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8" name="Shape 5"/>
          <p:cNvSpPr/>
          <p:nvPr/>
        </p:nvSpPr>
        <p:spPr>
          <a:xfrm>
            <a:off x="2590495" y="2657246"/>
            <a:ext cx="1218895" cy="1218895"/>
          </a:xfrm>
          <a:prstGeom prst="roundRect">
            <a:avLst>
              <a:gd name="adj" fmla="val 4689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86100" y="3000146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723083" y="3362249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ESP32-C3 模組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286000" y="3305556"/>
            <a:ext cx="1828800" cy="38405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2" name="Shape 8"/>
          <p:cNvSpPr/>
          <p:nvPr/>
        </p:nvSpPr>
        <p:spPr>
          <a:xfrm>
            <a:off x="4686300" y="315285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93C5FD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3" name="Text 9"/>
          <p:cNvSpPr txBox="1"/>
          <p:nvPr/>
        </p:nvSpPr>
        <p:spPr>
          <a:xfrm>
            <a:off x="4765853" y="3172054"/>
            <a:ext cx="191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!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66798" y="4962449"/>
            <a:ext cx="1967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拍柄後端中心內嵌 - 剖面示意圖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2198218" y="5229454"/>
            <a:ext cx="21241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CNC精準開孔保持平衡與重心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96305" y="1371600"/>
            <a:ext cx="19202" cy="443849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72707" y="1410005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77202" y="1371600"/>
            <a:ext cx="5239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方案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72707" y="1781251"/>
            <a:ext cx="38724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拍柄後端中心 CNC 精準鑽孔與開槽，模組內嵌。</a:t>
            </a:r>
            <a:endParaRPr lang="en-US" sz="13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2707" y="2121408"/>
            <a:ext cx="133502" cy="1335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82105" y="2115007"/>
            <a:ext cx="26343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經過多次失敗後找到穩定的尺寸與加工路徑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72707" y="2628900"/>
            <a:ext cx="190195" cy="19019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77202" y="2590495"/>
            <a:ext cx="5239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目的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6572707" y="304769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93C5FD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5" name="Text 18"/>
          <p:cNvSpPr txBox="1"/>
          <p:nvPr/>
        </p:nvSpPr>
        <p:spPr>
          <a:xfrm>
            <a:off x="6762902" y="2991002"/>
            <a:ext cx="22576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維持原生手感，不影響揮拍體驗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572707" y="33531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93C5FD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7" name="Text 20"/>
          <p:cNvSpPr txBox="1"/>
          <p:nvPr/>
        </p:nvSpPr>
        <p:spPr>
          <a:xfrm>
            <a:off x="6762902" y="3295498"/>
            <a:ext cx="2105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降低慣性改變，確保運動表現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572707" y="3657600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93C5FD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9" name="Text 22"/>
          <p:cNvSpPr txBox="1"/>
          <p:nvPr/>
        </p:nvSpPr>
        <p:spPr>
          <a:xfrm>
            <a:off x="6762902" y="3600907"/>
            <a:ext cx="24103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提升結構穩定性，防止鬆動與偏移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572707" y="4114800"/>
            <a:ext cx="4858207" cy="1920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72707" y="4401007"/>
            <a:ext cx="190195" cy="19019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77202" y="4362602"/>
            <a:ext cx="9052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設計演進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6761074" y="4743907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7F1D1D">
              <a:alpha val="5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52183" y="4934102"/>
            <a:ext cx="228600" cy="2286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572707" y="5447995"/>
            <a:ext cx="10908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早期3D列印外殼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6732727" y="5639105"/>
            <a:ext cx="7671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（已棄用）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7940650" y="5143500"/>
            <a:ext cx="372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29"/>
          <p:cNvSpPr/>
          <p:nvPr/>
        </p:nvSpPr>
        <p:spPr>
          <a:xfrm>
            <a:off x="8389620" y="4743907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064E3B">
              <a:alpha val="5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579815" y="4934102"/>
            <a:ext cx="228600" cy="22860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84464" y="5447995"/>
            <a:ext cx="9290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CNC精準加工</a:t>
            </a:r>
            <a:endParaRPr lang="en-US" sz="1000" dirty="0"/>
          </a:p>
        </p:txBody>
      </p:sp>
      <p:sp>
        <p:nvSpPr>
          <p:cNvPr id="41" name="Text 31"/>
          <p:cNvSpPr txBox="1"/>
          <p:nvPr/>
        </p:nvSpPr>
        <p:spPr>
          <a:xfrm>
            <a:off x="8294522" y="5639105"/>
            <a:ext cx="9006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（現行方案）</a:t>
            </a:r>
            <a:endParaRPr lang="en-US" sz="1000" dirty="0"/>
          </a:p>
        </p:txBody>
      </p:sp>
      <p:sp>
        <p:nvSpPr>
          <p:cNvPr id="42" name="Text 32"/>
          <p:cNvSpPr txBox="1"/>
          <p:nvPr/>
        </p:nvSpPr>
        <p:spPr>
          <a:xfrm>
            <a:off x="11592763" y="5952744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0866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36019" r="-36019"/>
          <a:stretch/>
        </p:blipFill>
        <p:spPr>
          <a:xfrm>
            <a:off x="0" y="0"/>
            <a:ext cx="12191695" cy="7086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599846"/>
            <a:ext cx="33531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挑戰與對策（硬體）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11045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761695" y="1371600"/>
            <a:ext cx="5181905" cy="1943100"/>
          </a:xfrm>
          <a:prstGeom prst="roundRect">
            <a:avLst>
              <a:gd name="adj" fmla="val 1845"/>
            </a:avLst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990295" y="1600200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1114654" y="1752905"/>
            <a:ext cx="286207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76095" y="1619402"/>
            <a:ext cx="1095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平衡與舒適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2704795" y="161940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2762402" y="1666951"/>
            <a:ext cx="114300" cy="1335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76095" y="1962302"/>
            <a:ext cx="24103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挑戰：傳感器位置影響球拍平衡性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676095" y="2266798"/>
            <a:ext cx="2867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解決方案：設計靠近手腕位置的固定方式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676095" y="2572207"/>
            <a:ext cx="32671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提供多種選擇：磁吸/魔術貼/夾具三種固定方式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676095" y="2876702"/>
            <a:ext cx="31720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經過多輪測試，確保操控感受與原始球拍一致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48095" y="1371600"/>
            <a:ext cx="5181905" cy="1943100"/>
          </a:xfrm>
          <a:prstGeom prst="roundRect">
            <a:avLst>
              <a:gd name="adj" fmla="val 1845"/>
            </a:avLst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7" name="Shape 12"/>
          <p:cNvSpPr/>
          <p:nvPr/>
        </p:nvSpPr>
        <p:spPr>
          <a:xfrm>
            <a:off x="6476695" y="1600200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29400" y="1752905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62495" y="1619402"/>
            <a:ext cx="1095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位置敏感性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8191195" y="161940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8248802" y="1666951"/>
            <a:ext cx="114300" cy="1335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162495" y="1962302"/>
            <a:ext cx="27148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挑戰：傳感器位置偏移影響數據準確性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7162495" y="2266798"/>
            <a:ext cx="2867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解決方案：提供詳細的安裝指引與參考圖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7162495" y="2572207"/>
            <a:ext cx="27148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校準流程：首次使用啟動自動校準程序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7162495" y="2876702"/>
            <a:ext cx="31720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支援使用者手動微調參數以適應個人使用習慣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761695" y="3619195"/>
            <a:ext cx="5181905" cy="1943100"/>
          </a:xfrm>
          <a:prstGeom prst="roundRect">
            <a:avLst>
              <a:gd name="adj" fmla="val 1845"/>
            </a:avLst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7" name="Shape 20"/>
          <p:cNvSpPr/>
          <p:nvPr/>
        </p:nvSpPr>
        <p:spPr>
          <a:xfrm>
            <a:off x="990295" y="3847795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rcRect t="-44" b="-44"/>
          <a:stretch/>
        </p:blipFill>
        <p:spPr>
          <a:xfrm>
            <a:off x="1128370" y="4000500"/>
            <a:ext cx="256946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676095" y="3866998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類別覆蓋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2514600" y="386699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562149" y="3914546"/>
            <a:ext cx="133502" cy="13350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676095" y="4209898"/>
            <a:ext cx="25630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挑戰：動作種類繁多，難以全面覆蓋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1676095" y="4515307"/>
            <a:ext cx="2867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解決方案：逐步擴充資料集，分階段實現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1676095" y="4819802"/>
            <a:ext cx="31912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評估引入 TensorFlow Lite 輕量級 CNN 模型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1676095" y="5124298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優先支援基礎動作，再擴展至複雜技術動作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6248095" y="3619195"/>
            <a:ext cx="5181905" cy="1943100"/>
          </a:xfrm>
          <a:prstGeom prst="roundRect">
            <a:avLst>
              <a:gd name="adj" fmla="val 1845"/>
            </a:avLst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7" name="Shape 28"/>
          <p:cNvSpPr/>
          <p:nvPr/>
        </p:nvSpPr>
        <p:spPr>
          <a:xfrm>
            <a:off x="6476695" y="3847795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rcRect t="-44" b="-44"/>
          <a:stretch/>
        </p:blipFill>
        <p:spPr>
          <a:xfrm>
            <a:off x="6614770" y="4000500"/>
            <a:ext cx="256946" cy="2286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162495" y="3866998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續航問題</a:t>
            </a:r>
            <a:endParaRPr lang="en-US" sz="1500" dirty="0"/>
          </a:p>
        </p:txBody>
      </p:sp>
      <p:sp>
        <p:nvSpPr>
          <p:cNvPr id="40" name="Shape 30"/>
          <p:cNvSpPr/>
          <p:nvPr/>
        </p:nvSpPr>
        <p:spPr>
          <a:xfrm>
            <a:off x="8001000" y="386699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8058607" y="3914546"/>
            <a:ext cx="114300" cy="133502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7162495" y="4209898"/>
            <a:ext cx="22576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挑戰：高採樣率會加速電池耗損</a:t>
            </a:r>
            <a:endParaRPr lang="en-US" sz="1200" dirty="0"/>
          </a:p>
        </p:txBody>
      </p:sp>
      <p:sp>
        <p:nvSpPr>
          <p:cNvPr id="43" name="Text 32"/>
          <p:cNvSpPr txBox="1"/>
          <p:nvPr/>
        </p:nvSpPr>
        <p:spPr>
          <a:xfrm>
            <a:off x="7162495" y="4515307"/>
            <a:ext cx="2867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解決方案：行前充電提示與充電狀態顯示</a:t>
            </a:r>
            <a:endParaRPr lang="en-US" sz="1200" dirty="0"/>
          </a:p>
        </p:txBody>
      </p:sp>
      <p:sp>
        <p:nvSpPr>
          <p:cNvPr id="44" name="Text 33"/>
          <p:cNvSpPr txBox="1"/>
          <p:nvPr/>
        </p:nvSpPr>
        <p:spPr>
          <a:xfrm>
            <a:off x="7162495" y="4819802"/>
            <a:ext cx="2867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支援可升級電池容量，滿足不同用戶需求</a:t>
            </a:r>
            <a:endParaRPr lang="en-US" sz="1200" dirty="0"/>
          </a:p>
        </p:txBody>
      </p:sp>
      <p:sp>
        <p:nvSpPr>
          <p:cNvPr id="45" name="Text 34"/>
          <p:cNvSpPr txBox="1"/>
          <p:nvPr/>
        </p:nvSpPr>
        <p:spPr>
          <a:xfrm>
            <a:off x="7162495" y="5124298"/>
            <a:ext cx="27148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智能採樣：依據運動強度調整採樣頻率</a:t>
            </a:r>
            <a:endParaRPr lang="en-US" sz="1200" dirty="0"/>
          </a:p>
        </p:txBody>
      </p:sp>
      <p:sp>
        <p:nvSpPr>
          <p:cNvPr id="46" name="Shape 35"/>
          <p:cNvSpPr/>
          <p:nvPr/>
        </p:nvSpPr>
        <p:spPr>
          <a:xfrm>
            <a:off x="761695" y="5790895"/>
            <a:ext cx="10668305" cy="685800"/>
          </a:xfrm>
          <a:prstGeom prst="roundRect">
            <a:avLst>
              <a:gd name="adj" fmla="val 14815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7" name="Shape 36"/>
          <p:cNvSpPr/>
          <p:nvPr/>
        </p:nvSpPr>
        <p:spPr>
          <a:xfrm>
            <a:off x="914400" y="59436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3272" y="6038698"/>
            <a:ext cx="142646" cy="190195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1447495" y="6038698"/>
            <a:ext cx="8201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透過反覆測試與使用者回饋，我們不斷優化硬體設計，平衡準確度、便利性與續航能力，確保系統能應對各種使用場景。</a:t>
            </a:r>
            <a:endParaRPr lang="en-US" sz="1200" dirty="0"/>
          </a:p>
        </p:txBody>
      </p:sp>
      <p:sp>
        <p:nvSpPr>
          <p:cNvPr id="50" name="Text 38"/>
          <p:cNvSpPr txBox="1"/>
          <p:nvPr/>
        </p:nvSpPr>
        <p:spPr>
          <a:xfrm>
            <a:off x="11592763" y="662025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0866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36019" r="-36019"/>
          <a:stretch/>
        </p:blipFill>
        <p:spPr>
          <a:xfrm>
            <a:off x="0" y="0"/>
            <a:ext cx="12191695" cy="7086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599846"/>
            <a:ext cx="23244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硬體亮點總結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11045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761695" y="1447495"/>
            <a:ext cx="5181905" cy="1790395"/>
          </a:xfrm>
          <a:prstGeom prst="roundRect">
            <a:avLst>
              <a:gd name="adj" fmla="val 2173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3047695" y="167609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38805" y="1867205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066898" y="2457907"/>
            <a:ext cx="715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低侵入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12164" y="2800807"/>
            <a:ext cx="4200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精確 CNC 開孔，維持原始手感與重量平衡，不影響球拍性能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48095" y="1447495"/>
            <a:ext cx="5181905" cy="1790395"/>
          </a:xfrm>
          <a:prstGeom prst="roundRect">
            <a:avLst>
              <a:gd name="adj" fmla="val 2173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2" name="Shape 8"/>
          <p:cNvSpPr/>
          <p:nvPr/>
        </p:nvSpPr>
        <p:spPr>
          <a:xfrm>
            <a:off x="8534095" y="167609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-44" b="-44"/>
          <a:stretch/>
        </p:blipFill>
        <p:spPr>
          <a:xfrm>
            <a:off x="8710574" y="1867205"/>
            <a:ext cx="256946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553298" y="2457907"/>
            <a:ext cx="715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可量產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975043" y="2800807"/>
            <a:ext cx="3848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CNC 友善設計、加工路徑穩定，便於小批量生產與擴展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61695" y="3543300"/>
            <a:ext cx="5181905" cy="1790395"/>
          </a:xfrm>
          <a:prstGeom prst="roundRect">
            <a:avLst>
              <a:gd name="adj" fmla="val 2173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7" name="Shape 12"/>
          <p:cNvSpPr/>
          <p:nvPr/>
        </p:nvSpPr>
        <p:spPr>
          <a:xfrm>
            <a:off x="3047695" y="3771900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t="-44" b="-44"/>
          <a:stretch/>
        </p:blipFill>
        <p:spPr>
          <a:xfrm>
            <a:off x="3224174" y="3962095"/>
            <a:ext cx="256946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971800" y="4552798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通訊穩定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352398" y="4895698"/>
            <a:ext cx="41248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BLE 5.0 + 封包聚合技術，低功耗、抗干擾、高傳輸穩定性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248095" y="3543300"/>
            <a:ext cx="5181905" cy="1790395"/>
          </a:xfrm>
          <a:prstGeom prst="roundRect">
            <a:avLst>
              <a:gd name="adj" fmla="val 2173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2" name="Shape 16"/>
          <p:cNvSpPr/>
          <p:nvPr/>
        </p:nvSpPr>
        <p:spPr>
          <a:xfrm>
            <a:off x="8534095" y="3771900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725205" y="3962095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458200" y="4552798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升級空間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6782105" y="4895698"/>
            <a:ext cx="42391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可擴展至九軸感測器、無線充電、殼體優化，保留未來發展性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761695" y="5715000"/>
            <a:ext cx="10668305" cy="761695"/>
          </a:xfrm>
          <a:prstGeom prst="roundRect">
            <a:avLst>
              <a:gd name="adj" fmla="val 12005"/>
            </a:avLst>
          </a:prstGeom>
          <a:solidFill>
            <a:srgbClr val="1E40AF">
              <a:alpha val="2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7" name="Shape 20"/>
          <p:cNvSpPr/>
          <p:nvPr/>
        </p:nvSpPr>
        <p:spPr>
          <a:xfrm>
            <a:off x="952805" y="59051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 l="-1773" r="-1773"/>
          <a:stretch/>
        </p:blipFill>
        <p:spPr>
          <a:xfrm>
            <a:off x="1076249" y="6010351"/>
            <a:ext cx="133502" cy="17190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85900" y="6001207"/>
            <a:ext cx="69823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硬體設計追求「低侵入、高精度、可持續」三原則，確保使用體驗與長期價值，為後續升級預留彈性。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11592763" y="662025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61108" r="-61108"/>
          <a:stretch/>
        </p:blipFill>
        <p:spPr>
          <a:xfrm>
            <a:off x="0" y="0"/>
            <a:ext cx="12191695" cy="5486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592763" y="502005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61695" y="599846"/>
            <a:ext cx="33531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平台策略與語言選擇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61695" y="12188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761695" y="3276295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1E40AF">
              <a:alpha val="5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00607" y="3657600"/>
            <a:ext cx="3429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17797" y="609905"/>
            <a:ext cx="19202" cy="4267505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0" name="Shape 6"/>
          <p:cNvSpPr/>
          <p:nvPr/>
        </p:nvSpPr>
        <p:spPr>
          <a:xfrm>
            <a:off x="4718304" y="6099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4822546" y="724205"/>
            <a:ext cx="171907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1399" y="666598"/>
            <a:ext cx="857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主平台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251399" y="1123798"/>
            <a:ext cx="3896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Android Studio 原生開發（優化三星生態）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718304" y="16760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4813402" y="1790395"/>
            <a:ext cx="190195" cy="152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251399" y="1733702"/>
            <a:ext cx="629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語言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5251399" y="219090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Kotlin，評估 Jetpack Compose 精簡 UI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718304" y="27432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32604" y="2857500"/>
            <a:ext cx="15270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251399" y="2800807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備選方案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5251399" y="3258007"/>
            <a:ext cx="3610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MIT App Inventor — 用於快速功能驗證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4718304" y="38103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4822546" y="3924605"/>
            <a:ext cx="171907" cy="1527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251399" y="3866998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D34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開發優勢</a:t>
            </a:r>
            <a:endParaRPr lang="en-US" sz="1800" dirty="0"/>
          </a:p>
        </p:txBody>
      </p:sp>
      <p:sp>
        <p:nvSpPr>
          <p:cNvPr id="25" name="Text 17"/>
          <p:cNvSpPr txBox="1"/>
          <p:nvPr/>
        </p:nvSpPr>
        <p:spPr>
          <a:xfrm>
            <a:off x="5251399" y="4324198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原生性能、生態整合、安全性與穩定性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69650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29203" r="-29203"/>
          <a:stretch/>
        </p:blipFill>
        <p:spPr>
          <a:xfrm>
            <a:off x="0" y="0"/>
            <a:ext cx="12191695" cy="76965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295351"/>
            <a:ext cx="501091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混合計算工作流（邊緣+移動）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800100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2438705" y="2066544"/>
            <a:ext cx="1524305" cy="1524305"/>
          </a:xfrm>
          <a:prstGeom prst="roundRect">
            <a:avLst>
              <a:gd name="adj" fmla="val 59988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15107" y="2600554"/>
            <a:ext cx="571500" cy="4572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1118" r="-1118"/>
          <a:stretch/>
        </p:blipFill>
        <p:spPr>
          <a:xfrm>
            <a:off x="3090672" y="3895344"/>
            <a:ext cx="219456" cy="286207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468880" y="4257446"/>
            <a:ext cx="1466698" cy="381305"/>
          </a:xfrm>
          <a:prstGeom prst="roundRect">
            <a:avLst>
              <a:gd name="adj" fmla="val 35971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0" name="Text 5"/>
          <p:cNvSpPr txBox="1"/>
          <p:nvPr/>
        </p:nvSpPr>
        <p:spPr>
          <a:xfrm>
            <a:off x="2583180" y="4352544"/>
            <a:ext cx="1353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BLE 5.0 數據傳輸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2438705" y="4867351"/>
            <a:ext cx="1524305" cy="1524305"/>
          </a:xfrm>
          <a:prstGeom prst="roundRect">
            <a:avLst>
              <a:gd name="adj" fmla="val 59988"/>
            </a:avLst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29407" y="5400446"/>
            <a:ext cx="342900" cy="4572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096305" y="1371600"/>
            <a:ext cx="19202" cy="5715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4" name="Shape 8"/>
          <p:cNvSpPr/>
          <p:nvPr/>
        </p:nvSpPr>
        <p:spPr>
          <a:xfrm>
            <a:off x="6572707" y="1371600"/>
            <a:ext cx="4858207" cy="1943100"/>
          </a:xfrm>
          <a:prstGeom prst="roundRect">
            <a:avLst>
              <a:gd name="adj" fmla="val 1845"/>
            </a:avLst>
          </a:prstGeom>
          <a:solidFill>
            <a:srgbClr val="1E40AF">
              <a:alpha val="6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5" name="Shape 9"/>
          <p:cNvSpPr/>
          <p:nvPr/>
        </p:nvSpPr>
        <p:spPr>
          <a:xfrm>
            <a:off x="6572707" y="1371600"/>
            <a:ext cx="38405" cy="19431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6" name="Shape 10"/>
          <p:cNvSpPr/>
          <p:nvPr/>
        </p:nvSpPr>
        <p:spPr>
          <a:xfrm>
            <a:off x="6838798" y="16002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43954" y="1705356"/>
            <a:ext cx="171907" cy="17190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372807" y="1657807"/>
            <a:ext cx="2229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邊緣端（球拍模組）</a:t>
            </a:r>
            <a:endParaRPr lang="en-US" sz="18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rcRect t="-301" b="-301"/>
          <a:stretch/>
        </p:blipFill>
        <p:spPr>
          <a:xfrm>
            <a:off x="7372807" y="2190902"/>
            <a:ext cx="75895" cy="15270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524598" y="2162556"/>
            <a:ext cx="16724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高頻採集、時間同步</a:t>
            </a:r>
            <a:endParaRPr lang="en-US" sz="13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rcRect t="-301" b="-301"/>
          <a:stretch/>
        </p:blipFill>
        <p:spPr>
          <a:xfrm>
            <a:off x="7372807" y="2533802"/>
            <a:ext cx="75895" cy="15270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524598" y="2505456"/>
            <a:ext cx="16724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初步濾波、資料壓縮</a:t>
            </a:r>
            <a:endParaRPr lang="en-US" sz="13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rcRect t="-301" b="-301"/>
          <a:stretch/>
        </p:blipFill>
        <p:spPr>
          <a:xfrm>
            <a:off x="7372807" y="2876702"/>
            <a:ext cx="75895" cy="152705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7524598" y="2848356"/>
            <a:ext cx="16724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藍牙低功耗封包發送</a:t>
            </a:r>
            <a:endParaRPr lang="en-US" sz="1300" dirty="0"/>
          </a:p>
        </p:txBody>
      </p:sp>
      <p:sp>
        <p:nvSpPr>
          <p:cNvPr id="25" name="Shape 15"/>
          <p:cNvSpPr/>
          <p:nvPr/>
        </p:nvSpPr>
        <p:spPr>
          <a:xfrm>
            <a:off x="6572707" y="3619195"/>
            <a:ext cx="4858207" cy="1943100"/>
          </a:xfrm>
          <a:prstGeom prst="roundRect">
            <a:avLst>
              <a:gd name="adj" fmla="val 1845"/>
            </a:avLst>
          </a:prstGeom>
          <a:solidFill>
            <a:srgbClr val="7F1D1D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6" name="Shape 16"/>
          <p:cNvSpPr/>
          <p:nvPr/>
        </p:nvSpPr>
        <p:spPr>
          <a:xfrm>
            <a:off x="6572707" y="3619195"/>
            <a:ext cx="38405" cy="19431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7" name="Shape 17"/>
          <p:cNvSpPr/>
          <p:nvPr/>
        </p:nvSpPr>
        <p:spPr>
          <a:xfrm>
            <a:off x="6838798" y="38477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9"/>
          <a:srcRect l="-1773" r="-1773"/>
          <a:stretch/>
        </p:blipFill>
        <p:spPr>
          <a:xfrm>
            <a:off x="6963156" y="3952951"/>
            <a:ext cx="133502" cy="171907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7372807" y="3905402"/>
            <a:ext cx="2915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手機端（Android App）</a:t>
            </a:r>
            <a:endParaRPr lang="en-US" sz="18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0"/>
          <a:srcRect t="-301" b="-301"/>
          <a:stretch/>
        </p:blipFill>
        <p:spPr>
          <a:xfrm>
            <a:off x="7372807" y="4438498"/>
            <a:ext cx="75895" cy="152705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7524598" y="4410151"/>
            <a:ext cx="23765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特徵抽取（8→12 參數可擴）</a:t>
            </a:r>
            <a:endParaRPr lang="en-US" sz="13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0"/>
          <a:srcRect t="-301" b="-301"/>
          <a:stretch/>
        </p:blipFill>
        <p:spPr>
          <a:xfrm>
            <a:off x="7372807" y="4781398"/>
            <a:ext cx="75895" cy="152705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7524598" y="4753051"/>
            <a:ext cx="1843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決策樹推論、品質評分</a:t>
            </a:r>
            <a:endParaRPr lang="en-US" sz="130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0"/>
          <a:srcRect t="-301" b="-301"/>
          <a:stretch/>
        </p:blipFill>
        <p:spPr>
          <a:xfrm>
            <a:off x="7372807" y="5124298"/>
            <a:ext cx="75895" cy="152705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7524598" y="5095951"/>
            <a:ext cx="1843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視覺化與訓練日誌記錄</a:t>
            </a:r>
            <a:endParaRPr lang="en-US" sz="1300" dirty="0"/>
          </a:p>
        </p:txBody>
      </p:sp>
      <p:sp>
        <p:nvSpPr>
          <p:cNvPr id="36" name="Shape 22"/>
          <p:cNvSpPr/>
          <p:nvPr/>
        </p:nvSpPr>
        <p:spPr>
          <a:xfrm>
            <a:off x="6572707" y="5867705"/>
            <a:ext cx="4858207" cy="1218895"/>
          </a:xfrm>
          <a:prstGeom prst="roundRect">
            <a:avLst>
              <a:gd name="adj" fmla="val 4689"/>
            </a:avLst>
          </a:prstGeom>
          <a:solidFill>
            <a:srgbClr val="064E3B">
              <a:alpha val="3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7" name="Shape 23"/>
          <p:cNvSpPr/>
          <p:nvPr/>
        </p:nvSpPr>
        <p:spPr>
          <a:xfrm>
            <a:off x="6724498" y="60194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1"/>
          <a:srcRect l="-760" r="-760"/>
          <a:stretch/>
        </p:blipFill>
        <p:spPr>
          <a:xfrm>
            <a:off x="6838798" y="6124651"/>
            <a:ext cx="152705" cy="171907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7258507" y="6096305"/>
            <a:ext cx="523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優勢</a:t>
            </a:r>
            <a:endParaRPr lang="en-US" sz="1500" dirty="0"/>
          </a:p>
        </p:txBody>
      </p:sp>
      <p:sp>
        <p:nvSpPr>
          <p:cNvPr id="40" name="Text 25"/>
          <p:cNvSpPr txBox="1"/>
          <p:nvPr/>
        </p:nvSpPr>
        <p:spPr>
          <a:xfrm>
            <a:off x="7258507" y="6429146"/>
            <a:ext cx="407273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模型升級無需重刷韌體、降低端側記憶體壓力、延長續航</a:t>
            </a:r>
            <a:endParaRPr lang="en-US" sz="1300" dirty="0"/>
          </a:p>
        </p:txBody>
      </p:sp>
      <p:sp>
        <p:nvSpPr>
          <p:cNvPr id="41" name="Text 26"/>
          <p:cNvSpPr txBox="1"/>
          <p:nvPr/>
        </p:nvSpPr>
        <p:spPr>
          <a:xfrm>
            <a:off x="11592763" y="722924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61108" r="-61108"/>
          <a:stretch/>
        </p:blipFill>
        <p:spPr>
          <a:xfrm>
            <a:off x="0" y="0"/>
            <a:ext cx="12191695" cy="5486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592763" y="502005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21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61695" y="599846"/>
            <a:ext cx="34198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BLE 5.0通信協議摘要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61695" y="1600200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761695" y="3276295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1E40AF">
              <a:alpha val="5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16667" b="-16667"/>
          <a:stretch/>
        </p:blipFill>
        <p:spPr>
          <a:xfrm>
            <a:off x="1200607" y="3657600"/>
            <a:ext cx="3429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17797" y="609905"/>
            <a:ext cx="19202" cy="4267505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0" name="Shape 6"/>
          <p:cNvSpPr/>
          <p:nvPr/>
        </p:nvSpPr>
        <p:spPr>
          <a:xfrm>
            <a:off x="4718304" y="6099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32604" y="724205"/>
            <a:ext cx="152705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1399" y="666598"/>
            <a:ext cx="12957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GATT服務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251399" y="1123798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低延遲穩定包流，支援多客戶端連接。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5251399" y="1390802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特性通知與指示功能，減少輪詢需求。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718304" y="19431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4841748" y="2057400"/>
            <a:ext cx="133502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251399" y="2000707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4B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資料打包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5251399" y="2457907"/>
            <a:ext cx="4696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TLV（Type-Length-Value）格式，支援批量與壓縮。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251399" y="2723998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有效利用有限MTU，優化傳輸效率。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718304" y="32762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32604" y="3390595"/>
            <a:ext cx="152705" cy="15270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251399" y="3333902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備援策略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5251399" y="3791102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抗丟包重傳機制，確保資料完整性。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5251399" y="4058107"/>
            <a:ext cx="3572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延遲控制於即時交互級，保證用戶體驗。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5251399" y="4324198"/>
            <a:ext cx="2809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斷線自動重連，無需人工介入。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7659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57386" r="-57386"/>
          <a:stretch/>
        </p:blipFill>
        <p:spPr>
          <a:xfrm>
            <a:off x="0" y="0"/>
            <a:ext cx="12191695" cy="56765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599846"/>
            <a:ext cx="30102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機器學習模型部署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11045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761695" y="1447495"/>
            <a:ext cx="3409798" cy="2476195"/>
          </a:xfrm>
          <a:prstGeom prst="roundRect">
            <a:avLst>
              <a:gd name="adj" fmla="val 1136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2158898" y="167609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2378354" y="1867205"/>
            <a:ext cx="171907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083003" y="2457907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部署方式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687982" y="2800807"/>
            <a:ext cx="16669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Android 端決策樹模型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2063801" y="3029407"/>
            <a:ext cx="9244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僅約 50 KB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006194" y="3258007"/>
            <a:ext cx="10387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完全離線可用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94606" y="1447495"/>
            <a:ext cx="3409798" cy="2476195"/>
          </a:xfrm>
          <a:prstGeom prst="roundRect">
            <a:avLst>
              <a:gd name="adj" fmla="val 1136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4" name="Shape 10"/>
          <p:cNvSpPr/>
          <p:nvPr/>
        </p:nvSpPr>
        <p:spPr>
          <a:xfrm>
            <a:off x="5790895" y="167609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82005" y="1867205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715000" y="2457907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特徵工程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333695" y="2800807"/>
            <a:ext cx="16486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峰值角速度、線加速度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0" y="3029407"/>
            <a:ext cx="1343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動作時長、一致性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257800" y="3258007"/>
            <a:ext cx="1800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穩定度、變化率、重複性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0" y="3486607"/>
            <a:ext cx="8860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能量指標等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026603" y="1447495"/>
            <a:ext cx="3409798" cy="2476195"/>
          </a:xfrm>
          <a:prstGeom prst="roundRect">
            <a:avLst>
              <a:gd name="adj" fmla="val 1136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2" name="Shape 17"/>
          <p:cNvSpPr/>
          <p:nvPr/>
        </p:nvSpPr>
        <p:spPr>
          <a:xfrm>
            <a:off x="9423806" y="167609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614002" y="1867205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46997" y="2457907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模型表現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9001354" y="2800807"/>
            <a:ext cx="15718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初始分類精度約 65%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9194292" y="3029407"/>
            <a:ext cx="1191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經個人化校準後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077249" y="3258007"/>
            <a:ext cx="14200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可望提升至約 85%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761695" y="4304995"/>
            <a:ext cx="10668305" cy="761695"/>
          </a:xfrm>
          <a:prstGeom prst="roundRect">
            <a:avLst>
              <a:gd name="adj" fmla="val 12005"/>
            </a:avLst>
          </a:prstGeom>
          <a:solidFill>
            <a:srgbClr val="1E40AF">
              <a:alpha val="2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9" name="Shape 23"/>
          <p:cNvSpPr/>
          <p:nvPr/>
        </p:nvSpPr>
        <p:spPr>
          <a:xfrm>
            <a:off x="952805" y="44961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 l="-1773" r="-1773"/>
          <a:stretch/>
        </p:blipFill>
        <p:spPr>
          <a:xfrm>
            <a:off x="1076249" y="4600346"/>
            <a:ext cx="133502" cy="17190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485900" y="4591202"/>
            <a:ext cx="7439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以實用性為優先，模型以離線即時響應為主，便於快速迭代更新。透過個人化調整，可顯著提升使用者體驗。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1592763" y="5210251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61108" r="-61108"/>
          <a:stretch/>
        </p:blipFill>
        <p:spPr>
          <a:xfrm>
            <a:off x="0" y="0"/>
            <a:ext cx="12191695" cy="5486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592763" y="502005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23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61695" y="599846"/>
            <a:ext cx="34198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App功能：使用者視角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61695" y="1600200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761695" y="3276295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1E40AF">
              <a:alpha val="5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00607" y="3657600"/>
            <a:ext cx="3429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17797" y="609905"/>
            <a:ext cx="19202" cy="4267505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0" name="Shape 6"/>
          <p:cNvSpPr/>
          <p:nvPr/>
        </p:nvSpPr>
        <p:spPr>
          <a:xfrm>
            <a:off x="4718304" y="6099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32604" y="724205"/>
            <a:ext cx="152705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1399" y="666598"/>
            <a:ext cx="1772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即時數據可視化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251399" y="1123798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分數、動作分類、趨勢圖表實時呈現。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718304" y="16760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4841748" y="1790395"/>
            <a:ext cx="133502" cy="152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251399" y="1733702"/>
            <a:ext cx="15435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快速回饋提示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5251399" y="2190902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動作完成後立即評分，及時修正姿勢。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718304" y="27432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4841748" y="2857500"/>
            <a:ext cx="133502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251399" y="2800807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D34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訓練日誌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5251399" y="3258007"/>
            <a:ext cx="3572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每日擊球量、平均分數、類別分布統計。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4718304" y="38103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4822546" y="3924605"/>
            <a:ext cx="171907" cy="1527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251399" y="3866998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進度追蹤</a:t>
            </a:r>
            <a:endParaRPr lang="en-US" sz="1800" dirty="0"/>
          </a:p>
        </p:txBody>
      </p:sp>
      <p:sp>
        <p:nvSpPr>
          <p:cNvPr id="25" name="Text 17"/>
          <p:cNvSpPr txBox="1"/>
          <p:nvPr/>
        </p:nvSpPr>
        <p:spPr>
          <a:xfrm>
            <a:off x="5251399" y="4324198"/>
            <a:ext cx="2876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週/月趨勢圖與成就里程碑提醒。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276148" y="-47168"/>
            <a:ext cx="43818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特徵工程到結果（流程圖）</a:t>
            </a:r>
            <a:endParaRPr lang="en-US" sz="2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26764" y="4686452"/>
            <a:ext cx="228600" cy="228600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1209751" y="4924196"/>
            <a:ext cx="2000707" cy="19202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4" name="Shape 32"/>
          <p:cNvSpPr/>
          <p:nvPr/>
        </p:nvSpPr>
        <p:spPr>
          <a:xfrm>
            <a:off x="8761934" y="5224118"/>
            <a:ext cx="466344" cy="1920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5" name="Text 33"/>
          <p:cNvSpPr txBox="1"/>
          <p:nvPr/>
        </p:nvSpPr>
        <p:spPr>
          <a:xfrm>
            <a:off x="10820095" y="1324051"/>
            <a:ext cx="581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持久化</a:t>
            </a:r>
            <a:endParaRPr lang="en-US" sz="1200" dirty="0"/>
          </a:p>
        </p:txBody>
      </p:sp>
      <p:sp>
        <p:nvSpPr>
          <p:cNvPr id="46" name="Shape 34"/>
          <p:cNvSpPr/>
          <p:nvPr/>
        </p:nvSpPr>
        <p:spPr>
          <a:xfrm>
            <a:off x="1285646" y="3429152"/>
            <a:ext cx="3172054" cy="1466698"/>
          </a:xfrm>
          <a:prstGeom prst="roundRect">
            <a:avLst>
              <a:gd name="adj" fmla="val 3239"/>
            </a:avLst>
          </a:prstGeom>
          <a:solidFill>
            <a:srgbClr val="1E3A8A">
              <a:alpha val="50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7" name="Text 35"/>
          <p:cNvSpPr txBox="1"/>
          <p:nvPr/>
        </p:nvSpPr>
        <p:spPr>
          <a:xfrm>
            <a:off x="1418691" y="3610204"/>
            <a:ext cx="1191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關鍵特徵參數：</a:t>
            </a:r>
            <a:endParaRPr lang="en-US" sz="120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1447495" y="3924757"/>
            <a:ext cx="95098" cy="152705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1580997" y="3914699"/>
            <a:ext cx="8860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峰值角速度</a:t>
            </a:r>
            <a:endParaRPr lang="en-US" sz="1200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2419502" y="3924757"/>
            <a:ext cx="95098" cy="152705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2524201" y="3914699"/>
            <a:ext cx="734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線加速度</a:t>
            </a:r>
            <a:endParaRPr lang="en-US" sz="1200" dirty="0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3391509" y="3924757"/>
            <a:ext cx="95098" cy="152705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3496208" y="3914699"/>
            <a:ext cx="734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動作時長</a:t>
            </a:r>
            <a:endParaRPr lang="en-US" sz="1200" dirty="0"/>
          </a:p>
        </p:txBody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1418691" y="4229252"/>
            <a:ext cx="95098" cy="152705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1552193" y="4219194"/>
            <a:ext cx="581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一致性</a:t>
            </a:r>
            <a:endParaRPr lang="en-US" sz="1200" dirty="0"/>
          </a:p>
        </p:txBody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2390698" y="4229252"/>
            <a:ext cx="95098" cy="152705"/>
          </a:xfrm>
          <a:prstGeom prst="rect">
            <a:avLst/>
          </a:prstGeom>
        </p:spPr>
      </p:pic>
      <p:sp>
        <p:nvSpPr>
          <p:cNvPr id="57" name="Text 40"/>
          <p:cNvSpPr txBox="1"/>
          <p:nvPr/>
        </p:nvSpPr>
        <p:spPr>
          <a:xfrm>
            <a:off x="2524201" y="4219194"/>
            <a:ext cx="581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穩定度</a:t>
            </a:r>
            <a:endParaRPr lang="en-US" sz="1200" dirty="0"/>
          </a:p>
        </p:txBody>
      </p:sp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3391509" y="4229252"/>
            <a:ext cx="95098" cy="152705"/>
          </a:xfrm>
          <a:prstGeom prst="rect">
            <a:avLst/>
          </a:prstGeom>
        </p:spPr>
      </p:pic>
      <p:sp>
        <p:nvSpPr>
          <p:cNvPr id="59" name="Text 41"/>
          <p:cNvSpPr txBox="1"/>
          <p:nvPr/>
        </p:nvSpPr>
        <p:spPr>
          <a:xfrm>
            <a:off x="3525012" y="4219194"/>
            <a:ext cx="581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變化率</a:t>
            </a:r>
            <a:endParaRPr lang="en-US" sz="1200" dirty="0"/>
          </a:p>
        </p:txBody>
      </p:sp>
      <p:pic>
        <p:nvPicPr>
          <p:cNvPr id="60" name="Image 16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1418691" y="4533748"/>
            <a:ext cx="95098" cy="152705"/>
          </a:xfrm>
          <a:prstGeom prst="rect">
            <a:avLst/>
          </a:prstGeom>
        </p:spPr>
      </p:pic>
      <p:sp>
        <p:nvSpPr>
          <p:cNvPr id="61" name="Text 42"/>
          <p:cNvSpPr txBox="1"/>
          <p:nvPr/>
        </p:nvSpPr>
        <p:spPr>
          <a:xfrm>
            <a:off x="1552193" y="4524604"/>
            <a:ext cx="581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重複性</a:t>
            </a:r>
            <a:endParaRPr lang="en-US" sz="1200" dirty="0"/>
          </a:p>
        </p:txBody>
      </p:sp>
      <p:pic>
        <p:nvPicPr>
          <p:cNvPr id="62" name="Image 17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2390698" y="4533748"/>
            <a:ext cx="95098" cy="152705"/>
          </a:xfrm>
          <a:prstGeom prst="rect">
            <a:avLst/>
          </a:prstGeom>
        </p:spPr>
      </p:pic>
      <p:sp>
        <p:nvSpPr>
          <p:cNvPr id="63" name="Text 43"/>
          <p:cNvSpPr txBox="1"/>
          <p:nvPr/>
        </p:nvSpPr>
        <p:spPr>
          <a:xfrm>
            <a:off x="2524201" y="4524604"/>
            <a:ext cx="734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能量分布</a:t>
            </a:r>
            <a:endParaRPr lang="en-US" sz="1200" dirty="0"/>
          </a:p>
        </p:txBody>
      </p:sp>
      <p:sp>
        <p:nvSpPr>
          <p:cNvPr id="64" name="Shape 44"/>
          <p:cNvSpPr/>
          <p:nvPr/>
        </p:nvSpPr>
        <p:spPr>
          <a:xfrm>
            <a:off x="6857240" y="3838803"/>
            <a:ext cx="2238451" cy="1314907"/>
          </a:xfrm>
          <a:prstGeom prst="roundRect">
            <a:avLst>
              <a:gd name="adj" fmla="val 4031"/>
            </a:avLst>
          </a:prstGeom>
          <a:solidFill>
            <a:srgbClr val="7F1D1D">
              <a:alpha val="5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5" name="Text 45"/>
          <p:cNvSpPr txBox="1"/>
          <p:nvPr/>
        </p:nvSpPr>
        <p:spPr>
          <a:xfrm>
            <a:off x="7066637" y="4061916"/>
            <a:ext cx="8860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模型表現：</a:t>
            </a:r>
            <a:endParaRPr lang="en-US" sz="1200" dirty="0"/>
          </a:p>
        </p:txBody>
      </p:sp>
      <p:pic>
        <p:nvPicPr>
          <p:cNvPr id="66" name="Image 1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66637" y="4376470"/>
            <a:ext cx="152705" cy="152705"/>
          </a:xfrm>
          <a:prstGeom prst="rect">
            <a:avLst/>
          </a:prstGeom>
        </p:spPr>
      </p:pic>
      <p:sp>
        <p:nvSpPr>
          <p:cNvPr id="67" name="Text 46"/>
          <p:cNvSpPr txBox="1"/>
          <p:nvPr/>
        </p:nvSpPr>
        <p:spPr>
          <a:xfrm>
            <a:off x="7257746" y="4367326"/>
            <a:ext cx="1371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ECAC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初始約65%準確率</a:t>
            </a:r>
            <a:endParaRPr lang="en-US" sz="1200" dirty="0"/>
          </a:p>
        </p:txBody>
      </p:sp>
      <p:pic>
        <p:nvPicPr>
          <p:cNvPr id="68" name="Image 19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7066637" y="4605070"/>
            <a:ext cx="190195" cy="152705"/>
          </a:xfrm>
          <a:prstGeom prst="rect">
            <a:avLst/>
          </a:prstGeom>
        </p:spPr>
      </p:pic>
      <p:sp>
        <p:nvSpPr>
          <p:cNvPr id="69" name="Text 47"/>
          <p:cNvSpPr txBox="1"/>
          <p:nvPr/>
        </p:nvSpPr>
        <p:spPr>
          <a:xfrm>
            <a:off x="7295237" y="4595926"/>
            <a:ext cx="1800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ECAC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個人化校準後可達~85%</a:t>
            </a:r>
            <a:endParaRPr lang="en-US" sz="1200" dirty="0"/>
          </a:p>
        </p:txBody>
      </p:sp>
      <p:pic>
        <p:nvPicPr>
          <p:cNvPr id="70" name="Image 2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66637" y="4833670"/>
            <a:ext cx="152705" cy="152705"/>
          </a:xfrm>
          <a:prstGeom prst="rect">
            <a:avLst/>
          </a:prstGeom>
        </p:spPr>
      </p:pic>
      <p:sp>
        <p:nvSpPr>
          <p:cNvPr id="71" name="Text 48"/>
          <p:cNvSpPr txBox="1"/>
          <p:nvPr/>
        </p:nvSpPr>
        <p:spPr>
          <a:xfrm>
            <a:off x="7257746" y="4824526"/>
            <a:ext cx="16486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ECAC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重點在實用性與即時性</a:t>
            </a:r>
            <a:endParaRPr lang="en-US" sz="1200" dirty="0"/>
          </a:p>
        </p:txBody>
      </p:sp>
      <p:sp>
        <p:nvSpPr>
          <p:cNvPr id="77" name="Text 53"/>
          <p:cNvSpPr txBox="1"/>
          <p:nvPr/>
        </p:nvSpPr>
        <p:spPr>
          <a:xfrm>
            <a:off x="11592763" y="277154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007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58841" r="-58841"/>
          <a:stretch/>
        </p:blipFill>
        <p:spPr>
          <a:xfrm>
            <a:off x="0" y="0"/>
            <a:ext cx="12191695" cy="56007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11213" r="-11213"/>
          <a:stretch/>
        </p:blipFill>
        <p:spPr>
          <a:xfrm>
            <a:off x="0" y="2800807"/>
            <a:ext cx="12191695" cy="280080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810305" y="-38405"/>
            <a:ext cx="492495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靈感來自『高光一刻』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5639105" y="609905"/>
            <a:ext cx="914400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Text 3"/>
          <p:cNvSpPr txBox="1"/>
          <p:nvPr/>
        </p:nvSpPr>
        <p:spPr>
          <a:xfrm>
            <a:off x="1865376" y="1257300"/>
            <a:ext cx="86822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受 NVIDIA Instant Replay 啟發，將循環錄影與邊緣檢測結合，隨時鎖定「那一拍」</a:t>
            </a:r>
            <a:endParaRPr lang="en-US" sz="2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1828800" y="2381098"/>
            <a:ext cx="114300" cy="15270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057400" y="2343607"/>
            <a:ext cx="5477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啟發：循環緩衝區技術，讓我們無需全程錄製也能捕捉關鍵瞬間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828800" y="2800807"/>
            <a:ext cx="152705" cy="15270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2095805" y="2762402"/>
            <a:ext cx="4715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目標：把最精彩、最具學習價值的那一拍自動保留下來</a:t>
            </a:r>
            <a:endParaRPr lang="en-US" sz="15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1828800" y="3219602"/>
            <a:ext cx="190195" cy="15270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2133295" y="3181198"/>
            <a:ext cx="5095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設計：以動作數據作為觸發條件，自動標記與保存影像片段</a:t>
            </a:r>
            <a:endParaRPr lang="en-US" sz="1500" dirty="0"/>
          </a:p>
        </p:txBody>
      </p:sp>
      <p:sp>
        <p:nvSpPr>
          <p:cNvPr id="14" name="Shape 7"/>
          <p:cNvSpPr/>
          <p:nvPr/>
        </p:nvSpPr>
        <p:spPr>
          <a:xfrm>
            <a:off x="2971800" y="4419295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3191256" y="4657954"/>
            <a:ext cx="323698" cy="286207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924605" y="4686300"/>
            <a:ext cx="228600" cy="228600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4343400" y="4419295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581144" y="4657954"/>
            <a:ext cx="286207" cy="286207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296205" y="4686300"/>
            <a:ext cx="228600" cy="228600"/>
          </a:xfrm>
          <a:prstGeom prst="rect">
            <a:avLst/>
          </a:prstGeom>
        </p:spPr>
      </p:pic>
      <p:sp>
        <p:nvSpPr>
          <p:cNvPr id="20" name="Shape 9"/>
          <p:cNvSpPr/>
          <p:nvPr/>
        </p:nvSpPr>
        <p:spPr>
          <a:xfrm>
            <a:off x="5715000" y="4419295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952744" y="4657954"/>
            <a:ext cx="286207" cy="286207"/>
          </a:xfrm>
          <a:prstGeom prst="rect">
            <a:avLst/>
          </a:prstGeom>
        </p:spPr>
      </p:pic>
      <p:sp>
        <p:nvSpPr>
          <p:cNvPr id="22" name="Shape 10"/>
          <p:cNvSpPr/>
          <p:nvPr/>
        </p:nvSpPr>
        <p:spPr>
          <a:xfrm>
            <a:off x="6286500" y="438180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6348679" y="4438498"/>
            <a:ext cx="105156" cy="114300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667805" y="4686300"/>
            <a:ext cx="228600" cy="228600"/>
          </a:xfrm>
          <a:prstGeom prst="rect">
            <a:avLst/>
          </a:prstGeom>
        </p:spPr>
      </p:pic>
      <p:sp>
        <p:nvSpPr>
          <p:cNvPr id="25" name="Shape 11"/>
          <p:cNvSpPr/>
          <p:nvPr/>
        </p:nvSpPr>
        <p:spPr>
          <a:xfrm>
            <a:off x="7086600" y="4419295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3"/>
          <a:srcRect t="-530" b="-530"/>
          <a:stretch/>
        </p:blipFill>
        <p:spPr>
          <a:xfrm>
            <a:off x="7343546" y="4657954"/>
            <a:ext cx="247802" cy="286207"/>
          </a:xfrm>
          <a:prstGeom prst="rect">
            <a:avLst/>
          </a:prstGeom>
        </p:spPr>
      </p:pic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39405" y="4686300"/>
            <a:ext cx="228600" cy="228600"/>
          </a:xfrm>
          <a:prstGeom prst="rect">
            <a:avLst/>
          </a:prstGeom>
        </p:spPr>
      </p:pic>
      <p:sp>
        <p:nvSpPr>
          <p:cNvPr id="28" name="Shape 12"/>
          <p:cNvSpPr/>
          <p:nvPr/>
        </p:nvSpPr>
        <p:spPr>
          <a:xfrm>
            <a:off x="8458200" y="4419295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9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95944" y="4657954"/>
            <a:ext cx="286207" cy="286207"/>
          </a:xfrm>
          <a:prstGeom prst="rect">
            <a:avLst/>
          </a:prstGeom>
        </p:spPr>
      </p:pic>
      <p:sp>
        <p:nvSpPr>
          <p:cNvPr id="30" name="Text 13"/>
          <p:cNvSpPr txBox="1"/>
          <p:nvPr/>
        </p:nvSpPr>
        <p:spPr>
          <a:xfrm>
            <a:off x="3831336" y="5362956"/>
            <a:ext cx="46625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循環緩衝區 → 動作檢測 → 觸發保存 → 數據與影像配對分析</a:t>
            </a:r>
            <a:endParaRPr lang="en-US" sz="1300" dirty="0"/>
          </a:p>
        </p:txBody>
      </p:sp>
      <p:sp>
        <p:nvSpPr>
          <p:cNvPr id="31" name="Text 14"/>
          <p:cNvSpPr txBox="1"/>
          <p:nvPr/>
        </p:nvSpPr>
        <p:spPr>
          <a:xfrm>
            <a:off x="11592763" y="513435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7720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38638" r="-38638"/>
          <a:stretch/>
        </p:blipFill>
        <p:spPr>
          <a:xfrm>
            <a:off x="0" y="0"/>
            <a:ext cx="12191695" cy="68772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295351"/>
            <a:ext cx="501091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技術方案：循環錄製+觸發保存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800100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1676095" y="1705356"/>
            <a:ext cx="3047695" cy="3047695"/>
          </a:xfrm>
          <a:prstGeom prst="roundRect">
            <a:avLst>
              <a:gd name="adj" fmla="val 30003"/>
            </a:avLst>
          </a:prstGeom>
          <a:noFill/>
          <a:ln w="1016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1752905" y="1781251"/>
            <a:ext cx="2895905" cy="2895905"/>
          </a:xfrm>
          <a:prstGeom prst="roundRect">
            <a:avLst>
              <a:gd name="adj" fmla="val 31576"/>
            </a:avLst>
          </a:prstGeom>
          <a:noFill/>
          <a:ln w="508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8" name="Shape 5"/>
          <p:cNvSpPr/>
          <p:nvPr/>
        </p:nvSpPr>
        <p:spPr>
          <a:xfrm>
            <a:off x="2743200" y="2771546"/>
            <a:ext cx="914400" cy="914400"/>
          </a:xfrm>
          <a:prstGeom prst="roundRect">
            <a:avLst>
              <a:gd name="adj" fmla="val 100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607" r="-607"/>
          <a:stretch/>
        </p:blipFill>
        <p:spPr>
          <a:xfrm>
            <a:off x="3004718" y="3057754"/>
            <a:ext cx="390449" cy="3429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733495" y="3991356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DC2626">
              <a:alpha val="94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alphaModFix amt="94000"/>
          </a:blip>
          <a:srcRect/>
          <a:stretch/>
        </p:blipFill>
        <p:spPr>
          <a:xfrm>
            <a:off x="3962095" y="4219956"/>
            <a:ext cx="152705" cy="15270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76095" y="1705356"/>
            <a:ext cx="3047695" cy="304769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677924" y="4981651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1897380" y="5171846"/>
            <a:ext cx="171907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640434" y="5695798"/>
            <a:ext cx="814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拍柄按鍵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4116629" y="4981651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4336085" y="5171846"/>
            <a:ext cx="171907" cy="2286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4082796" y="5695798"/>
            <a:ext cx="814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App遠端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6096305" y="1371600"/>
            <a:ext cx="19202" cy="489569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0" name="Shape 12"/>
          <p:cNvSpPr/>
          <p:nvPr/>
        </p:nvSpPr>
        <p:spPr>
          <a:xfrm>
            <a:off x="6572707" y="13716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687007" y="1485900"/>
            <a:ext cx="228600" cy="2286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144207" y="1466698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循環錄影</a:t>
            </a:r>
            <a:endParaRPr lang="en-US" sz="1800" dirty="0"/>
          </a:p>
        </p:txBody>
      </p:sp>
      <p:sp>
        <p:nvSpPr>
          <p:cNvPr id="23" name="Text 14"/>
          <p:cNvSpPr txBox="1"/>
          <p:nvPr/>
        </p:nvSpPr>
        <p:spPr>
          <a:xfrm>
            <a:off x="7181698" y="1971446"/>
            <a:ext cx="31583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720p/30fps，維持最近數分鐘的緩衝區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7181698" y="2238451"/>
            <a:ext cx="28721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避免佔用過多存儲空間，僅保留精華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6572707" y="278160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rcRect l="-57" r="-57"/>
          <a:stretch/>
        </p:blipFill>
        <p:spPr>
          <a:xfrm>
            <a:off x="6700723" y="2895905"/>
            <a:ext cx="200254" cy="2286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144207" y="2876702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觸發方式</a:t>
            </a:r>
            <a:endParaRPr lang="en-US" sz="1800" dirty="0"/>
          </a:p>
        </p:txBody>
      </p:sp>
      <p:sp>
        <p:nvSpPr>
          <p:cNvPr id="28" name="Text 18"/>
          <p:cNvSpPr txBox="1"/>
          <p:nvPr/>
        </p:nvSpPr>
        <p:spPr>
          <a:xfrm>
            <a:off x="7181698" y="3381451"/>
            <a:ext cx="30440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拍柄物理按鍵：方便隨時標記高光時刻</a:t>
            </a:r>
            <a:endParaRPr lang="en-US" sz="1300" dirty="0"/>
          </a:p>
        </p:txBody>
      </p:sp>
      <p:sp>
        <p:nvSpPr>
          <p:cNvPr id="29" name="Text 19"/>
          <p:cNvSpPr txBox="1"/>
          <p:nvPr/>
        </p:nvSpPr>
        <p:spPr>
          <a:xfrm>
            <a:off x="7181698" y="3648456"/>
            <a:ext cx="28721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App遠端：教練或旁觀者可協助保存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572707" y="419069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6700723" y="4304995"/>
            <a:ext cx="200254" cy="22860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7144207" y="4286707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保存流程</a:t>
            </a:r>
            <a:endParaRPr lang="en-US" sz="1800" dirty="0"/>
          </a:p>
        </p:txBody>
      </p:sp>
      <p:sp>
        <p:nvSpPr>
          <p:cNvPr id="33" name="Text 22"/>
          <p:cNvSpPr txBox="1"/>
          <p:nvPr/>
        </p:nvSpPr>
        <p:spPr>
          <a:xfrm>
            <a:off x="7181698" y="4791456"/>
            <a:ext cx="20153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觸發後自動擷取緩衝片段</a:t>
            </a:r>
            <a:endParaRPr lang="en-US" sz="1300" dirty="0"/>
          </a:p>
        </p:txBody>
      </p:sp>
      <p:sp>
        <p:nvSpPr>
          <p:cNvPr id="34" name="Text 23"/>
          <p:cNvSpPr txBox="1"/>
          <p:nvPr/>
        </p:nvSpPr>
        <p:spPr>
          <a:xfrm>
            <a:off x="7181698" y="5057546"/>
            <a:ext cx="23582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與動作數據事件對齊精確同步</a:t>
            </a:r>
            <a:endParaRPr lang="en-US" sz="1300" dirty="0"/>
          </a:p>
        </p:txBody>
      </p:sp>
      <p:sp>
        <p:nvSpPr>
          <p:cNvPr id="35" name="Text 24"/>
          <p:cNvSpPr txBox="1"/>
          <p:nvPr/>
        </p:nvSpPr>
        <p:spPr>
          <a:xfrm>
            <a:off x="7181698" y="5324551"/>
            <a:ext cx="23582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快速寫入，不影響下一次練習</a:t>
            </a:r>
            <a:endParaRPr lang="en-US" sz="1300" dirty="0"/>
          </a:p>
        </p:txBody>
      </p:sp>
      <p:sp>
        <p:nvSpPr>
          <p:cNvPr id="36" name="Shape 25"/>
          <p:cNvSpPr/>
          <p:nvPr/>
        </p:nvSpPr>
        <p:spPr>
          <a:xfrm>
            <a:off x="6572707" y="5867705"/>
            <a:ext cx="4858207" cy="1920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2"/>
          <a:srcRect t="-100" b="-100"/>
          <a:stretch/>
        </p:blipFill>
        <p:spPr>
          <a:xfrm>
            <a:off x="6572707" y="6067044"/>
            <a:ext cx="114300" cy="152705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762902" y="6057900"/>
            <a:ext cx="45820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靈感來源：NVIDIA Instant Replay 技術，實現即時捕捉關鍵瞬間</a:t>
            </a:r>
            <a:endParaRPr lang="en-US" sz="1200" dirty="0"/>
          </a:p>
        </p:txBody>
      </p:sp>
      <p:sp>
        <p:nvSpPr>
          <p:cNvPr id="39" name="Text 27"/>
          <p:cNvSpPr txBox="1"/>
          <p:nvPr/>
        </p:nvSpPr>
        <p:spPr>
          <a:xfrm>
            <a:off x="11592763" y="6409944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21939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66792" r="-66792"/>
          <a:stretch/>
        </p:blipFill>
        <p:spPr>
          <a:xfrm>
            <a:off x="0" y="0"/>
            <a:ext cx="12191695" cy="52193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599846"/>
            <a:ext cx="26673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使用體驗與價值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11045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761695" y="1447495"/>
            <a:ext cx="3409798" cy="2018995"/>
          </a:xfrm>
          <a:prstGeom prst="roundRect">
            <a:avLst>
              <a:gd name="adj" fmla="val 1709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2158898" y="167609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49094" y="1867205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96796" y="2457907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節省時間與空間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15898" y="2800807"/>
            <a:ext cx="30202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自動識別高光時刻，無需長時間逐幀剪輯，大幅減少存儲需求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94606" y="1447495"/>
            <a:ext cx="3409798" cy="2018995"/>
          </a:xfrm>
          <a:prstGeom prst="roundRect">
            <a:avLst>
              <a:gd name="adj" fmla="val 1709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2" name="Shape 8"/>
          <p:cNvSpPr/>
          <p:nvPr/>
        </p:nvSpPr>
        <p:spPr>
          <a:xfrm>
            <a:off x="5790895" y="167609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82005" y="1867205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24805" y="2457907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數據畫面對齊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647895" y="2800807"/>
            <a:ext cx="30202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動作數據與視頻同步，精準定位失誤原因與技術突破點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26603" y="1447495"/>
            <a:ext cx="3409798" cy="2018995"/>
          </a:xfrm>
          <a:prstGeom prst="roundRect">
            <a:avLst>
              <a:gd name="adj" fmla="val 1709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7" name="Shape 12"/>
          <p:cNvSpPr/>
          <p:nvPr/>
        </p:nvSpPr>
        <p:spPr>
          <a:xfrm>
            <a:off x="9423806" y="167609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9627718" y="1867205"/>
            <a:ext cx="200254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56802" y="2457907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提升社群動機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279892" y="2800807"/>
            <a:ext cx="30202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可分享個人高光時刻，增加學習動機與教練互動效率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61695" y="3847795"/>
            <a:ext cx="10668305" cy="761695"/>
          </a:xfrm>
          <a:prstGeom prst="roundRect">
            <a:avLst>
              <a:gd name="adj" fmla="val 12005"/>
            </a:avLst>
          </a:prstGeom>
          <a:solidFill>
            <a:srgbClr val="1E40AF">
              <a:alpha val="2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2" name="Shape 16"/>
          <p:cNvSpPr/>
          <p:nvPr/>
        </p:nvSpPr>
        <p:spPr>
          <a:xfrm>
            <a:off x="952805" y="40389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l="-1773" r="-1773"/>
          <a:stretch/>
        </p:blipFill>
        <p:spPr>
          <a:xfrm>
            <a:off x="1076249" y="4143146"/>
            <a:ext cx="133502" cy="17190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85900" y="4134002"/>
            <a:ext cx="98398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使用者回饋：「從前找一個好的擊球片段要花20分鐘，現在只需按下按鈕就能自動保存。同時還能看到對應的數據分析，知道為何這次特別好。」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11592763" y="4753051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4809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47563" r="-47563"/>
          <a:stretch/>
        </p:blipFill>
        <p:spPr>
          <a:xfrm>
            <a:off x="0" y="0"/>
            <a:ext cx="12191695" cy="62480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295351"/>
            <a:ext cx="46104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系統整合：Galaxy Watch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800100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2286000" y="1923898"/>
            <a:ext cx="1828800" cy="18288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1781251" y="3981298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90649" y="4190695"/>
            <a:ext cx="190195" cy="19019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2542946" y="4172407"/>
            <a:ext cx="200254" cy="2286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895905" y="3981298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129077" y="4190695"/>
            <a:ext cx="142646" cy="19019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3657600" y="4172407"/>
            <a:ext cx="200254" cy="22860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4009644" y="3981298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196182" y="4190695"/>
            <a:ext cx="237744" cy="190195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661465" y="4848149"/>
            <a:ext cx="32150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智能穿戴 + 球拍數據 = 全方位訓練分析</a:t>
            </a:r>
            <a:endParaRPr lang="en-US" sz="1300" dirty="0"/>
          </a:p>
        </p:txBody>
      </p:sp>
      <p:sp>
        <p:nvSpPr>
          <p:cNvPr id="16" name="Shape 8"/>
          <p:cNvSpPr/>
          <p:nvPr/>
        </p:nvSpPr>
        <p:spPr>
          <a:xfrm>
            <a:off x="6096305" y="1371600"/>
            <a:ext cx="19202" cy="4267505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7" name="Shape 9"/>
          <p:cNvSpPr/>
          <p:nvPr/>
        </p:nvSpPr>
        <p:spPr>
          <a:xfrm>
            <a:off x="6572707" y="13716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76949" y="1476756"/>
            <a:ext cx="171907" cy="171907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7105802" y="144749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融合指標</a:t>
            </a:r>
            <a:endParaRPr lang="en-US" sz="15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105802" y="1923898"/>
            <a:ext cx="152705" cy="15270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7334402" y="1895551"/>
            <a:ext cx="4718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心率</a:t>
            </a:r>
            <a:endParaRPr lang="en-US" sz="13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0"/>
          <a:srcRect t="-180" b="-180"/>
          <a:stretch/>
        </p:blipFill>
        <p:spPr>
          <a:xfrm>
            <a:off x="8598103" y="1923898"/>
            <a:ext cx="95098" cy="152705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8769096" y="1895551"/>
            <a:ext cx="4718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步數</a:t>
            </a:r>
            <a:endParaRPr lang="en-US" sz="13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1"/>
          <a:srcRect t="-43" b="-43"/>
          <a:stretch/>
        </p:blipFill>
        <p:spPr>
          <a:xfrm>
            <a:off x="10090404" y="1923898"/>
            <a:ext cx="133502" cy="152705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10299802" y="1895551"/>
            <a:ext cx="6437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卡路里</a:t>
            </a:r>
            <a:endParaRPr lang="en-US" sz="1300" dirty="0"/>
          </a:p>
        </p:txBody>
      </p:sp>
      <p:sp>
        <p:nvSpPr>
          <p:cNvPr id="26" name="Shape 14"/>
          <p:cNvSpPr/>
          <p:nvPr/>
        </p:nvSpPr>
        <p:spPr>
          <a:xfrm>
            <a:off x="6572707" y="24387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2"/>
          <a:srcRect l="-1064" r="-1064"/>
          <a:stretch/>
        </p:blipFill>
        <p:spPr>
          <a:xfrm>
            <a:off x="6653174" y="2542946"/>
            <a:ext cx="219456" cy="171907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7105802" y="2514600"/>
            <a:ext cx="523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應用</a:t>
            </a:r>
            <a:endParaRPr lang="en-US" sz="15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3"/>
          <a:srcRect t="-43" b="-43"/>
          <a:stretch/>
        </p:blipFill>
        <p:spPr>
          <a:xfrm>
            <a:off x="7105802" y="2971800"/>
            <a:ext cx="133502" cy="152705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7315200" y="2962656"/>
            <a:ext cx="21863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把生理負荷與技術質量對齊</a:t>
            </a:r>
            <a:endParaRPr lang="en-US" sz="1300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3"/>
          <a:srcRect t="-43" b="-43"/>
          <a:stretch/>
        </p:blipFill>
        <p:spPr>
          <a:xfrm>
            <a:off x="7105802" y="3314700"/>
            <a:ext cx="133502" cy="152705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7315200" y="3305556"/>
            <a:ext cx="20153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避免過度訓練與疲勞風險</a:t>
            </a:r>
            <a:endParaRPr lang="en-US" sz="1300" dirty="0"/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3"/>
          <a:srcRect t="-43" b="-43"/>
          <a:stretch/>
        </p:blipFill>
        <p:spPr>
          <a:xfrm>
            <a:off x="7105802" y="3657600"/>
            <a:ext cx="133502" cy="152705"/>
          </a:xfrm>
          <a:prstGeom prst="rect">
            <a:avLst/>
          </a:prstGeom>
        </p:spPr>
      </p:pic>
      <p:sp>
        <p:nvSpPr>
          <p:cNvPr id="34" name="Text 18"/>
          <p:cNvSpPr txBox="1"/>
          <p:nvPr/>
        </p:nvSpPr>
        <p:spPr>
          <a:xfrm>
            <a:off x="7315200" y="3648456"/>
            <a:ext cx="21863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科學化制定恢復與強度計劃</a:t>
            </a:r>
            <a:endParaRPr lang="en-US" sz="1300" dirty="0"/>
          </a:p>
        </p:txBody>
      </p:sp>
      <p:sp>
        <p:nvSpPr>
          <p:cNvPr id="35" name="Shape 19"/>
          <p:cNvSpPr/>
          <p:nvPr/>
        </p:nvSpPr>
        <p:spPr>
          <a:xfrm>
            <a:off x="6572707" y="41906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4"/>
          <a:srcRect l="-1064" r="-1064"/>
          <a:stretch/>
        </p:blipFill>
        <p:spPr>
          <a:xfrm>
            <a:off x="6653174" y="4295851"/>
            <a:ext cx="219456" cy="171907"/>
          </a:xfrm>
          <a:prstGeom prst="rect">
            <a:avLst/>
          </a:prstGeom>
        </p:spPr>
      </p:pic>
      <p:sp>
        <p:nvSpPr>
          <p:cNvPr id="37" name="Text 20"/>
          <p:cNvSpPr txBox="1"/>
          <p:nvPr/>
        </p:nvSpPr>
        <p:spPr>
          <a:xfrm>
            <a:off x="7105802" y="42675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呈現方式</a:t>
            </a:r>
            <a:endParaRPr lang="en-US" sz="1500" dirty="0"/>
          </a:p>
        </p:txBody>
      </p:sp>
      <p:pic>
        <p:nvPicPr>
          <p:cNvPr id="38" name="Image 15" descr="preencoded.png"/>
          <p:cNvPicPr>
            <a:picLocks noChangeAspect="1"/>
          </p:cNvPicPr>
          <p:nvPr/>
        </p:nvPicPr>
        <p:blipFill>
          <a:blip r:embed="rId15"/>
          <a:srcRect t="-43" b="-43"/>
          <a:stretch/>
        </p:blipFill>
        <p:spPr>
          <a:xfrm>
            <a:off x="7105802" y="4724705"/>
            <a:ext cx="133502" cy="152705"/>
          </a:xfrm>
          <a:prstGeom prst="rect">
            <a:avLst/>
          </a:prstGeom>
        </p:spPr>
      </p:pic>
      <p:sp>
        <p:nvSpPr>
          <p:cNvPr id="39" name="Text 21"/>
          <p:cNvSpPr txBox="1"/>
          <p:nvPr/>
        </p:nvSpPr>
        <p:spPr>
          <a:xfrm>
            <a:off x="7315200" y="4714646"/>
            <a:ext cx="23582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訓練頁面顯示雙源數據儀表板</a:t>
            </a:r>
            <a:endParaRPr lang="en-US" sz="1300" dirty="0"/>
          </a:p>
        </p:txBody>
      </p:sp>
      <p:pic>
        <p:nvPicPr>
          <p:cNvPr id="40" name="Image 16" descr="preencoded.png"/>
          <p:cNvPicPr>
            <a:picLocks noChangeAspect="1"/>
          </p:cNvPicPr>
          <p:nvPr/>
        </p:nvPicPr>
        <p:blipFill>
          <a:blip r:embed="rId15"/>
          <a:srcRect t="-43" b="-43"/>
          <a:stretch/>
        </p:blipFill>
        <p:spPr>
          <a:xfrm>
            <a:off x="7105802" y="5067605"/>
            <a:ext cx="133502" cy="152705"/>
          </a:xfrm>
          <a:prstGeom prst="rect">
            <a:avLst/>
          </a:prstGeom>
        </p:spPr>
      </p:pic>
      <p:sp>
        <p:nvSpPr>
          <p:cNvPr id="41" name="Text 22"/>
          <p:cNvSpPr txBox="1"/>
          <p:nvPr/>
        </p:nvSpPr>
        <p:spPr>
          <a:xfrm>
            <a:off x="7315200" y="5057546"/>
            <a:ext cx="1843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訓練里程碑與成就提醒</a:t>
            </a:r>
            <a:endParaRPr lang="en-US" sz="1300" dirty="0"/>
          </a:p>
        </p:txBody>
      </p:sp>
      <p:pic>
        <p:nvPicPr>
          <p:cNvPr id="42" name="Image 17" descr="preencoded.png"/>
          <p:cNvPicPr>
            <a:picLocks noChangeAspect="1"/>
          </p:cNvPicPr>
          <p:nvPr/>
        </p:nvPicPr>
        <p:blipFill>
          <a:blip r:embed="rId15"/>
          <a:srcRect t="-43" b="-43"/>
          <a:stretch/>
        </p:blipFill>
        <p:spPr>
          <a:xfrm>
            <a:off x="7105802" y="5410505"/>
            <a:ext cx="133502" cy="152705"/>
          </a:xfrm>
          <a:prstGeom prst="rect">
            <a:avLst/>
          </a:prstGeom>
        </p:spPr>
      </p:pic>
      <p:sp>
        <p:nvSpPr>
          <p:cNvPr id="43" name="Text 23"/>
          <p:cNvSpPr txBox="1"/>
          <p:nvPr/>
        </p:nvSpPr>
        <p:spPr>
          <a:xfrm>
            <a:off x="7315200" y="5400446"/>
            <a:ext cx="20153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疲勞風險與休息建議提示</a:t>
            </a:r>
            <a:endParaRPr lang="en-US" sz="1300" dirty="0"/>
          </a:p>
        </p:txBody>
      </p:sp>
      <p:sp>
        <p:nvSpPr>
          <p:cNvPr id="44" name="Text 24"/>
          <p:cNvSpPr txBox="1"/>
          <p:nvPr/>
        </p:nvSpPr>
        <p:spPr>
          <a:xfrm>
            <a:off x="11592763" y="5781751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28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61108" r="-61108"/>
          <a:stretch/>
        </p:blipFill>
        <p:spPr>
          <a:xfrm>
            <a:off x="0" y="0"/>
            <a:ext cx="12191695" cy="5486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592763" y="502005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29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61695" y="599846"/>
            <a:ext cx="3134563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使用者影響：學校/球館/個人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61695" y="1600200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761695" y="3276295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1E40AF">
              <a:alpha val="5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86307" y="3657600"/>
            <a:ext cx="5715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17797" y="609905"/>
            <a:ext cx="19202" cy="4267505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0" name="Shape 6"/>
          <p:cNvSpPr/>
          <p:nvPr/>
        </p:nvSpPr>
        <p:spPr>
          <a:xfrm>
            <a:off x="4718304" y="6099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4813402" y="724205"/>
            <a:ext cx="190195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1399" y="666598"/>
            <a:ext cx="629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學校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251399" y="1123798"/>
            <a:ext cx="4144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課程數據化、技能評估儀表板、學生成長檔案。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718304" y="16760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4813402" y="1790395"/>
            <a:ext cx="190195" cy="152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251399" y="1733702"/>
            <a:ext cx="629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球館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5251399" y="2190902"/>
            <a:ext cx="4144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弱點辨識、個別化訓練計畫、教練資源最佳化。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718304" y="27432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4841748" y="2857500"/>
            <a:ext cx="133502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251399" y="2800807"/>
            <a:ext cx="629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個人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5251399" y="3258007"/>
            <a:ext cx="4144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遊戲化目標、簡潔進度追蹤、可分享高光成果。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4718304" y="38103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4822546" y="3924605"/>
            <a:ext cx="171907" cy="1527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251399" y="3866998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D34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輸出功能</a:t>
            </a:r>
            <a:endParaRPr lang="en-US" sz="1800" dirty="0"/>
          </a:p>
        </p:txBody>
      </p:sp>
      <p:sp>
        <p:nvSpPr>
          <p:cNvPr id="25" name="Text 17"/>
          <p:cNvSpPr txBox="1"/>
          <p:nvPr/>
        </p:nvSpPr>
        <p:spPr>
          <a:xfrm>
            <a:off x="5251399" y="4324198"/>
            <a:ext cx="3829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CSV 匯出，便於教練協作與長期數據分析。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609905" y="448056"/>
            <a:ext cx="30102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應用場景擴展總覽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09905" y="914400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5343754" y="819302"/>
            <a:ext cx="1505102" cy="1181405"/>
          </a:xfrm>
          <a:prstGeom prst="roundRect">
            <a:avLst>
              <a:gd name="adj" fmla="val 4994"/>
            </a:avLst>
          </a:prstGeom>
          <a:solidFill>
            <a:srgbClr val="10B981">
              <a:alpha val="7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8" name="Text 5"/>
          <p:cNvSpPr txBox="1"/>
          <p:nvPr/>
        </p:nvSpPr>
        <p:spPr>
          <a:xfrm>
            <a:off x="5581498" y="961949"/>
            <a:ext cx="1157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其他球拍運動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95544" y="1276502"/>
            <a:ext cx="495605" cy="267005"/>
          </a:xfrm>
          <a:prstGeom prst="roundRect">
            <a:avLst>
              <a:gd name="adj" fmla="val 73385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0" name="Text 7"/>
          <p:cNvSpPr txBox="1"/>
          <p:nvPr/>
        </p:nvSpPr>
        <p:spPr>
          <a:xfrm>
            <a:off x="5609844" y="1333195"/>
            <a:ext cx="3675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網球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67044" y="1276502"/>
            <a:ext cx="629107" cy="267005"/>
          </a:xfrm>
          <a:prstGeom prst="roundRect">
            <a:avLst>
              <a:gd name="adj" fmla="val 73385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2" name="Text 9"/>
          <p:cNvSpPr txBox="1"/>
          <p:nvPr/>
        </p:nvSpPr>
        <p:spPr>
          <a:xfrm>
            <a:off x="6181344" y="1333195"/>
            <a:ext cx="5001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羽毛球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48502" y="1619402"/>
            <a:ext cx="495605" cy="267005"/>
          </a:xfrm>
          <a:prstGeom prst="roundRect">
            <a:avLst>
              <a:gd name="adj" fmla="val 73385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4" name="Text 11"/>
          <p:cNvSpPr txBox="1"/>
          <p:nvPr/>
        </p:nvSpPr>
        <p:spPr>
          <a:xfrm>
            <a:off x="5962802" y="1676095"/>
            <a:ext cx="3675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壁球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11750" y="647395"/>
            <a:ext cx="1571854" cy="1524305"/>
          </a:xfrm>
          <a:prstGeom prst="roundRect">
            <a:avLst>
              <a:gd name="adj" fmla="val 2999"/>
            </a:avLst>
          </a:prstGeom>
          <a:solidFill>
            <a:srgbClr val="8B5CF6">
              <a:alpha val="7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6" name="Text 13"/>
          <p:cNvSpPr txBox="1"/>
          <p:nvPr/>
        </p:nvSpPr>
        <p:spPr>
          <a:xfrm>
            <a:off x="5753405" y="790956"/>
            <a:ext cx="814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醫療復健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26050" y="1104595"/>
            <a:ext cx="1343254" cy="267005"/>
          </a:xfrm>
          <a:prstGeom prst="roundRect">
            <a:avLst>
              <a:gd name="adj" fmla="val 73385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8" name="Text 15"/>
          <p:cNvSpPr txBox="1"/>
          <p:nvPr/>
        </p:nvSpPr>
        <p:spPr>
          <a:xfrm>
            <a:off x="5540350" y="1162202"/>
            <a:ext cx="11676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上肢精細動作追蹤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26050" y="1447495"/>
            <a:ext cx="1343254" cy="267005"/>
          </a:xfrm>
          <a:prstGeom prst="roundRect">
            <a:avLst>
              <a:gd name="adj" fmla="val 73385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0" name="Text 17"/>
          <p:cNvSpPr txBox="1"/>
          <p:nvPr/>
        </p:nvSpPr>
        <p:spPr>
          <a:xfrm>
            <a:off x="5540350" y="1505102"/>
            <a:ext cx="12152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中風/術後循序訓練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26050" y="1790395"/>
            <a:ext cx="1343254" cy="267005"/>
          </a:xfrm>
          <a:prstGeom prst="roundRect">
            <a:avLst>
              <a:gd name="adj" fmla="val 73385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2" name="Text 19"/>
          <p:cNvSpPr txBox="1"/>
          <p:nvPr/>
        </p:nvSpPr>
        <p:spPr>
          <a:xfrm>
            <a:off x="5540350" y="1848002"/>
            <a:ext cx="9006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復健進度量化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00446" y="819302"/>
            <a:ext cx="1390802" cy="1181405"/>
          </a:xfrm>
          <a:prstGeom prst="roundRect">
            <a:avLst>
              <a:gd name="adj" fmla="val 4994"/>
            </a:avLst>
          </a:prstGeom>
          <a:solidFill>
            <a:srgbClr val="EC4899">
              <a:alpha val="7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4" name="Text 21"/>
          <p:cNvSpPr txBox="1"/>
          <p:nvPr/>
        </p:nvSpPr>
        <p:spPr>
          <a:xfrm>
            <a:off x="5753405" y="961949"/>
            <a:ext cx="814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體育教育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514746" y="1276502"/>
            <a:ext cx="1162202" cy="267005"/>
          </a:xfrm>
          <a:prstGeom prst="roundRect">
            <a:avLst>
              <a:gd name="adj" fmla="val 73385"/>
            </a:avLst>
          </a:prstGeom>
          <a:solidFill>
            <a:srgbClr val="DB2777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6" name="Text 23"/>
          <p:cNvSpPr txBox="1"/>
          <p:nvPr/>
        </p:nvSpPr>
        <p:spPr>
          <a:xfrm>
            <a:off x="5629046" y="1333195"/>
            <a:ext cx="6336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成長檔案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514746" y="1619402"/>
            <a:ext cx="1162202" cy="267005"/>
          </a:xfrm>
          <a:prstGeom prst="roundRect">
            <a:avLst>
              <a:gd name="adj" fmla="val 73385"/>
            </a:avLst>
          </a:prstGeom>
          <a:solidFill>
            <a:srgbClr val="DB2777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8" name="Text 25"/>
          <p:cNvSpPr txBox="1"/>
          <p:nvPr/>
        </p:nvSpPr>
        <p:spPr>
          <a:xfrm>
            <a:off x="5629046" y="1676095"/>
            <a:ext cx="10341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技能評估儀表板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5581498" y="961949"/>
            <a:ext cx="1157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個人居家訓練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495544" y="1333195"/>
            <a:ext cx="9006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配發球機應用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495544" y="1676095"/>
            <a:ext cx="13002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短時高效率練習模組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333695" y="647395"/>
            <a:ext cx="1524305" cy="1524305"/>
          </a:xfrm>
          <a:prstGeom prst="roundRect">
            <a:avLst>
              <a:gd name="adj" fmla="val 2999"/>
            </a:avLst>
          </a:prstGeom>
          <a:solidFill>
            <a:srgbClr val="EF4444">
              <a:alpha val="7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3" name="Text 30"/>
          <p:cNvSpPr txBox="1"/>
          <p:nvPr/>
        </p:nvSpPr>
        <p:spPr>
          <a:xfrm>
            <a:off x="5581498" y="790956"/>
            <a:ext cx="1157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數據驅動訓練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47995" y="1104595"/>
            <a:ext cx="1295705" cy="267005"/>
          </a:xfrm>
          <a:prstGeom prst="roundRect">
            <a:avLst>
              <a:gd name="adj" fmla="val 7338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5" name="Text 32"/>
          <p:cNvSpPr txBox="1"/>
          <p:nvPr/>
        </p:nvSpPr>
        <p:spPr>
          <a:xfrm>
            <a:off x="5562295" y="1162202"/>
            <a:ext cx="9006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視頻輔助分析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447995" y="1447495"/>
            <a:ext cx="1295705" cy="267005"/>
          </a:xfrm>
          <a:prstGeom prst="roundRect">
            <a:avLst>
              <a:gd name="adj" fmla="val 7338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7" name="Text 34"/>
          <p:cNvSpPr txBox="1"/>
          <p:nvPr/>
        </p:nvSpPr>
        <p:spPr>
          <a:xfrm>
            <a:off x="5562295" y="1505102"/>
            <a:ext cx="11676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減少人工後製時間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447995" y="1790395"/>
            <a:ext cx="1295705" cy="267005"/>
          </a:xfrm>
          <a:prstGeom prst="roundRect">
            <a:avLst>
              <a:gd name="adj" fmla="val 7338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9" name="Text 36"/>
          <p:cNvSpPr txBox="1"/>
          <p:nvPr/>
        </p:nvSpPr>
        <p:spPr>
          <a:xfrm>
            <a:off x="5562295" y="1848002"/>
            <a:ext cx="10341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傳感器觸發標註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057900" y="1371600"/>
            <a:ext cx="38405" cy="38405"/>
          </a:xfrm>
          <a:prstGeom prst="roundRect">
            <a:avLst>
              <a:gd name="adj" fmla="val 2380940"/>
            </a:avLst>
          </a:prstGeom>
          <a:noFill/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2" name="Shape 39"/>
          <p:cNvSpPr/>
          <p:nvPr/>
        </p:nvSpPr>
        <p:spPr>
          <a:xfrm>
            <a:off x="800100" y="20574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3"/>
          <a:srcRect l="-1773" r="-1773"/>
          <a:stretch/>
        </p:blipFill>
        <p:spPr>
          <a:xfrm>
            <a:off x="923544" y="2162556"/>
            <a:ext cx="133502" cy="171907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1333195" y="2076602"/>
            <a:ext cx="4429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核心理念： 量化 → 反饋 → 自適應，形成可持續的訓練服務生態</a:t>
            </a:r>
            <a:endParaRPr lang="en-US" sz="1200" dirty="0"/>
          </a:p>
        </p:txBody>
      </p:sp>
      <p:sp>
        <p:nvSpPr>
          <p:cNvPr id="45" name="Text 41"/>
          <p:cNvSpPr txBox="1"/>
          <p:nvPr/>
        </p:nvSpPr>
        <p:spPr>
          <a:xfrm>
            <a:off x="1333195" y="2381098"/>
            <a:ext cx="52011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跨域整合： 通過調整安裝方式與資料標註，快速擴展至不同運動與康復場景</a:t>
            </a:r>
            <a:endParaRPr lang="en-US" sz="1200" dirty="0"/>
          </a:p>
        </p:txBody>
      </p:sp>
      <p:sp>
        <p:nvSpPr>
          <p:cNvPr id="46" name="Text 42"/>
          <p:cNvSpPr txBox="1"/>
          <p:nvPr/>
        </p:nvSpPr>
        <p:spPr>
          <a:xfrm>
            <a:off x="11592763" y="277154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30</a:t>
            </a:r>
            <a:endParaRPr lang="en-US" sz="1300" dirty="0"/>
          </a:p>
        </p:txBody>
      </p:sp>
      <p:sp>
        <p:nvSpPr>
          <p:cNvPr id="47" name="Shape 43"/>
          <p:cNvSpPr/>
          <p:nvPr/>
        </p:nvSpPr>
        <p:spPr>
          <a:xfrm>
            <a:off x="5153558" y="1143000"/>
            <a:ext cx="1886407" cy="533095"/>
          </a:xfrm>
          <a:prstGeom prst="roundRect">
            <a:avLst>
              <a:gd name="adj" fmla="val 17152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8" name="Text 44"/>
          <p:cNvSpPr txBox="1"/>
          <p:nvPr/>
        </p:nvSpPr>
        <p:spPr>
          <a:xfrm>
            <a:off x="5524805" y="1162202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應用擴展中心</a:t>
            </a:r>
            <a:endParaRPr lang="en-US" sz="1500" dirty="0"/>
          </a:p>
        </p:txBody>
      </p:sp>
      <p:sp>
        <p:nvSpPr>
          <p:cNvPr id="49" name="Text 45"/>
          <p:cNvSpPr txBox="1"/>
          <p:nvPr/>
        </p:nvSpPr>
        <p:spPr>
          <a:xfrm>
            <a:off x="5153558" y="1438351"/>
            <a:ext cx="20153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SmartRacket Coach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4799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61892" r="-61892"/>
          <a:stretch/>
        </p:blipFill>
        <p:spPr>
          <a:xfrm>
            <a:off x="0" y="0"/>
            <a:ext cx="12191695" cy="54479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592763" y="4981651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31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61695" y="599846"/>
            <a:ext cx="33531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數據驅動的訓練管理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61695" y="12188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761695" y="3238805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1E40AF">
              <a:alpha val="5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3000" y="3619195"/>
            <a:ext cx="4572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17797" y="609905"/>
            <a:ext cx="19202" cy="42291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0" name="Shape 6"/>
          <p:cNvSpPr/>
          <p:nvPr/>
        </p:nvSpPr>
        <p:spPr>
          <a:xfrm>
            <a:off x="4718304" y="6099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32604" y="724205"/>
            <a:ext cx="152705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1399" y="666598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核心理念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251399" y="1123798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量化 → 反饋 → 自適應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5251399" y="1476756"/>
            <a:ext cx="44156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BEA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將球拍動作數據化，提供即時回饋，形成自適應學習迴圈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718304" y="20189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32604" y="2133295"/>
            <a:ext cx="152705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251399" y="2076602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主要功能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5251399" y="2533802"/>
            <a:ext cx="2876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類別分布、品質評分、週/月趨勢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251399" y="2885846"/>
            <a:ext cx="4586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BEA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直觀呈現技術類型統計、動作品質評分、長期進步趨勢圖表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718304" y="34290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32604" y="3543300"/>
            <a:ext cx="152705" cy="15270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251399" y="3486607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實用價值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5251399" y="3943807"/>
            <a:ext cx="3572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可視化弱點、制定個別化課表、追蹤進步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5251399" y="4295851"/>
            <a:ext cx="57872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BEA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幫助學習者與教練精準識別技術弱點，建立針對性訓練，科學量化進步程度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52480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60336" r="-60336"/>
          <a:stretch/>
        </p:blipFill>
        <p:spPr>
          <a:xfrm>
            <a:off x="0" y="0"/>
            <a:ext cx="12191695" cy="55248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599846"/>
            <a:ext cx="33531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可負擔性與創新突破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11045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761695" y="1447495"/>
            <a:ext cx="3353105" cy="2324405"/>
          </a:xfrm>
          <a:prstGeom prst="roundRect">
            <a:avLst>
              <a:gd name="adj" fmla="val 1290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2133295" y="167609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24405" y="1867205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057400" y="2457907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硬體成本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990295" y="2800807"/>
            <a:ext cx="30202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入門級可負擔，適用校隊、社區與家庭訓練環境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218895" y="3333902"/>
            <a:ext cx="25630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單套硬體成本可控制在入門球拍區間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419295" y="1447495"/>
            <a:ext cx="3353105" cy="2324405"/>
          </a:xfrm>
          <a:prstGeom prst="roundRect">
            <a:avLst>
              <a:gd name="adj" fmla="val 1290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3" name="Shape 9"/>
          <p:cNvSpPr/>
          <p:nvPr/>
        </p:nvSpPr>
        <p:spPr>
          <a:xfrm>
            <a:off x="5790895" y="167609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6010351" y="1867205"/>
            <a:ext cx="171907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810098" y="2457907"/>
            <a:ext cx="715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創新點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930445" y="2800807"/>
            <a:ext cx="24487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邊緣 AI + 低成本 IMU 的實戰結合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89043" y="3105302"/>
            <a:ext cx="2934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CNC 嵌入式設計，不影響球拍手感與平衡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076895" y="1447495"/>
            <a:ext cx="3353105" cy="2324405"/>
          </a:xfrm>
          <a:prstGeom prst="roundRect">
            <a:avLst>
              <a:gd name="adj" fmla="val 1290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9" name="Shape 14"/>
          <p:cNvSpPr/>
          <p:nvPr/>
        </p:nvSpPr>
        <p:spPr>
          <a:xfrm>
            <a:off x="9448495" y="167609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639605" y="1867205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467698" y="2457907"/>
            <a:ext cx="715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差異化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686800" y="2800807"/>
            <a:ext cx="22576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離線可用、低延遲、強隱私保護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8305495" y="3105302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完全在本地封閉數據循環，不依賴雲端服務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61695" y="4153205"/>
            <a:ext cx="10668305" cy="761695"/>
          </a:xfrm>
          <a:prstGeom prst="roundRect">
            <a:avLst>
              <a:gd name="adj" fmla="val 12005"/>
            </a:avLst>
          </a:prstGeom>
          <a:solidFill>
            <a:srgbClr val="1E40AF">
              <a:alpha val="2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5" name="Shape 19"/>
          <p:cNvSpPr/>
          <p:nvPr/>
        </p:nvSpPr>
        <p:spPr>
          <a:xfrm>
            <a:off x="952805" y="43434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57046" y="4448556"/>
            <a:ext cx="171907" cy="17190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85900" y="4438498"/>
            <a:ext cx="6372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核心定位：把高品質訓練民主化，讓每位學習者，不論資源多寡，都能擁有自己的數據教練。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1592763" y="505754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32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5340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55952" r="-55952"/>
          <a:stretch/>
        </p:blipFill>
        <p:spPr>
          <a:xfrm>
            <a:off x="0" y="0"/>
            <a:ext cx="12191695" cy="57534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599846"/>
            <a:ext cx="486735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傳感器擴展計劃（Phase 2）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11045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761695" y="1371600"/>
            <a:ext cx="3353105" cy="2857500"/>
          </a:xfrm>
          <a:prstGeom prst="roundRect">
            <a:avLst>
              <a:gd name="adj" fmla="val 853"/>
            </a:avLst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990295" y="1600200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3000" y="1752905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76095" y="1619402"/>
            <a:ext cx="943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IMU升級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2548433" y="161940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2610612" y="1666951"/>
            <a:ext cx="105156" cy="1335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76095" y="1962302"/>
            <a:ext cx="20766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九軸傳感器（加速度+陀螺儀+磁力計）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676095" y="2495398"/>
            <a:ext cx="14959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提升旋轉方向穩健性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676095" y="2800807"/>
            <a:ext cx="19531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改善多維度動作辨識精確度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676095" y="3105302"/>
            <a:ext cx="22576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強化在複雜運動環境下的可靠性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419295" y="1371600"/>
            <a:ext cx="3353105" cy="2857500"/>
          </a:xfrm>
          <a:prstGeom prst="roundRect">
            <a:avLst>
              <a:gd name="adj" fmla="val 853"/>
            </a:avLst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7" name="Shape 12"/>
          <p:cNvSpPr/>
          <p:nvPr/>
        </p:nvSpPr>
        <p:spPr>
          <a:xfrm>
            <a:off x="4647895" y="1600200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00600" y="1752905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33695" y="1619402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其他候選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172200" y="161940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6229807" y="1666951"/>
            <a:ext cx="114300" cy="1335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33695" y="1962302"/>
            <a:ext cx="23052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握力/壓力傳感器：測量握拍力度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5333695" y="2266798"/>
            <a:ext cx="22576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溫度感測：環境與設備溫度監控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5333695" y="2572207"/>
            <a:ext cx="22576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微型氣壓計：高度與天氣變化追蹤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5333695" y="3105302"/>
            <a:ext cx="22576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環境光感測：場地光照條件分析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8076895" y="1371600"/>
            <a:ext cx="3353105" cy="2857500"/>
          </a:xfrm>
          <a:prstGeom prst="roundRect">
            <a:avLst>
              <a:gd name="adj" fmla="val 853"/>
            </a:avLst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7" name="Shape 20"/>
          <p:cNvSpPr/>
          <p:nvPr/>
        </p:nvSpPr>
        <p:spPr>
          <a:xfrm>
            <a:off x="8305495" y="1600200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8429854" y="1752905"/>
            <a:ext cx="286207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991295" y="1619402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擴展原則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9829800" y="161940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9887407" y="1666951"/>
            <a:ext cx="114300" cy="13350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91295" y="1962302"/>
            <a:ext cx="22576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體驗優先：先把核心體驗打磨到位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8991295" y="2495398"/>
            <a:ext cx="22576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分層疊加：基礎功能穩定後再增加複雜度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8991295" y="3029407"/>
            <a:ext cx="22576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資源平衡：避免過度擠壓算力與電力資源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8991295" y="3562502"/>
            <a:ext cx="22576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功能價值：每項新增傳感器需證明實用性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761695" y="4457700"/>
            <a:ext cx="10668305" cy="685800"/>
          </a:xfrm>
          <a:prstGeom prst="roundRect">
            <a:avLst>
              <a:gd name="adj" fmla="val 14815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7" name="Shape 28"/>
          <p:cNvSpPr/>
          <p:nvPr/>
        </p:nvSpPr>
        <p:spPr>
          <a:xfrm>
            <a:off x="914400" y="46104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3272" y="4705502"/>
            <a:ext cx="142646" cy="190195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447495" y="4705502"/>
            <a:ext cx="77440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智能硬體的迭代需遵循「多感測但少複雜」的設計理念，感測器的增加不應導致用戶體驗與電池壽命的顯著下降。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11592763" y="528614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33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61108" r="-61108"/>
          <a:stretch/>
        </p:blipFill>
        <p:spPr>
          <a:xfrm>
            <a:off x="0" y="0"/>
            <a:ext cx="12191695" cy="5486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592763" y="502005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34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61695" y="599846"/>
            <a:ext cx="33531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商業化潛力與市場定位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61695" y="1600200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761695" y="3276295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1E40AF">
              <a:alpha val="5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3000" y="3657600"/>
            <a:ext cx="4572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17797" y="609905"/>
            <a:ext cx="19202" cy="4267505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0" name="Shape 6"/>
          <p:cNvSpPr/>
          <p:nvPr/>
        </p:nvSpPr>
        <p:spPr>
          <a:xfrm>
            <a:off x="4718304" y="6099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4813402" y="724205"/>
            <a:ext cx="190195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1399" y="666598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目標市場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251399" y="1123798"/>
            <a:ext cx="3572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香港校隊、業餘隊伍、球館與訓練中心。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718304" y="16760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4841748" y="1790395"/>
            <a:ext cx="133502" cy="152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251399" y="1733702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定價策略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5251399" y="2190902"/>
            <a:ext cx="5667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以普惠為導向，優化 BOM 與製造流程，讓一般學習者都能負擔。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718304" y="274320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4822546" y="2857500"/>
            <a:ext cx="171907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251399" y="2800807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D34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增值服務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5251399" y="3258007"/>
            <a:ext cx="5477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雲端教練平台、多球員對戰功能、個人化訓練課程與數據分析。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4718304" y="38103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1613" r="-1613"/>
          <a:stretch/>
        </p:blipFill>
        <p:spPr>
          <a:xfrm>
            <a:off x="4832604" y="3924605"/>
            <a:ext cx="152705" cy="1527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251399" y="3866998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開源願景</a:t>
            </a:r>
            <a:endParaRPr lang="en-US" sz="1800" dirty="0"/>
          </a:p>
        </p:txBody>
      </p:sp>
      <p:sp>
        <p:nvSpPr>
          <p:cNvPr id="25" name="Text 17"/>
          <p:cNvSpPr txBox="1"/>
          <p:nvPr/>
        </p:nvSpPr>
        <p:spPr>
          <a:xfrm>
            <a:off x="5251399" y="4324198"/>
            <a:ext cx="6067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GitHub 同步開源硬體設計、韌體、模型與 App，推動社群共創發展。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761695" y="599846"/>
            <a:ext cx="26673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時程規劃路線圖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11045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1218895" y="2438705"/>
            <a:ext cx="9753905" cy="152705"/>
          </a:xfrm>
          <a:prstGeom prst="roundRect">
            <a:avLst>
              <a:gd name="adj" fmla="val 598802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8995" y="1524305"/>
            <a:ext cx="228600" cy="228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115007" y="2133295"/>
            <a:ext cx="38405" cy="30449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9" name="Shape 5"/>
          <p:cNvSpPr/>
          <p:nvPr/>
        </p:nvSpPr>
        <p:spPr>
          <a:xfrm>
            <a:off x="1218895" y="2247595"/>
            <a:ext cx="1828800" cy="1218895"/>
          </a:xfrm>
          <a:prstGeom prst="roundRect">
            <a:avLst>
              <a:gd name="adj" fmla="val 4689"/>
            </a:avLst>
          </a:prstGeom>
          <a:solidFill>
            <a:srgbClr val="1E40AF">
              <a:alpha val="7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0" name="Text 6"/>
          <p:cNvSpPr txBox="1"/>
          <p:nvPr/>
        </p:nvSpPr>
        <p:spPr>
          <a:xfrm>
            <a:off x="1371600" y="2428646"/>
            <a:ext cx="7863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3-6個月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2762402"/>
            <a:ext cx="10341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傳感器精度優化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952598"/>
            <a:ext cx="15956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Galaxy Watch 深度整合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3143707"/>
            <a:ext cx="13002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硬體與數據質量提升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5952744" y="1524305"/>
            <a:ext cx="286207" cy="2286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077102" y="2133295"/>
            <a:ext cx="38405" cy="30449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6" name="Shape 11"/>
          <p:cNvSpPr/>
          <p:nvPr/>
        </p:nvSpPr>
        <p:spPr>
          <a:xfrm>
            <a:off x="5181905" y="2247595"/>
            <a:ext cx="1828800" cy="1218895"/>
          </a:xfrm>
          <a:prstGeom prst="roundRect">
            <a:avLst>
              <a:gd name="adj" fmla="val 4689"/>
            </a:avLst>
          </a:prstGeom>
          <a:solidFill>
            <a:srgbClr val="B91C1C">
              <a:alpha val="7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7" name="Text 12"/>
          <p:cNvSpPr txBox="1"/>
          <p:nvPr/>
        </p:nvSpPr>
        <p:spPr>
          <a:xfrm>
            <a:off x="5333695" y="2428646"/>
            <a:ext cx="9098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ECAC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6-12個月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342839" y="2733598"/>
            <a:ext cx="9006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教練平台上線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5342839" y="2923794"/>
            <a:ext cx="9006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品牌合作試點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5342839" y="3114903"/>
            <a:ext cx="13002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拓展用戶群與生態系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944100" y="1524305"/>
            <a:ext cx="228600" cy="2286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0039198" y="2133295"/>
            <a:ext cx="38405" cy="30449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3" name="Shape 17"/>
          <p:cNvSpPr/>
          <p:nvPr/>
        </p:nvSpPr>
        <p:spPr>
          <a:xfrm>
            <a:off x="9144000" y="2247595"/>
            <a:ext cx="1828800" cy="1218895"/>
          </a:xfrm>
          <a:prstGeom prst="roundRect">
            <a:avLst>
              <a:gd name="adj" fmla="val 4689"/>
            </a:avLst>
          </a:prstGeom>
          <a:solidFill>
            <a:srgbClr val="047857">
              <a:alpha val="7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4" name="Text 18"/>
          <p:cNvSpPr txBox="1"/>
          <p:nvPr/>
        </p:nvSpPr>
        <p:spPr>
          <a:xfrm>
            <a:off x="9296705" y="2428646"/>
            <a:ext cx="6144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7F3D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1-2年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9296705" y="2762402"/>
            <a:ext cx="13002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擴展至其他球類運動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9296705" y="2952598"/>
            <a:ext cx="11676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完整智能運動生態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296705" y="3143707"/>
            <a:ext cx="10341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多運動統一平台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14173" y="4039667"/>
            <a:ext cx="4466844" cy="1904695"/>
          </a:xfrm>
          <a:prstGeom prst="roundRect">
            <a:avLst>
              <a:gd name="adj" fmla="val 1920"/>
            </a:avLst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9" name="Shape 23"/>
          <p:cNvSpPr/>
          <p:nvPr/>
        </p:nvSpPr>
        <p:spPr>
          <a:xfrm>
            <a:off x="165964" y="421020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99466" y="4343705"/>
            <a:ext cx="190195" cy="19019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75868" y="42294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發展策略三重奏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775868" y="4581449"/>
            <a:ext cx="26535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「深度→廣度→生態」的成長之路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966064" y="4915205"/>
            <a:ext cx="2867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短期目標：打磨核心體驗，提升數據品質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66064" y="5182210"/>
            <a:ext cx="25630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中期目標：社群擴展，建立教練平台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66064" y="5448301"/>
            <a:ext cx="33247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長期目標：跨運動應用，構建智能運動生態系統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11592763" y="433425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35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1828800" y="1524305"/>
            <a:ext cx="609905" cy="228600"/>
          </a:xfrm>
          <a:prstGeom prst="roundRect">
            <a:avLst>
              <a:gd name="adj" fmla="val 40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8" name="Shape 31"/>
          <p:cNvSpPr/>
          <p:nvPr/>
        </p:nvSpPr>
        <p:spPr>
          <a:xfrm>
            <a:off x="5790895" y="1524305"/>
            <a:ext cx="609905" cy="228600"/>
          </a:xfrm>
          <a:prstGeom prst="roundRect">
            <a:avLst>
              <a:gd name="adj" fmla="val 400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9" name="Shape 32"/>
          <p:cNvSpPr/>
          <p:nvPr/>
        </p:nvSpPr>
        <p:spPr>
          <a:xfrm>
            <a:off x="9753905" y="1524305"/>
            <a:ext cx="609905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zh-HK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8190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67637" r="-67637"/>
          <a:stretch/>
        </p:blipFill>
        <p:spPr>
          <a:xfrm>
            <a:off x="0" y="0"/>
            <a:ext cx="12191695" cy="51819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592763" y="471464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36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61695" y="599846"/>
            <a:ext cx="23244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核心創新總結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61695" y="12188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761695" y="2971800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1E40AF">
              <a:alpha val="5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00607" y="3353105"/>
            <a:ext cx="3429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17797" y="609905"/>
            <a:ext cx="19202" cy="3962095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0" name="Shape 6"/>
          <p:cNvSpPr/>
          <p:nvPr/>
        </p:nvSpPr>
        <p:spPr>
          <a:xfrm>
            <a:off x="4718304" y="6099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32604" y="724205"/>
            <a:ext cx="152705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1399" y="666598"/>
            <a:ext cx="2705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邊緣運算 + 低成本 IMU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251399" y="1123798"/>
            <a:ext cx="6238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打造面向學生與業餘選手的量化揮拍訓練系統，實現即時動作分析與反饋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718304" y="175290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32604" y="1867205"/>
            <a:ext cx="152705" cy="152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251399" y="1809598"/>
            <a:ext cx="2581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硬體嵌入 + 手機端推論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5251399" y="2266798"/>
            <a:ext cx="62389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構建可持續、可擴展、可負擔的學習閉環，無需高成本設備即可獲得專業訓練體驗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718304" y="31619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32604" y="3276295"/>
            <a:ext cx="15270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251399" y="3219602"/>
            <a:ext cx="1772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5B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從原型走向實用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5251399" y="3676802"/>
            <a:ext cx="62014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CNC精準安裝、BLE 5.0低功耗通訊、Android原生視覺化，解決實際應用中的用戶體驗問題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0866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36019" r="-36019"/>
          <a:stretch/>
        </p:blipFill>
        <p:spPr>
          <a:xfrm>
            <a:off x="0" y="0"/>
            <a:ext cx="12191695" cy="7086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695" y="599846"/>
            <a:ext cx="33531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目前成效與早期驗證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61695" y="110459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761695" y="1447495"/>
            <a:ext cx="5181905" cy="1790395"/>
          </a:xfrm>
          <a:prstGeom prst="roundRect">
            <a:avLst>
              <a:gd name="adj" fmla="val 2173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3047695" y="167609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38805" y="1867205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495398" y="2457907"/>
            <a:ext cx="1858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即時分類與品質評分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676095" y="2800807"/>
            <a:ext cx="3477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動作完成後立即提供回饋，支援日常訓練決策流程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48095" y="1447495"/>
            <a:ext cx="5181905" cy="1790395"/>
          </a:xfrm>
          <a:prstGeom prst="roundRect">
            <a:avLst>
              <a:gd name="adj" fmla="val 2173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2" name="Shape 8"/>
          <p:cNvSpPr/>
          <p:nvPr/>
        </p:nvSpPr>
        <p:spPr>
          <a:xfrm>
            <a:off x="8534095" y="167609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-44" b="-44"/>
          <a:stretch/>
        </p:blipFill>
        <p:spPr>
          <a:xfrm>
            <a:off x="8710574" y="1867205"/>
            <a:ext cx="256946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76895" y="2457907"/>
            <a:ext cx="1666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高光一刻自動保存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7086600" y="2800807"/>
            <a:ext cx="3629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大幅減少剪輯時間與存儲成本，數據與畫面精準對齊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61695" y="3543300"/>
            <a:ext cx="5181905" cy="1790395"/>
          </a:xfrm>
          <a:prstGeom prst="roundRect">
            <a:avLst>
              <a:gd name="adj" fmla="val 2173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7" name="Shape 12"/>
          <p:cNvSpPr/>
          <p:nvPr/>
        </p:nvSpPr>
        <p:spPr>
          <a:xfrm>
            <a:off x="3047695" y="3771900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8" name="Text 13"/>
          <p:cNvSpPr txBox="1"/>
          <p:nvPr/>
        </p:nvSpPr>
        <p:spPr>
          <a:xfrm>
            <a:off x="2590495" y="4552798"/>
            <a:ext cx="1666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穿戴裝置完美融合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379830" y="4895698"/>
            <a:ext cx="4067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與Galaxy Watch整合，支援多維訓練指標觀測與數據關聯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48095" y="3543300"/>
            <a:ext cx="5181905" cy="1790395"/>
          </a:xfrm>
          <a:prstGeom prst="roundRect">
            <a:avLst>
              <a:gd name="adj" fmla="val 2173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1" name="Shape 16"/>
          <p:cNvSpPr/>
          <p:nvPr/>
        </p:nvSpPr>
        <p:spPr>
          <a:xfrm>
            <a:off x="8534095" y="3771900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725205" y="3962095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076895" y="4552798"/>
            <a:ext cx="1666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精度與實用性平衡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4895698"/>
            <a:ext cx="4086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以實用、即時、可迭代為主軸，個人化校準持續提升準確度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61695" y="5715000"/>
            <a:ext cx="10668305" cy="761695"/>
          </a:xfrm>
          <a:prstGeom prst="roundRect">
            <a:avLst>
              <a:gd name="adj" fmla="val 12005"/>
            </a:avLst>
          </a:prstGeom>
          <a:solidFill>
            <a:srgbClr val="1E40AF">
              <a:alpha val="2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6" name="Shape 20"/>
          <p:cNvSpPr/>
          <p:nvPr/>
        </p:nvSpPr>
        <p:spPr>
          <a:xfrm>
            <a:off x="952805" y="59051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1773" r="-1773"/>
          <a:stretch/>
        </p:blipFill>
        <p:spPr>
          <a:xfrm>
            <a:off x="1076249" y="6010351"/>
            <a:ext cx="133502" cy="17190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485900" y="6001207"/>
            <a:ext cx="7439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早期測試已展現實質成效，使用者反饋顯示技術路線正確。後續將優化模型精度與使用體驗，擴大測試範圍。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1592763" y="6620256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37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076895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25473" r="-25473"/>
          <a:stretch/>
        </p:blipFill>
        <p:spPr>
          <a:xfrm>
            <a:off x="0" y="0"/>
            <a:ext cx="12191695" cy="80768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67505" y="571500"/>
            <a:ext cx="401055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下一步行動與願景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0" y="1181405"/>
            <a:ext cx="12188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3"/>
          <p:cNvSpPr/>
          <p:nvPr/>
        </p:nvSpPr>
        <p:spPr>
          <a:xfrm>
            <a:off x="1828800" y="1524305"/>
            <a:ext cx="8534095" cy="2095805"/>
          </a:xfrm>
          <a:prstGeom prst="roundRect">
            <a:avLst>
              <a:gd name="adj" fmla="val 2380"/>
            </a:avLst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" name="Shape 4"/>
          <p:cNvSpPr/>
          <p:nvPr/>
        </p:nvSpPr>
        <p:spPr>
          <a:xfrm>
            <a:off x="2057400" y="1752905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19249" y="1914754"/>
            <a:ext cx="286207" cy="28620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857500" y="1772107"/>
            <a:ext cx="1086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CA5A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行動計劃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2857500" y="217170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2943454" y="2247595"/>
            <a:ext cx="133502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276295" y="2219249"/>
            <a:ext cx="22530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小批量試產與實地 A/B 測試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544922" y="217170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621731" y="2247595"/>
            <a:ext cx="152705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964631" y="2219249"/>
            <a:ext cx="21863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收集回饋、優化模型與機構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2857500" y="262890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2952598" y="2704795"/>
            <a:ext cx="114300" cy="152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276295" y="2676449"/>
            <a:ext cx="15005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強化三星生態整合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544922" y="262890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5611673" y="2704795"/>
            <a:ext cx="171907" cy="152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964631" y="2676449"/>
            <a:ext cx="1329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製造與成本優化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2857500" y="308610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2915107" y="3161995"/>
            <a:ext cx="190195" cy="152705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3276295" y="3133649"/>
            <a:ext cx="1157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建立開源社群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1828800" y="3924605"/>
            <a:ext cx="8534095" cy="2667305"/>
          </a:xfrm>
          <a:prstGeom prst="roundRect">
            <a:avLst>
              <a:gd name="adj" fmla="val 1469"/>
            </a:avLst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6" name="Shape 17"/>
          <p:cNvSpPr/>
          <p:nvPr/>
        </p:nvSpPr>
        <p:spPr>
          <a:xfrm>
            <a:off x="5715000" y="4229100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rcRect l="-1118" r="-1118"/>
          <a:stretch/>
        </p:blipFill>
        <p:spPr>
          <a:xfrm>
            <a:off x="5986577" y="4466844"/>
            <a:ext cx="219456" cy="286207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5524805" y="5143500"/>
            <a:ext cx="135788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願景宣言</a:t>
            </a:r>
            <a:endParaRPr lang="en-US" sz="2200" dirty="0"/>
          </a:p>
        </p:txBody>
      </p:sp>
      <p:sp>
        <p:nvSpPr>
          <p:cNvPr id="29" name="Text 19"/>
          <p:cNvSpPr txBox="1"/>
          <p:nvPr/>
        </p:nvSpPr>
        <p:spPr>
          <a:xfrm>
            <a:off x="2895905" y="5658307"/>
            <a:ext cx="6572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「把高品質訓練民主化，讓每位學習者都擁有自己的數據教練」</a:t>
            </a:r>
            <a:endParaRPr lang="en-US" sz="1800" dirty="0"/>
          </a:p>
        </p:txBody>
      </p:sp>
      <p:sp>
        <p:nvSpPr>
          <p:cNvPr id="30" name="Text 20"/>
          <p:cNvSpPr txBox="1"/>
          <p:nvPr/>
        </p:nvSpPr>
        <p:spPr>
          <a:xfrm>
            <a:off x="5245913" y="6077102"/>
            <a:ext cx="18196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— SmartRacket Coach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1828800" y="699150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962302" y="7125005"/>
            <a:ext cx="190195" cy="19019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2438705" y="7000646"/>
            <a:ext cx="814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聯絡方式</a:t>
            </a:r>
            <a:endParaRPr lang="en-US" sz="1300" dirty="0"/>
          </a:p>
        </p:txBody>
      </p:sp>
      <p:sp>
        <p:nvSpPr>
          <p:cNvPr id="34" name="Text 23"/>
          <p:cNvSpPr txBox="1"/>
          <p:nvPr/>
        </p:nvSpPr>
        <p:spPr>
          <a:xfrm>
            <a:off x="2438705" y="7258507"/>
            <a:ext cx="19915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smartracket@vtc.edu.hk</a:t>
            </a:r>
            <a:endParaRPr lang="en-US" sz="1200" dirty="0"/>
          </a:p>
        </p:txBody>
      </p:sp>
      <p:sp>
        <p:nvSpPr>
          <p:cNvPr id="35" name="Shape 24"/>
          <p:cNvSpPr/>
          <p:nvPr/>
        </p:nvSpPr>
        <p:spPr>
          <a:xfrm>
            <a:off x="7733995" y="699150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867498" y="7125005"/>
            <a:ext cx="190195" cy="190195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8343900" y="7000646"/>
            <a:ext cx="814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特別感謝</a:t>
            </a:r>
            <a:endParaRPr lang="en-US" sz="1300" dirty="0"/>
          </a:p>
        </p:txBody>
      </p:sp>
      <p:sp>
        <p:nvSpPr>
          <p:cNvPr id="38" name="Text 26"/>
          <p:cNvSpPr txBox="1"/>
          <p:nvPr/>
        </p:nvSpPr>
        <p:spPr>
          <a:xfrm>
            <a:off x="8343900" y="7258507"/>
            <a:ext cx="2143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EE7B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VTC 青年學院導師與同儕支持</a:t>
            </a:r>
            <a:endParaRPr lang="en-US" sz="1200" dirty="0"/>
          </a:p>
        </p:txBody>
      </p:sp>
      <p:sp>
        <p:nvSpPr>
          <p:cNvPr id="39" name="Shape 27"/>
          <p:cNvSpPr/>
          <p:nvPr/>
        </p:nvSpPr>
        <p:spPr>
          <a:xfrm>
            <a:off x="10820095" y="6324905"/>
            <a:ext cx="9144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K" altLang="en-US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3"/>
          <a:srcRect l="-57" r="-57"/>
          <a:stretch/>
        </p:blipFill>
        <p:spPr>
          <a:xfrm>
            <a:off x="11077956" y="6553505"/>
            <a:ext cx="400507" cy="457200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10877702" y="7295998"/>
            <a:ext cx="9006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掃碼關注專案</a:t>
            </a:r>
            <a:endParaRPr lang="en-US" sz="1000" dirty="0"/>
          </a:p>
        </p:txBody>
      </p:sp>
      <p:sp>
        <p:nvSpPr>
          <p:cNvPr id="42" name="Text 29"/>
          <p:cNvSpPr txBox="1"/>
          <p:nvPr/>
        </p:nvSpPr>
        <p:spPr>
          <a:xfrm>
            <a:off x="11592763" y="7610551"/>
            <a:ext cx="3483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38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1553</Words>
  <Application>Microsoft Office PowerPoint</Application>
  <PresentationFormat>寬螢幕</PresentationFormat>
  <Paragraphs>573</Paragraphs>
  <Slides>38</Slides>
  <Notes>38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1" baseType="lpstr">
      <vt:lpstr>ui-sans-serif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Samuel Wed</cp:lastModifiedBy>
  <cp:revision>2</cp:revision>
  <dcterms:created xsi:type="dcterms:W3CDTF">2025-11-07T14:47:02Z</dcterms:created>
  <dcterms:modified xsi:type="dcterms:W3CDTF">2025-11-07T15:07:44Z</dcterms:modified>
</cp:coreProperties>
</file>