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62910" y="590702"/>
            <a:ext cx="63249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953305" y="1676095"/>
            <a:ext cx="2500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智能球拍教练系统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619902" y="2771546"/>
            <a:ext cx="952805" cy="38405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667098" y="3314700"/>
            <a:ext cx="3001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从原型到可用的智能训练辅助系统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162910" y="3972154"/>
            <a:ext cx="2648102" cy="1181405"/>
          </a:xfrm>
          <a:prstGeom prst="roundRect">
            <a:avLst>
              <a:gd name="adj" fmla="val 4994"/>
            </a:avLst>
          </a:prstGeom>
          <a:solidFill>
            <a:srgbClr val="4A5568">
              <a:alpha val="3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852514" y="3972154"/>
            <a:ext cx="2180844" cy="1181405"/>
          </a:xfrm>
          <a:prstGeom prst="roundRect">
            <a:avLst>
              <a:gd name="adj" fmla="val 4994"/>
            </a:avLst>
          </a:prstGeom>
          <a:solidFill>
            <a:srgbClr val="4A5568">
              <a:alpha val="30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53105" y="417240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适用场景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42709" y="417240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团队信息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353105" y="4505249"/>
            <a:ext cx="2210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Samsung Solve for Tomorrow 评审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042709" y="4505249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VTC青年学院卓越培训中心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89397" y="5210251"/>
            <a:ext cx="933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2025年11月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210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904695" cy="721004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0" y="390449"/>
            <a:ext cx="1205179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0" y="1858061"/>
            <a:ext cx="93341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2534717"/>
            <a:ext cx="93341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3210458"/>
            <a:ext cx="93341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3887114"/>
            <a:ext cx="93341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4562856"/>
            <a:ext cx="93341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5239512"/>
            <a:ext cx="93341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5916168"/>
            <a:ext cx="93341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6591910"/>
            <a:ext cx="93341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1419149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2095805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2771546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3448202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4123944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0" y="480060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5477256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6152998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13102" y="1476756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413102" y="21524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13102" y="282915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413102" y="350489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413102" y="4181551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413102" y="48582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413102" y="55339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413102" y="621060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781605" y="1433779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設計概念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781605" y="2109521"/>
            <a:ext cx="20528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技術架構與硬體設計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781605" y="2786177"/>
            <a:ext cx="20528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軟體開發與應用系統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2781605" y="3461918"/>
            <a:ext cx="20528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特色功能：高光一刻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781605" y="4138574"/>
            <a:ext cx="20528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系統整合與用戶體驗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2781605" y="4815230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未來展望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2781605" y="5490972"/>
            <a:ext cx="13862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VTC資源優勢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2781605" y="6167628"/>
            <a:ext cx="16340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總結與行動號召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1364163" y="1462126"/>
            <a:ext cx="385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266322" y="2138782"/>
            <a:ext cx="4910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8-17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1168482" y="2814523"/>
            <a:ext cx="586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18-24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1168482" y="3491179"/>
            <a:ext cx="586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25-28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168482" y="4166921"/>
            <a:ext cx="586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29-32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1168482" y="4843577"/>
            <a:ext cx="586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33-36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1168482" y="5519318"/>
            <a:ext cx="586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37-39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1424514" y="6195974"/>
            <a:ext cx="3291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976665" y="6696151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142646" y="3219602"/>
            <a:ext cx="1643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背景與痛點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3610051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391088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項目背景與痛點分析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67609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8995" y="1790395"/>
            <a:ext cx="152705" cy="1527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04695" y="2948940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0" name="Shape 7"/>
          <p:cNvSpPr/>
          <p:nvPr/>
        </p:nvSpPr>
        <p:spPr>
          <a:xfrm>
            <a:off x="1904695" y="394746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76195" y="1676095"/>
            <a:ext cx="2229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業餘與校隊訓練痛點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476195" y="2948940"/>
            <a:ext cx="629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目標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476195" y="2124151"/>
            <a:ext cx="8940089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缺少即時量化反饋，視頻複盤費時且難以定位關鍵片段，教練難以全程陪練，技術提升曲線平緩，動作-結果缺乏即時因果關聯。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18995" y="3063240"/>
            <a:ext cx="152705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76195" y="3396996"/>
            <a:ext cx="85487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提供24/7實時反饋與個性化建議，降低學習曲線，提升訓練效率，成為球員與教練的智能助手，而非替代教練。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18995" y="4061765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476195" y="394746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設計原則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476195" y="4394606"/>
            <a:ext cx="90443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低侵入性（不影響球拍性能），隱私友好（數據本地優先），可負擔（目標成本），可量產（簡化結構），人機協作（輔助而非取代）。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904695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355934" y="6086246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196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設計靈感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14500" y="1267358"/>
            <a:ext cx="5667451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14500" y="580644"/>
            <a:ext cx="596828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設計靈感：從"盲打"到量化訓練</a:t>
            </a:r>
            <a:endParaRPr lang="en-US" sz="3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4500" y="1766621"/>
            <a:ext cx="142646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09851" y="1676095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靈感來源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009851" y="2076602"/>
            <a:ext cx="45866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個人訓練體驗與同儕反饋，發現即時量化指標與技術提升存在顯著相關性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14500" y="2896819"/>
            <a:ext cx="190195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7400" y="2806294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關鍵洞察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057400" y="3205886"/>
            <a:ext cx="44156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動作與結果之間缺少即時因果關聯，難以形成有效的肌肉記憶與技術調整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14500" y="4026103"/>
            <a:ext cx="237744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104949" y="3935578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設計策略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104949" y="4336085"/>
            <a:ext cx="44156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拍體內嵌傳感與邊緣計算，手機端可視化分析，教練協同反饋，打造閉環訓練體系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9994" b="9994"/>
          <a:stretch/>
        </p:blipFill>
        <p:spPr>
          <a:xfrm>
            <a:off x="6858000" y="1785823"/>
            <a:ext cx="4762195" cy="38103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14500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11546129" y="6086246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477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947775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4529023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方案對比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9201607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950153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三種方案對比：手機視覺 vs 手腕IMU vs 球拍傳感器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2638958"/>
            <a:ext cx="952530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04695" y="2009851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評估維度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11803" y="2024482"/>
            <a:ext cx="217718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方案A：手機視覺系統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30898" y="2024482"/>
            <a:ext cx="174833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方案B：手腕IMU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26703" y="1867205"/>
            <a:ext cx="2609698" cy="629107"/>
          </a:xfrm>
          <a:prstGeom prst="roundRect">
            <a:avLst>
              <a:gd name="adj" fmla="val 17618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969350" y="1867205"/>
            <a:ext cx="1805026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方案C：球拍傳感器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12526" y="1981505"/>
            <a:ext cx="676656" cy="495605"/>
          </a:xfrm>
          <a:prstGeom prst="roundRect">
            <a:avLst>
              <a:gd name="adj" fmla="val 14192"/>
            </a:avLst>
          </a:prstGeom>
          <a:solidFill>
            <a:srgbClr val="3182C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49686" y="2029054"/>
            <a:ext cx="50017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最終選擇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04695" y="3801161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904695" y="6105449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904695" y="3133649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數據精度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7001" y="3057754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904695" y="4286707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隱私問題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159606" y="3429000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高（可捕捉全身動作）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10298" y="3057754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686093" y="3429000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中（間接推斷拍面動作）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006901" y="4581144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敏感（需錄影、佔用場地）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826703" y="2991002"/>
            <a:ext cx="2609698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13594" y="3057754"/>
            <a:ext cx="228600" cy="2286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904695" y="4953305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290304" y="3429000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高（直接測量拍體動作）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07001" y="4209898"/>
            <a:ext cx="228600" cy="228600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10298" y="4209898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686093" y="4581144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良好（僅收集動作數據）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826703" y="4143146"/>
            <a:ext cx="2609698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013594" y="4209898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904695" y="5438851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環境依賴</a:t>
            </a:r>
            <a:endParaRPr lang="en-US" sz="15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807001" y="5362956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904695" y="6590995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成本因素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4082796" y="5734202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高（光線、背景、架設）</a:t>
            </a:r>
            <a:endParaRPr lang="en-US" sz="12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410298" y="5362956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534302" y="5734202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中（手腕與拍體不完全同步）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8826703" y="5296205"/>
            <a:ext cx="2609698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013594" y="5362956"/>
            <a:ext cx="228600" cy="228600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1904695" y="7258507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31"/>
          <p:cNvSpPr txBox="1"/>
          <p:nvPr/>
        </p:nvSpPr>
        <p:spPr>
          <a:xfrm>
            <a:off x="1904695" y="774405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使用體驗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3854196" y="8039405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較差（需架設、限制活動範圍）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9366199" y="5734202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低（任何環境均可用）</a:t>
            </a:r>
            <a:endParaRPr lang="en-US" sz="12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807001" y="6515100"/>
            <a:ext cx="228600" cy="228600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4006901" y="6886346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高（算力需求、雲端處理）</a:t>
            </a:r>
            <a:endParaRPr lang="en-US" sz="12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410298" y="6515100"/>
            <a:ext cx="228600" cy="22860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6656832" y="6886346"/>
            <a:ext cx="1858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低（利用現有手環/手錶）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8826703" y="6448349"/>
            <a:ext cx="2609698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50" name="Text 37"/>
          <p:cNvSpPr txBox="1"/>
          <p:nvPr/>
        </p:nvSpPr>
        <p:spPr>
          <a:xfrm>
            <a:off x="9137599" y="4581144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最佳（無關個人、僅限球拍）</a:t>
            </a:r>
            <a:endParaRPr lang="en-US" sz="12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013594" y="6515100"/>
            <a:ext cx="228600" cy="22860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1904695" y="8410651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39"/>
          <p:cNvSpPr txBox="1"/>
          <p:nvPr/>
        </p:nvSpPr>
        <p:spPr>
          <a:xfrm>
            <a:off x="9213494" y="6886346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中（專用硬件，但可量產）</a:t>
            </a:r>
            <a:endParaRPr lang="en-US" sz="12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807001" y="7667244"/>
            <a:ext cx="228600" cy="228600"/>
          </a:xfrm>
          <a:prstGeom prst="rect">
            <a:avLst/>
          </a:prstGeom>
        </p:spPr>
      </p:pic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410298" y="7667244"/>
            <a:ext cx="228600" cy="228600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6534302" y="8039405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一般（數據間接性導致誤差）</a:t>
            </a:r>
            <a:endParaRPr lang="en-US" sz="1200" dirty="0"/>
          </a:p>
        </p:txBody>
      </p:sp>
      <p:sp>
        <p:nvSpPr>
          <p:cNvPr id="57" name="Shape 41"/>
          <p:cNvSpPr/>
          <p:nvPr/>
        </p:nvSpPr>
        <p:spPr>
          <a:xfrm>
            <a:off x="8826703" y="7601407"/>
            <a:ext cx="2609698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013594" y="7667244"/>
            <a:ext cx="228600" cy="228600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9137599" y="8039405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最佳（無感知，不影響揮拍）</a:t>
            </a:r>
            <a:endParaRPr lang="en-US" sz="1200" dirty="0"/>
          </a:p>
        </p:txBody>
      </p:sp>
      <p:sp>
        <p:nvSpPr>
          <p:cNvPr id="60" name="Text 43"/>
          <p:cNvSpPr txBox="1"/>
          <p:nvPr/>
        </p:nvSpPr>
        <p:spPr>
          <a:xfrm>
            <a:off x="1904695" y="8706002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61" name="Text 44"/>
          <p:cNvSpPr txBox="1"/>
          <p:nvPr/>
        </p:nvSpPr>
        <p:spPr>
          <a:xfrm>
            <a:off x="11355934" y="8706002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286207" y="3219602"/>
            <a:ext cx="19293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人機協作理念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5210251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551108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人機協作理念與最終方案選擇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580998"/>
            <a:ext cx="4572000" cy="157185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6"/>
          <p:cNvSpPr/>
          <p:nvPr/>
        </p:nvSpPr>
        <p:spPr>
          <a:xfrm>
            <a:off x="1904695" y="1580998"/>
            <a:ext cx="38405" cy="1571854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1528" r="-1528" t="0" b="0"/>
          <a:stretch/>
        </p:blipFill>
        <p:spPr>
          <a:xfrm>
            <a:off x="2133295" y="1824228"/>
            <a:ext cx="161849" cy="20939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67805" y="1580998"/>
            <a:ext cx="4572000" cy="157185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6667805" y="1580998"/>
            <a:ext cx="38405" cy="157185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295144" y="1772107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協作理念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05802" y="1772107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選擇理由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33295" y="2229307"/>
            <a:ext cx="425836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不是取代教練，而是訓練輔助與決策參考。SmartRacket Coach 定位為數據收集者、模式識別者和進步追蹤者，與教練和運動員形成互補關係，提供24/7的訓練夥伴。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96405" y="1824228"/>
            <a:ext cx="209398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96405" y="2229307"/>
            <a:ext cx="4239158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球拍傳感器方案提供最直接的動作數據、隱私保護良好、環境適應性強，且能與手表/手機/雲端構建完整生態系統，同時保持低干擾性，不影響球員正常揮拍手感。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982005" y="3531413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系統角色分工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810098" y="4255618"/>
            <a:ext cx="1714500" cy="857707"/>
          </a:xfrm>
          <a:prstGeom prst="roundRect">
            <a:avLst>
              <a:gd name="adj" fmla="val 9476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53505" y="4212641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09690" y="4565599"/>
            <a:ext cx="10533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設備/AI系統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934456" y="4822546"/>
            <a:ext cx="156728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收集、分析、分類動作數據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333902" y="4848149"/>
            <a:ext cx="1714500" cy="857707"/>
          </a:xfrm>
          <a:prstGeom prst="roundRect">
            <a:avLst>
              <a:gd name="adj" fmla="val 9476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-80" r="-80" t="0" b="0"/>
          <a:stretch/>
        </p:blipFill>
        <p:spPr>
          <a:xfrm>
            <a:off x="4048049" y="4905756"/>
            <a:ext cx="2862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019702" y="5257800"/>
            <a:ext cx="471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教練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3457346" y="5514746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制定策略、優化技術細節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287207" y="4848149"/>
            <a:ext cx="1714500" cy="857707"/>
          </a:xfrm>
          <a:prstGeom prst="roundRect">
            <a:avLst>
              <a:gd name="adj" fmla="val 9476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29700" y="4905756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887054" y="5257800"/>
            <a:ext cx="643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使用者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8477402" y="5514746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個性化校準、練習執行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333695" y="5112410"/>
            <a:ext cx="19202" cy="76169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1" name="Shape 24"/>
          <p:cNvSpPr/>
          <p:nvPr/>
        </p:nvSpPr>
        <p:spPr>
          <a:xfrm>
            <a:off x="5524805" y="5875020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048402" y="5398618"/>
            <a:ext cx="819302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5124298" y="543702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數據與建議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981798" y="5112410"/>
            <a:ext cx="19202" cy="76169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5" name="Shape 28"/>
          <p:cNvSpPr/>
          <p:nvPr/>
        </p:nvSpPr>
        <p:spPr>
          <a:xfrm>
            <a:off x="7696505" y="5875020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601407" y="5398618"/>
            <a:ext cx="685800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677302" y="543702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實時反饋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952744" y="5257800"/>
            <a:ext cx="1429207" cy="192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9" name="Shape 32"/>
          <p:cNvSpPr/>
          <p:nvPr/>
        </p:nvSpPr>
        <p:spPr>
          <a:xfrm>
            <a:off x="9791395" y="5181905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124651" y="5191049"/>
            <a:ext cx="1086307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6200546" y="5229454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專業指導與調整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1904695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11355934" y="6086246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721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757214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574390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技術架構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24094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27102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技術架構總覽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1904695" y="1591056"/>
            <a:ext cx="9549079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Coach採用三層架構設計，實現從數據採集到分析反饋的完整閉環。通過低延遲BLE通信確保實時交互，數據流經過處理、分析、可視化，最終為用戶提供量化反饋。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04695" y="6796735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355934" y="6796735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67805" y="3367735"/>
            <a:ext cx="19202" cy="571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Shape 9"/>
          <p:cNvSpPr/>
          <p:nvPr/>
        </p:nvSpPr>
        <p:spPr>
          <a:xfrm>
            <a:off x="6610198" y="3939235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67805" y="4701845"/>
            <a:ext cx="19202" cy="571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0198" y="5273345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29707" y="2606040"/>
            <a:ext cx="2476195" cy="952805"/>
          </a:xfrm>
          <a:prstGeom prst="roundRect">
            <a:avLst>
              <a:gd name="adj" fmla="val 7678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53505" y="2686507"/>
            <a:ext cx="228600" cy="2286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29707" y="3939235"/>
            <a:ext cx="2476195" cy="952805"/>
          </a:xfrm>
          <a:prstGeom prst="roundRect">
            <a:avLst>
              <a:gd name="adj" fmla="val 7678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29707" y="5273345"/>
            <a:ext cx="2476195" cy="952805"/>
          </a:xfrm>
          <a:prstGeom prst="roundRect">
            <a:avLst>
              <a:gd name="adj" fmla="val 7678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324905" y="3039466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嵌入式端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806440" y="3343961"/>
            <a:ext cx="1824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 Mini + MPU-6050 IMU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6581851" y="4020617"/>
            <a:ext cx="171907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247181" y="4372661"/>
            <a:ext cx="9765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移動端App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614416" y="4678070"/>
            <a:ext cx="2214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BLE數據處理、視頻錄制、高光一刻</a:t>
            </a:r>
            <a:endParaRPr lang="en-US" sz="1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6524244" y="5353812"/>
            <a:ext cx="286207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862218" y="5706770"/>
            <a:ext cx="17483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雲端/教練端（可選）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734202" y="6011266"/>
            <a:ext cx="1967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數據存儲、群組管理、專業分析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808269" y="3653942"/>
            <a:ext cx="1533449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5884164" y="3691433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原始數據傳輸 (BLE 5.0)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001207" y="3653942"/>
            <a:ext cx="819302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077102" y="3691433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配置與控制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381598" y="4987138"/>
            <a:ext cx="952805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458407" y="5025542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訓練數據同步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001207" y="4987138"/>
            <a:ext cx="1086307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077102" y="5025542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專業分析與指導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196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技術架構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14500" y="1267358"/>
            <a:ext cx="5524805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14500" y="580644"/>
            <a:ext cx="582472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MVP阶段：Micro:bit 原型经验</a:t>
            </a:r>
            <a:endParaRPr lang="en-US" sz="3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4500" y="1766621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1676095"/>
            <a:ext cx="5861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優點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2076602"/>
            <a:ext cx="44156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上手快速：圖形化編程界面，無需嵌入式開發經驗；教學友好：豐富文檔與案例庫；社區支持：大量開源項目參考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14500" y="2896819"/>
            <a:ext cx="190195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7400" y="2806294"/>
            <a:ext cx="7955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局限性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057400" y="3205886"/>
            <a:ext cx="438637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採樣頻率僅50Hz，無法準確捕捉快速動作；算力不足（16MHz處理器，16KB RAM）；內置加速度計精度低；藍牙2.0穩定性較差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14500" y="4300423"/>
            <a:ext cx="142646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09851" y="4209898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經驗教訓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009851" y="4610405"/>
            <a:ext cx="45866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需更高採樣率（&gt;200Hz）以捕捉擊球瞬間；需穩定BLE傳輸確保無數據丟失；硬件升級不可避免，但原型驗證了基本可行性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10943" r="10943" t="0" b="0"/>
          <a:stretch/>
        </p:blipFill>
        <p:spPr>
          <a:xfrm>
            <a:off x="6858000" y="1785823"/>
            <a:ext cx="4762195" cy="38103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14500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11546129" y="6086246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6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6714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23260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硬體升級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867205"/>
            <a:ext cx="9525305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9587484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硬件升級決策：選擇 Seeed Studio XIAO ESP32-C3 Mini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2276856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8995" y="2391156"/>
            <a:ext cx="152705" cy="1527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04695" y="3548786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0" name="Shape 7"/>
          <p:cNvSpPr/>
          <p:nvPr/>
        </p:nvSpPr>
        <p:spPr>
          <a:xfrm>
            <a:off x="1904695" y="4821631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76195" y="2276856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升級理由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476195" y="3548786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性能提升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476195" y="2723998"/>
            <a:ext cx="900592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採用160MHz RISC-V單核處理器，BLE 5.0穩定連接，低功耗設計，體積極小（僅21×17.8mm），可安裝於握把末端而不影響使用手感與重量平衡。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18995" y="3663086"/>
            <a:ext cx="152705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76195" y="3996842"/>
            <a:ext cx="84728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採樣率提升至200Hz（原50Hz），足以捕捉快速揮拍動作，本地即可運行輕量決策樹模型（約50KB），RAM充足（400KB vs 原16KB），實現端側AI推斷。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18995" y="4935931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476195" y="4821631"/>
            <a:ext cx="13432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與MVP對比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476195" y="5268773"/>
            <a:ext cx="895837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相較Micro:bit，精度大幅提升，時延減少（從&gt;200ms到&lt;50ms），集成度更高，續航更長（15小時vs 5小時），且BLE 5.0連接更穩定，減少斷連和數據丟失問題。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904695" y="6093562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355934" y="6093562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00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8001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7911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硬體規格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48097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51105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核心硬件規格對比（圖表）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4700930" y="1580998"/>
            <a:ext cx="4105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 Mini vs Micro:bit 關鍵性能指標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1904695" y="2115007"/>
            <a:ext cx="9525305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73598" y="5867705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3182CE"/>
          </a:solidFill>
          <a:ln/>
        </p:spPr>
      </p:sp>
      <p:sp>
        <p:nvSpPr>
          <p:cNvPr id="10" name="Shape 7"/>
          <p:cNvSpPr/>
          <p:nvPr/>
        </p:nvSpPr>
        <p:spPr>
          <a:xfrm>
            <a:off x="7004304" y="5867705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A0AE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02198" y="582930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ESP32-C3 Mini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232904" y="5829300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Micro:bit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797150" y="6258154"/>
            <a:ext cx="857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10x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5178247" y="6258154"/>
            <a:ext cx="857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25x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7559345" y="6258154"/>
            <a:ext cx="857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16x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10041941" y="6258154"/>
            <a:ext cx="6574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4x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2562149" y="6810451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處理器速度提升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16398" y="6810451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RAM容量提升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401154" y="6810451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存儲容量提升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782251" y="6810451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採樣頻率提升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904695" y="7229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281867" y="7229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3254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1032540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142646" y="4953305"/>
            <a:ext cx="1643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傳感器規格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5591556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589147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MPU-6050 6軸IMU 傳感器規格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2581351"/>
            <a:ext cx="952530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04695" y="2009851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技術參數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21454" y="1995221"/>
            <a:ext cx="266273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加速度計 (Accelerometer)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528609" y="1995221"/>
            <a:ext cx="206288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陀螺儀 (Gyroscope)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04695" y="3924605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904695" y="3076956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測量範圍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054" y="3000146"/>
            <a:ext cx="228600" cy="2286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904695" y="5257800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904695" y="6591910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904695" y="4410151"/>
            <a:ext cx="1286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精度與靈敏度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463186" y="3323844"/>
            <a:ext cx="2334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可調：±2g / ±4g / ±8g / ±16g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552444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（選用±8g最適合揮拍動作）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63456" y="3000146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904695" y="7077456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採樣頻率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8049463" y="33238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可調：±250 / ±500 / ±1000 / ±2000 °/s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375904" y="3552444"/>
            <a:ext cx="2324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（選用±1000°/s適合旋腕動作）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58054" y="4334256"/>
            <a:ext cx="228600" cy="2286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904695" y="7925105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035601" y="465795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16位元ADC輸出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561027" y="4886554"/>
            <a:ext cx="2143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靈敏度：2g模式下4096 LSB/g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63456" y="4334256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904695" y="5743346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噪聲與漂移控制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8941003" y="465795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16位元ADC輸出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269834" y="4886554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靈敏度：250°/s模式下131 LSB/(°/s)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58054" y="5667451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522622" y="5991149"/>
            <a:ext cx="2220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數字低通濾波器：5-260Hz可調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4535424" y="6219749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零點漂移：±50mg（校準後）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63456" y="5667451"/>
            <a:ext cx="228600" cy="2286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1904695" y="9258300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1904695" y="8410651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安裝與校準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8428025" y="5991149"/>
            <a:ext cx="2220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數字低通濾波器：5-260Hz可調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8374075" y="6219749"/>
            <a:ext cx="2324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零點漂移：±20°/h（靜置狀態）</a:t>
            </a:r>
            <a:endParaRPr lang="en-US" sz="12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58054" y="7000646"/>
            <a:ext cx="228600" cy="2286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4567428" y="7324344"/>
            <a:ext cx="2124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最高1kHz（實際使用200Hz）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4585716" y="7552944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對應5ms間隔，捕獲快速動作</a:t>
            </a:r>
            <a:endParaRPr lang="en-US" sz="12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363456" y="7000646"/>
            <a:ext cx="228600" cy="22860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472830" y="7324344"/>
            <a:ext cx="2124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最高8kHz（實際使用200Hz）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8791042" y="7552944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與加速度計同步採樣</a:t>
            </a:r>
            <a:endParaRPr lang="en-US" sz="12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458054" y="8334756"/>
            <a:ext cx="228600" cy="2286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4529938" y="8658454"/>
            <a:ext cx="2200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重力校準：靜置校準（XYZ軸）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4789627" y="8887054"/>
            <a:ext cx="1686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溫漂補償：±0.02%/°C</a:t>
            </a:r>
            <a:endParaRPr lang="en-US" sz="120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-80" r="-80" t="0" b="0"/>
          <a:stretch/>
        </p:blipFill>
        <p:spPr>
          <a:xfrm>
            <a:off x="9334195" y="8334756"/>
            <a:ext cx="286207" cy="22860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8436254" y="8658454"/>
            <a:ext cx="2200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零偏修正：靜置採樣100次平均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8695030" y="8887054"/>
            <a:ext cx="1686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溫漂補償：±0.03%/°C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1904695" y="9553651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52" name="Text 40"/>
          <p:cNvSpPr txBox="1"/>
          <p:nvPr/>
        </p:nvSpPr>
        <p:spPr>
          <a:xfrm>
            <a:off x="11281867" y="9553651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196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電源管理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3610051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391088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電源管理與續航策略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67609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2009851" y="1790395"/>
            <a:ext cx="171907" cy="1527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04695" y="2948940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0" name="Shape 7"/>
          <p:cNvSpPr/>
          <p:nvPr/>
        </p:nvSpPr>
        <p:spPr>
          <a:xfrm>
            <a:off x="1904695" y="422178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76195" y="167609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供電方案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476195" y="294894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智能休眠策略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476195" y="2124151"/>
            <a:ext cx="89684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採用標準CR2032紐扣電池供電，易於更換且市場普及。單個電池能量密度高，體積小，重量輕（約3克），安裝於握把末端不影響平衡性。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00" b="-100"/>
          <a:stretch/>
        </p:blipFill>
        <p:spPr>
          <a:xfrm>
            <a:off x="2038198" y="3063240"/>
            <a:ext cx="114300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76195" y="3396996"/>
            <a:ext cx="892088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採用動作觸發喚醒機制，系統檢測到5秒無活動自動進入light-sleep模式，BLE連接休眠但保持快速喚醒能力。震動檢測電路保持低功耗監控，有效降低90%待機功耗。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18995" y="4336085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476195" y="422178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續航數據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476195" y="4668926"/>
            <a:ext cx="903518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主動訓練模式：約15小時連續使用；間歇訓練：≈一週（每天2小時）；待機模式：3-4個月。批量BLE傳輸、時鐘門控和事件驱動采樣等策略顯著提升續航表現。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904695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281867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73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10573207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5076749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電源方案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89245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92253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無線充電方案探索：Coin Cell 與 Supercapacitor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2581351"/>
            <a:ext cx="952530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04695" y="2009851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評估維度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19195" y="1867205"/>
            <a:ext cx="3905402" cy="571500"/>
          </a:xfrm>
          <a:prstGeom prst="roundRect">
            <a:avLst>
              <a:gd name="adj" fmla="val 21333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035247" y="1995221"/>
            <a:ext cx="251002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路線A：紐扣電池+可更換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193024" y="1995221"/>
            <a:ext cx="272948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路線B：超級電容+無線充電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85255" y="2052828"/>
            <a:ext cx="724205" cy="295351"/>
          </a:xfrm>
          <a:prstGeom prst="roundRect">
            <a:avLst>
              <a:gd name="adj" fmla="val 39948"/>
            </a:avLst>
          </a:prstGeom>
          <a:solidFill>
            <a:srgbClr val="3182C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80353" y="210037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當前方案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04695" y="3743554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4695" y="6048756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904695" y="3076956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供電穩定性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04695" y="4229100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續航能力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19195" y="2933395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054" y="3000146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904695" y="538124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用戶體驗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304995" y="3372307"/>
            <a:ext cx="2648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高（CR2032電壓穩定，3V輸出恆定）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63456" y="3000146"/>
            <a:ext cx="228600" cy="2286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904695" y="4896612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0"/>
          <p:cNvSpPr/>
          <p:nvPr/>
        </p:nvSpPr>
        <p:spPr>
          <a:xfrm>
            <a:off x="3619195" y="4086454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8410651" y="3372307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中（充電狀態影響供電穩定性）</a:t>
            </a:r>
            <a:endParaRPr lang="en-US" sz="12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58054" y="4153205"/>
            <a:ext cx="228600" cy="2286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619195" y="5238598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4401922" y="4524451"/>
            <a:ext cx="245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優秀（light-sleep模式下3-4個月）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63456" y="4153205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105242" y="4524451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較短（需頻繁充電，但突發傳輸性能好）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58054" y="5305349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166006" y="5676595"/>
            <a:ext cx="293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需手動更換電池（頻率低，3-4個月一次）</a:t>
            </a:r>
            <a:endParaRPr lang="en-US" sz="12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63456" y="5305349"/>
            <a:ext cx="228600" cy="2286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1904695" y="7200900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27"/>
          <p:cNvSpPr/>
          <p:nvPr/>
        </p:nvSpPr>
        <p:spPr>
          <a:xfrm>
            <a:off x="1904695" y="8353958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1904695" y="6534302"/>
            <a:ext cx="1286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突發傳輸能力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1904695" y="7686446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設計複雜度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904695" y="8839505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重量與平衡</a:t>
            </a:r>
            <a:endParaRPr lang="en-US" sz="1500" dirty="0"/>
          </a:p>
        </p:txBody>
      </p:sp>
      <p:sp>
        <p:nvSpPr>
          <p:cNvPr id="39" name="Shape 31"/>
          <p:cNvSpPr/>
          <p:nvPr/>
        </p:nvSpPr>
        <p:spPr>
          <a:xfrm>
            <a:off x="3619195" y="6391656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8182051" y="5676595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便捷（放置充電板上即可，無需拆卸）</a:t>
            </a:r>
            <a:endParaRPr lang="en-US" sz="12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58054" y="6458407"/>
            <a:ext cx="228600" cy="22860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3619195" y="7543800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3" name="Text 34"/>
          <p:cNvSpPr txBox="1"/>
          <p:nvPr/>
        </p:nvSpPr>
        <p:spPr>
          <a:xfrm>
            <a:off x="4293108" y="6829654"/>
            <a:ext cx="267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中（BLE傳輸峰值功耗影響電池壽命）</a:t>
            </a:r>
            <a:endParaRPr lang="en-US" sz="12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363456" y="6458407"/>
            <a:ext cx="228600" cy="22860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800746" y="6829654"/>
            <a:ext cx="3477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優秀（超級電容快速放電特性適合資料突發傳輸）</a:t>
            </a:r>
            <a:endParaRPr lang="en-US" sz="12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458054" y="7610551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4352544" y="7981798"/>
            <a:ext cx="256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簡單（標準電池座，無需充電電路）</a:t>
            </a:r>
            <a:endParaRPr lang="en-US" sz="120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363456" y="7610551"/>
            <a:ext cx="228600" cy="228600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1904695" y="9506102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Shape 38"/>
          <p:cNvSpPr/>
          <p:nvPr/>
        </p:nvSpPr>
        <p:spPr>
          <a:xfrm>
            <a:off x="3619195" y="8695944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51" name="Text 39"/>
          <p:cNvSpPr txBox="1"/>
          <p:nvPr/>
        </p:nvSpPr>
        <p:spPr>
          <a:xfrm>
            <a:off x="8029346" y="7981798"/>
            <a:ext cx="3020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複雜（需整合線圈、充電管理、電容平衡）</a:t>
            </a:r>
            <a:endParaRPr lang="en-US" sz="1200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458054" y="8762695"/>
            <a:ext cx="228600" cy="228600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4120286" y="9134856"/>
            <a:ext cx="3020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輕巧（CR2032僅3克，對拍體平衡影響小）</a:t>
            </a:r>
            <a:endParaRPr lang="en-US" sz="12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363456" y="8762695"/>
            <a:ext cx="228600" cy="22860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8182051" y="9134856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較重（線圈與超級電容組合增加重量）</a:t>
            </a:r>
            <a:endParaRPr lang="en-US" sz="1200" dirty="0"/>
          </a:p>
        </p:txBody>
      </p:sp>
      <p:sp>
        <p:nvSpPr>
          <p:cNvPr id="56" name="Text 42"/>
          <p:cNvSpPr txBox="1"/>
          <p:nvPr/>
        </p:nvSpPr>
        <p:spPr>
          <a:xfrm>
            <a:off x="1904695" y="9801454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57" name="Text 43"/>
          <p:cNvSpPr txBox="1"/>
          <p:nvPr/>
        </p:nvSpPr>
        <p:spPr>
          <a:xfrm>
            <a:off x="11281867" y="9801454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196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硬體設計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14500" y="1267358"/>
            <a:ext cx="57241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14500" y="580644"/>
            <a:ext cx="60249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CNC 铝合金外壳与重量平衡设计</a:t>
            </a:r>
            <a:endParaRPr lang="en-US" sz="3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4500" y="1766621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1676095"/>
            <a:ext cx="12152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CNC精加工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2076602"/>
            <a:ext cx="44156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采用航空级铝合金材料，通过CNC精密加工，确保结构强度与耐冲击性，同时保持轻量化设计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14500" y="2896819"/>
            <a:ext cx="237744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04949" y="2806294"/>
            <a:ext cx="12152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打孔与配重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104949" y="3205886"/>
            <a:ext cx="44156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精心设计打孔位置，确保电子元件安装后球拍整体重心平衡，不影响挥拍手感与击球稳定性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14500" y="4026103"/>
            <a:ext cx="190195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57400" y="3935578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人体工学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057400" y="4336085"/>
            <a:ext cx="44156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侧键位置经过精确计算，确保拇指可轻松触及；握把表面经特殊处理，防滑且舒适，长时间使用不疲劳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9994" b="9994"/>
          <a:stretch/>
        </p:blipFill>
        <p:spPr>
          <a:xfrm>
            <a:off x="6858000" y="1785823"/>
            <a:ext cx="4762195" cy="38103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14500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11472062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73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10573207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5076749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位置優化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6010351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631118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安裝位置優化：從拍面到握把末端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2581351"/>
            <a:ext cx="952530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04695" y="2009851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評估維度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1995221"/>
            <a:ext cx="217718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方案A：拍面震動耦合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24598" y="1867205"/>
            <a:ext cx="3905402" cy="571500"/>
          </a:xfrm>
          <a:prstGeom prst="roundRect">
            <a:avLst>
              <a:gd name="adj" fmla="val 21333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997342" y="1995221"/>
            <a:ext cx="239572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方案B：握把末端穩定性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33965" y="2052828"/>
            <a:ext cx="724205" cy="295351"/>
          </a:xfrm>
          <a:prstGeom prst="roundRect">
            <a:avLst>
              <a:gd name="adj" fmla="val 39948"/>
            </a:avLst>
          </a:prstGeom>
          <a:solidFill>
            <a:srgbClr val="3182C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29062" y="210037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最終選擇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04695" y="3743554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4695" y="4896612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904695" y="3076956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數據穩定性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054" y="3000146"/>
            <a:ext cx="228600" cy="2286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904695" y="6048756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904695" y="4229100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拍體平衡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809744" y="3372307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較差（受震動干擾大）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657954" y="4524451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影響重心（改變擊球手感）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524598" y="2933395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63456" y="3000146"/>
            <a:ext cx="228600" cy="2286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524598" y="4086454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8639251" y="3372307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良好（數據一致性提高）</a:t>
            </a:r>
            <a:endParaRPr lang="en-US" sz="12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58054" y="4153205"/>
            <a:ext cx="228600" cy="22860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63456" y="4153205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904695" y="538124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峰值檢測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8486546" y="4524451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幾乎無影響（保持原有手感）</a:t>
            </a:r>
            <a:endParaRPr lang="en-US" sz="12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58054" y="5305349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733849" y="5676595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不穩定（多個峰值疊加）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7524598" y="5238598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63456" y="5305349"/>
            <a:ext cx="228600" cy="2286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1904695" y="7200900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1904695" y="6534302"/>
            <a:ext cx="715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誤觸率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8486546" y="5676595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清晰（單一主峰值易於識別）</a:t>
            </a:r>
            <a:endParaRPr lang="en-US" sz="12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58054" y="6458407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809744" y="6829654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中高（易受碰撞激活）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7524598" y="6391656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363456" y="6458407"/>
            <a:ext cx="228600" cy="228600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1904695" y="8353958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32"/>
          <p:cNvSpPr txBox="1"/>
          <p:nvPr/>
        </p:nvSpPr>
        <p:spPr>
          <a:xfrm>
            <a:off x="1904695" y="7686446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低頻噪聲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1904695" y="8839505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使用舒適度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8562442" y="6829654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極低（誤觸風險顯著降低）</a:t>
            </a:r>
            <a:endParaRPr lang="en-US" sz="12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458054" y="7610551"/>
            <a:ext cx="228600" cy="2286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4809744" y="7981798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明顯（需要額外濾波）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4809744" y="9134856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較差（影響握持手感）</a:t>
            </a:r>
            <a:endParaRPr lang="en-US" sz="1200" dirty="0"/>
          </a:p>
        </p:txBody>
      </p:sp>
      <p:sp>
        <p:nvSpPr>
          <p:cNvPr id="48" name="Shape 37"/>
          <p:cNvSpPr/>
          <p:nvPr/>
        </p:nvSpPr>
        <p:spPr>
          <a:xfrm>
            <a:off x="7524598" y="7543800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363456" y="7610551"/>
            <a:ext cx="228600" cy="228600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1904695" y="9506102"/>
            <a:ext cx="95253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Shape 39"/>
          <p:cNvSpPr/>
          <p:nvPr/>
        </p:nvSpPr>
        <p:spPr>
          <a:xfrm>
            <a:off x="7524598" y="8695944"/>
            <a:ext cx="3905402" cy="666598"/>
          </a:xfrm>
          <a:prstGeom prst="roundRect">
            <a:avLst>
              <a:gd name="adj" fmla="val 15677"/>
            </a:avLst>
          </a:prstGeom>
          <a:solidFill>
            <a:srgbClr val="3182CE">
              <a:alpha val="10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52" name="Text 40"/>
          <p:cNvSpPr txBox="1"/>
          <p:nvPr/>
        </p:nvSpPr>
        <p:spPr>
          <a:xfrm>
            <a:off x="8484718" y="7981798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微小（實測信噪比提升40%）</a:t>
            </a:r>
            <a:endParaRPr lang="en-US" sz="1200" dirty="0"/>
          </a:p>
        </p:txBody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458054" y="8762695"/>
            <a:ext cx="228600" cy="228600"/>
          </a:xfrm>
          <a:prstGeom prst="rect">
            <a:avLst/>
          </a:prstGeom>
        </p:spPr>
      </p:pic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363456" y="8762695"/>
            <a:ext cx="228600" cy="22860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8639251" y="9134856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極佳（無感知使用體驗）</a:t>
            </a:r>
            <a:endParaRPr lang="en-US" sz="1200" dirty="0"/>
          </a:p>
        </p:txBody>
      </p:sp>
      <p:sp>
        <p:nvSpPr>
          <p:cNvPr id="56" name="Text 42"/>
          <p:cNvSpPr txBox="1"/>
          <p:nvPr/>
        </p:nvSpPr>
        <p:spPr>
          <a:xfrm>
            <a:off x="1904695" y="9801454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57" name="Text 43"/>
          <p:cNvSpPr txBox="1"/>
          <p:nvPr/>
        </p:nvSpPr>
        <p:spPr>
          <a:xfrm>
            <a:off x="11281867" y="9801454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43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75438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286207" y="3559759"/>
            <a:ext cx="19293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硬件算法创新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40096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43104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硬件算法与创新点汇总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67609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2000707" y="1790395"/>
            <a:ext cx="190195" cy="1527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04695" y="2948940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0" name="Shape 7"/>
          <p:cNvSpPr/>
          <p:nvPr/>
        </p:nvSpPr>
        <p:spPr>
          <a:xfrm>
            <a:off x="1904695" y="422178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1" name="Shape 8"/>
          <p:cNvSpPr/>
          <p:nvPr/>
        </p:nvSpPr>
        <p:spPr>
          <a:xfrm>
            <a:off x="1904695" y="549371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476195" y="167609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信号滤波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476195" y="294894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击球峰值检测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476195" y="2124151"/>
            <a:ext cx="894923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一阶/二阶低通滤波器，去除高频噪声，提高信号质量，优化传感器数据。针对不同动作类型实现自适应滤波参数，改善弱信号识别。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18995" y="3063240"/>
            <a:ext cx="15270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476195" y="3396996"/>
            <a:ext cx="902512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基于阈值和微分算法识别动作峰值，准确定位击球瞬间，支持200Hz高频采样，能捕捉快速动作细节，动态阈值调整适应不同力度。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18995" y="4336085"/>
            <a:ext cx="152705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476195" y="422178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特征提取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2476195" y="549371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端侧推断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2476195" y="4668926"/>
            <a:ext cx="89684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从原始数据提取8个关键特征：陀螺仪峰值、加速度峰值、能量比、动作时长、频域能量比、击球节奏、手腕旋转角、击球窗口等，构建动作指纹。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18995" y="5608015"/>
            <a:ext cx="152705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476195" y="5941771"/>
            <a:ext cx="895837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轻量决策树模型（~50KB），可在ESP32上实时评分与分类，无需云连接。个性化校准后准确率从65%提升至85%，支持动作识别与实时反馈。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904695" y="6766560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智能球拍教练系统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1281867" y="676656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341986" y="3219602"/>
            <a:ext cx="20436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軟件/系統架構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3362249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366308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軟件/系統架構總覽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580998"/>
            <a:ext cx="4572000" cy="157185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6"/>
          <p:cNvSpPr/>
          <p:nvPr/>
        </p:nvSpPr>
        <p:spPr>
          <a:xfrm>
            <a:off x="1904695" y="1580998"/>
            <a:ext cx="38405" cy="1571854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461" r="-461" t="0" b="0"/>
          <a:stretch/>
        </p:blipFill>
        <p:spPr>
          <a:xfrm>
            <a:off x="2133295" y="1824228"/>
            <a:ext cx="237744" cy="20939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67805" y="1580998"/>
            <a:ext cx="4572000" cy="157185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6667805" y="1580998"/>
            <a:ext cx="38405" cy="157185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71954" y="1772107"/>
            <a:ext cx="1424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多層架構設計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05802" y="1772107"/>
            <a:ext cx="16340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安全與隱私策略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33295" y="2229307"/>
            <a:ext cx="4219956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嵌入式韌體（Arduino/C++）→ BLE通訊協議 → 移動應用(Flutter) → 雲端服務(可選)，形成完整數據採集分析流水線，確保用戶體驗流暢和數據安全。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96405" y="1824228"/>
            <a:ext cx="209398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96405" y="2229307"/>
            <a:ext cx="4239158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本地優先處理、最小化數據上傳、用戶完全控制雲端分享。所有訓練數據默認存儲在本地，僅經用戶確認後才進行雲端同步，保障數據安全與隱私。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982005" y="3531413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系統數據流向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619902" y="4350715"/>
            <a:ext cx="2095805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53505" y="4360774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152998" y="4712818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嵌入式韌體層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776265" y="4969764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 + MPU-6050 + Arduino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619902" y="5588813"/>
            <a:ext cx="2095805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6489" b="-16489"/>
          <a:stretch/>
        </p:blipFill>
        <p:spPr>
          <a:xfrm>
            <a:off x="6581851" y="5598871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251753" y="5950915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BLE通訊層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131052" y="6207862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BLE 5.0 GATT服務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619902" y="6826910"/>
            <a:ext cx="2095805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133" r="-133" t="0" b="0"/>
          <a:stretch/>
        </p:blipFill>
        <p:spPr>
          <a:xfrm>
            <a:off x="6581851" y="683696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238951" y="7189013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移動應用層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127394" y="7446874"/>
            <a:ext cx="11859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Flutter跨平台應用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619902" y="8065922"/>
            <a:ext cx="2095805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6524244" y="8075066"/>
            <a:ext cx="286207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238951" y="8427110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雲端服務層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938114" y="8684971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可選Firebase或自建服務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657746" y="5112410"/>
            <a:ext cx="19202" cy="4764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5" name="Shape 27"/>
          <p:cNvSpPr/>
          <p:nvPr/>
        </p:nvSpPr>
        <p:spPr>
          <a:xfrm>
            <a:off x="6610198" y="5588813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144207" y="5208422"/>
            <a:ext cx="685800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7220102" y="5245913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感測數據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657746" y="6351422"/>
            <a:ext cx="19202" cy="4764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9" name="Shape 31"/>
          <p:cNvSpPr/>
          <p:nvPr/>
        </p:nvSpPr>
        <p:spPr>
          <a:xfrm>
            <a:off x="6610198" y="6826910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144207" y="6446520"/>
            <a:ext cx="685800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7220102" y="648401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動作特徵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657746" y="7589520"/>
            <a:ext cx="19202" cy="4764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3" name="Shape 35"/>
          <p:cNvSpPr/>
          <p:nvPr/>
        </p:nvSpPr>
        <p:spPr>
          <a:xfrm>
            <a:off x="6610198" y="8065922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7144207" y="7684618"/>
            <a:ext cx="952805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7220102" y="7723022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用戶選擇同步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181344" y="7589520"/>
            <a:ext cx="19202" cy="4764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7" name="Shape 39"/>
          <p:cNvSpPr/>
          <p:nvPr/>
        </p:nvSpPr>
        <p:spPr>
          <a:xfrm>
            <a:off x="6133795" y="7113118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5238598" y="7398410"/>
            <a:ext cx="685800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5315407" y="743681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教練反饋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6181344" y="6351422"/>
            <a:ext cx="19202" cy="4764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1" name="Shape 43"/>
          <p:cNvSpPr/>
          <p:nvPr/>
        </p:nvSpPr>
        <p:spPr>
          <a:xfrm>
            <a:off x="6133795" y="5875020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5238598" y="6160313"/>
            <a:ext cx="666598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5315407" y="6198718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App配置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6181344" y="5112410"/>
            <a:ext cx="19202" cy="4764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5" name="Shape 47"/>
          <p:cNvSpPr/>
          <p:nvPr/>
        </p:nvSpPr>
        <p:spPr>
          <a:xfrm>
            <a:off x="6133795" y="4636922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5238598" y="4922215"/>
            <a:ext cx="685800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5315407" y="496062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固件更新</a:t>
            </a:r>
            <a:endParaRPr lang="en-US" sz="1000" dirty="0"/>
          </a:p>
        </p:txBody>
      </p:sp>
      <p:sp>
        <p:nvSpPr>
          <p:cNvPr id="58" name="Shape 50"/>
          <p:cNvSpPr/>
          <p:nvPr/>
        </p:nvSpPr>
        <p:spPr>
          <a:xfrm>
            <a:off x="8591702" y="4636922"/>
            <a:ext cx="1133856" cy="286207"/>
          </a:xfrm>
          <a:prstGeom prst="roundRect">
            <a:avLst>
              <a:gd name="adj" fmla="val 170394"/>
            </a:avLst>
          </a:prstGeom>
          <a:solidFill>
            <a:srgbClr val="E6FFFA"/>
          </a:solidFill>
          <a:ln w="12700">
            <a:solidFill>
              <a:srgbClr val="38B2AC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695944" y="4727448"/>
            <a:ext cx="114300" cy="114300"/>
          </a:xfrm>
          <a:prstGeom prst="rect">
            <a:avLst/>
          </a:prstGeom>
        </p:spPr>
      </p:pic>
      <p:sp>
        <p:nvSpPr>
          <p:cNvPr id="60" name="Shape 51"/>
          <p:cNvSpPr/>
          <p:nvPr/>
        </p:nvSpPr>
        <p:spPr>
          <a:xfrm>
            <a:off x="8706002" y="5875020"/>
            <a:ext cx="1019556" cy="286207"/>
          </a:xfrm>
          <a:prstGeom prst="roundRect">
            <a:avLst>
              <a:gd name="adj" fmla="val 170394"/>
            </a:avLst>
          </a:prstGeom>
          <a:solidFill>
            <a:srgbClr val="E6FFFA"/>
          </a:solidFill>
          <a:ln w="12700">
            <a:solidFill>
              <a:srgbClr val="38B2AC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61" name="Text 52"/>
          <p:cNvSpPr txBox="1"/>
          <p:nvPr/>
        </p:nvSpPr>
        <p:spPr>
          <a:xfrm>
            <a:off x="8810244" y="4693615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7A7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滤波與特徵提取</a:t>
            </a:r>
            <a:endParaRPr lang="en-US" sz="900" dirty="0"/>
          </a:p>
        </p:txBody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810244" y="5965546"/>
            <a:ext cx="114300" cy="114300"/>
          </a:xfrm>
          <a:prstGeom prst="rect">
            <a:avLst/>
          </a:prstGeom>
        </p:spPr>
      </p:pic>
      <p:sp>
        <p:nvSpPr>
          <p:cNvPr id="63" name="Shape 53"/>
          <p:cNvSpPr/>
          <p:nvPr/>
        </p:nvSpPr>
        <p:spPr>
          <a:xfrm>
            <a:off x="3619195" y="7113118"/>
            <a:ext cx="1019556" cy="286207"/>
          </a:xfrm>
          <a:prstGeom prst="roundRect">
            <a:avLst>
              <a:gd name="adj" fmla="val 170394"/>
            </a:avLst>
          </a:prstGeom>
          <a:solidFill>
            <a:srgbClr val="E6FFFA"/>
          </a:solidFill>
          <a:ln w="12700">
            <a:solidFill>
              <a:srgbClr val="38B2AC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64" name="Text 54"/>
          <p:cNvSpPr txBox="1"/>
          <p:nvPr/>
        </p:nvSpPr>
        <p:spPr>
          <a:xfrm>
            <a:off x="8924544" y="5931713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7A7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批量傳輸優化</a:t>
            </a:r>
            <a:endParaRPr lang="en-US" sz="900" dirty="0"/>
          </a:p>
        </p:txBody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724351" y="7203643"/>
            <a:ext cx="114300" cy="114300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3838651" y="7169810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7A7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高光一刻录制</a:t>
            </a:r>
            <a:endParaRPr lang="en-US" sz="900" dirty="0"/>
          </a:p>
        </p:txBody>
      </p:sp>
      <p:sp>
        <p:nvSpPr>
          <p:cNvPr id="67" name="Shape 56"/>
          <p:cNvSpPr/>
          <p:nvPr/>
        </p:nvSpPr>
        <p:spPr>
          <a:xfrm>
            <a:off x="8676742" y="7684618"/>
            <a:ext cx="1047902" cy="286207"/>
          </a:xfrm>
          <a:prstGeom prst="roundRect">
            <a:avLst>
              <a:gd name="adj" fmla="val 170394"/>
            </a:avLst>
          </a:prstGeom>
          <a:solidFill>
            <a:srgbClr val="FEEBC8"/>
          </a:solidFill>
          <a:ln w="12700">
            <a:solidFill>
              <a:srgbClr val="DD6B2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0" b="-80"/>
          <a:stretch/>
        </p:blipFill>
        <p:spPr>
          <a:xfrm>
            <a:off x="8781898" y="7775143"/>
            <a:ext cx="142646" cy="114300"/>
          </a:xfrm>
          <a:prstGeom prst="rect">
            <a:avLst/>
          </a:prstGeom>
        </p:spPr>
      </p:pic>
      <p:sp>
        <p:nvSpPr>
          <p:cNvPr id="69" name="Shape 57"/>
          <p:cNvSpPr/>
          <p:nvPr/>
        </p:nvSpPr>
        <p:spPr>
          <a:xfrm>
            <a:off x="3619195" y="5208422"/>
            <a:ext cx="1019556" cy="286207"/>
          </a:xfrm>
          <a:prstGeom prst="roundRect">
            <a:avLst>
              <a:gd name="adj" fmla="val 170394"/>
            </a:avLst>
          </a:prstGeom>
          <a:solidFill>
            <a:srgbClr val="FEEBC8"/>
          </a:solidFill>
          <a:ln w="12700">
            <a:solidFill>
              <a:srgbClr val="DD6B2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70" name="Text 58"/>
          <p:cNvSpPr txBox="1"/>
          <p:nvPr/>
        </p:nvSpPr>
        <p:spPr>
          <a:xfrm>
            <a:off x="8924544" y="7741310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42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用戶授權控制</a:t>
            </a:r>
            <a:endParaRPr lang="en-US" sz="900" dirty="0"/>
          </a:p>
        </p:txBody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724351" y="5298948"/>
            <a:ext cx="114300" cy="114300"/>
          </a:xfrm>
          <a:prstGeom prst="rect">
            <a:avLst/>
          </a:prstGeom>
        </p:spPr>
      </p:pic>
      <p:sp>
        <p:nvSpPr>
          <p:cNvPr id="72" name="Text 59"/>
          <p:cNvSpPr txBox="1"/>
          <p:nvPr/>
        </p:nvSpPr>
        <p:spPr>
          <a:xfrm>
            <a:off x="3838651" y="5265115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42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本地處理優先</a:t>
            </a:r>
            <a:endParaRPr lang="en-US" sz="900" dirty="0"/>
          </a:p>
        </p:txBody>
      </p:sp>
      <p:sp>
        <p:nvSpPr>
          <p:cNvPr id="73" name="Text 60"/>
          <p:cNvSpPr txBox="1"/>
          <p:nvPr/>
        </p:nvSpPr>
        <p:spPr>
          <a:xfrm>
            <a:off x="1904695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74" name="Text 61"/>
          <p:cNvSpPr txBox="1"/>
          <p:nvPr/>
        </p:nvSpPr>
        <p:spPr>
          <a:xfrm>
            <a:off x="11281867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341986" y="3219602"/>
            <a:ext cx="20436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時間線/里程碑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32095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35103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開發里程碑時間線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2490826" y="2200046"/>
            <a:ext cx="19202" cy="38130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8" name="Shape 6"/>
          <p:cNvSpPr/>
          <p:nvPr/>
        </p:nvSpPr>
        <p:spPr>
          <a:xfrm>
            <a:off x="3681374" y="2200046"/>
            <a:ext cx="19202" cy="38130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9" name="Shape 7"/>
          <p:cNvSpPr/>
          <p:nvPr/>
        </p:nvSpPr>
        <p:spPr>
          <a:xfrm>
            <a:off x="7253021" y="2200046"/>
            <a:ext cx="19202" cy="38130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0" name="Shape 8"/>
          <p:cNvSpPr/>
          <p:nvPr/>
        </p:nvSpPr>
        <p:spPr>
          <a:xfrm>
            <a:off x="8443570" y="2200046"/>
            <a:ext cx="19202" cy="38130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Shape 9"/>
          <p:cNvSpPr/>
          <p:nvPr/>
        </p:nvSpPr>
        <p:spPr>
          <a:xfrm>
            <a:off x="2262226" y="1962302"/>
            <a:ext cx="476402" cy="476402"/>
          </a:xfrm>
          <a:prstGeom prst="ellipse">
            <a:avLst/>
          </a:prstGeom>
          <a:solidFill>
            <a:srgbClr val="EBF8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1528" r="-1528" t="0" b="0"/>
          <a:stretch/>
        </p:blipFill>
        <p:spPr>
          <a:xfrm>
            <a:off x="2419502" y="2095805"/>
            <a:ext cx="161849" cy="20939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62472" y="2200046"/>
            <a:ext cx="19202" cy="38130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2774" y="1962302"/>
            <a:ext cx="476402" cy="476402"/>
          </a:xfrm>
          <a:prstGeom prst="ellipse">
            <a:avLst/>
          </a:prstGeom>
          <a:solidFill>
            <a:srgbClr val="EBF8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33872" y="1962302"/>
            <a:ext cx="476402" cy="476402"/>
          </a:xfrm>
          <a:prstGeom prst="ellipse">
            <a:avLst/>
          </a:prstGeom>
          <a:solidFill>
            <a:srgbClr val="EBF8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24421" y="1962302"/>
            <a:ext cx="476402" cy="476402"/>
          </a:xfrm>
          <a:prstGeom prst="ellipse">
            <a:avLst/>
          </a:prstGeom>
          <a:solidFill>
            <a:srgbClr val="EBF8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14970" y="1962302"/>
            <a:ext cx="476402" cy="476402"/>
          </a:xfrm>
          <a:prstGeom prst="ellipse">
            <a:avLst/>
          </a:prstGeom>
          <a:solidFill>
            <a:srgbClr val="EBF8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195474" y="2562149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概念驗證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190342" y="2562149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Micro:bit 原型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966874" y="2845613"/>
            <a:ext cx="11676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痛點分析與構想提出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86277" y="2095805"/>
            <a:ext cx="209398" cy="20939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871923" y="2200046"/>
            <a:ext cx="19202" cy="38130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3" name="Shape 19"/>
          <p:cNvSpPr/>
          <p:nvPr/>
        </p:nvSpPr>
        <p:spPr>
          <a:xfrm>
            <a:off x="4643323" y="1962302"/>
            <a:ext cx="476402" cy="476402"/>
          </a:xfrm>
          <a:prstGeom prst="ellipse">
            <a:avLst/>
          </a:prstGeom>
          <a:solidFill>
            <a:srgbClr val="EBF8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3157423" y="2845613"/>
            <a:ext cx="11676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簡易傳感與數據採集</a:t>
            </a:r>
            <a:endParaRPr lang="en-US" sz="1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-1004" r="-1004" t="0" b="0"/>
          <a:stretch/>
        </p:blipFill>
        <p:spPr>
          <a:xfrm>
            <a:off x="4748479" y="2095805"/>
            <a:ext cx="267005" cy="20939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345229" y="2562149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ESP32板級驗證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347972" y="2845613"/>
            <a:ext cx="11676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硬體升級與性能提升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-1528" r="-1528" t="0" b="0"/>
          <a:stretch/>
        </p:blipFill>
        <p:spPr>
          <a:xfrm>
            <a:off x="5991149" y="2095805"/>
            <a:ext cx="161849" cy="20939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518404" y="2562149"/>
            <a:ext cx="12289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 Inventor初版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60743" y="2562149"/>
            <a:ext cx="924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Flutter重構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548579" y="3044038"/>
            <a:ext cx="1148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快速App原型開發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795821" y="2845613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跨平台應用開發</a:t>
            </a:r>
            <a:endParaRPr lang="en-US" sz="1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-461" r="-461" t="0" b="0"/>
          <a:stretch/>
        </p:blipFill>
        <p:spPr>
          <a:xfrm>
            <a:off x="8334756" y="2095805"/>
            <a:ext cx="237744" cy="20939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9634118" y="2200046"/>
            <a:ext cx="19202" cy="38130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5" name="Shape 28"/>
          <p:cNvSpPr/>
          <p:nvPr/>
        </p:nvSpPr>
        <p:spPr>
          <a:xfrm>
            <a:off x="10825582" y="2200046"/>
            <a:ext cx="19202" cy="38130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6" name="Shape 29"/>
          <p:cNvSpPr/>
          <p:nvPr/>
        </p:nvSpPr>
        <p:spPr>
          <a:xfrm>
            <a:off x="9405518" y="1962302"/>
            <a:ext cx="476402" cy="476402"/>
          </a:xfrm>
          <a:prstGeom prst="ellipse">
            <a:avLst/>
          </a:prstGeom>
          <a:solidFill>
            <a:srgbClr val="EBF8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10596982" y="1962302"/>
            <a:ext cx="476402" cy="476402"/>
          </a:xfrm>
          <a:prstGeom prst="ellipse">
            <a:avLst/>
          </a:prstGeom>
          <a:solidFill>
            <a:srgbClr val="EBF8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8" name="Text 31"/>
          <p:cNvSpPr txBox="1"/>
          <p:nvPr/>
        </p:nvSpPr>
        <p:spPr>
          <a:xfrm>
            <a:off x="8007401" y="2562149"/>
            <a:ext cx="1010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BLE協議定版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8053121" y="2845613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穩定通訊架構</a:t>
            </a:r>
            <a:endParaRPr lang="en-US" sz="10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539021" y="2095805"/>
            <a:ext cx="209398" cy="20939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231782" y="2562149"/>
            <a:ext cx="943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ML模型迭代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10265054" y="2562149"/>
            <a:ext cx="1257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Galaxy Watch整合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108338" y="2845613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提升至85%準確率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10301630" y="3044038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生理數據融合分析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5105095" y="4654296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EBF8FF"/>
          </a:solidFill>
          <a:ln/>
        </p:spPr>
      </p:sp>
      <p:sp>
        <p:nvSpPr>
          <p:cNvPr id="46" name="Shape 38"/>
          <p:cNvSpPr/>
          <p:nvPr/>
        </p:nvSpPr>
        <p:spPr>
          <a:xfrm>
            <a:off x="6286500" y="4654296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E9D8FD"/>
          </a:solidFill>
          <a:ln/>
        </p:spPr>
      </p:sp>
      <p:sp>
        <p:nvSpPr>
          <p:cNvPr id="47" name="Shape 39"/>
          <p:cNvSpPr/>
          <p:nvPr/>
        </p:nvSpPr>
        <p:spPr>
          <a:xfrm>
            <a:off x="7467905" y="4654296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FEFCBF"/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5333695" y="463052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硬體里程碑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6515100" y="463052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軟體里程碑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7696505" y="463052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系統整合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1904695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11281867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1904695" y="2247595"/>
            <a:ext cx="9525305" cy="38405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54" name="Shape 46"/>
          <p:cNvSpPr/>
          <p:nvPr/>
        </p:nvSpPr>
        <p:spPr>
          <a:xfrm>
            <a:off x="2286000" y="3621024"/>
            <a:ext cx="190195" cy="190195"/>
          </a:xfrm>
          <a:prstGeom prst="ellipse">
            <a:avLst/>
          </a:prstGeom>
          <a:solidFill>
            <a:srgbClr val="3182CE"/>
          </a:solidFill>
          <a:ln/>
          <a:effectLst>
            <a:outerShdw sx="100000" sy="100000" kx="0" ky="0" algn="bl" rotWithShape="0" blurRad="12700" dist="12700" dir="16200000">
              <a:srgbClr val="ebf8ff">
                <a:alpha val="100000"/>
              </a:srgbClr>
            </a:outerShdw>
          </a:effectLst>
        </p:spPr>
      </p:sp>
      <p:sp>
        <p:nvSpPr>
          <p:cNvPr id="55" name="Shape 47"/>
          <p:cNvSpPr/>
          <p:nvPr/>
        </p:nvSpPr>
        <p:spPr>
          <a:xfrm>
            <a:off x="3510382" y="3621024"/>
            <a:ext cx="190195" cy="190195"/>
          </a:xfrm>
          <a:prstGeom prst="ellipse">
            <a:avLst/>
          </a:prstGeom>
          <a:solidFill>
            <a:srgbClr val="3182CE"/>
          </a:solidFill>
          <a:ln/>
          <a:effectLst>
            <a:outerShdw sx="100000" sy="100000" kx="0" ky="0" algn="bl" rotWithShape="0" blurRad="12700" dist="12700" dir="16200000">
              <a:srgbClr val="ebf8ff">
                <a:alpha val="100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4734763" y="3621024"/>
            <a:ext cx="190195" cy="190195"/>
          </a:xfrm>
          <a:prstGeom prst="ellipse">
            <a:avLst/>
          </a:prstGeom>
          <a:solidFill>
            <a:srgbClr val="3182CE"/>
          </a:solidFill>
          <a:ln/>
          <a:effectLst>
            <a:outerShdw sx="100000" sy="100000" kx="0" ky="0" algn="bl" rotWithShape="0" blurRad="12700" dist="12700" dir="16200000">
              <a:srgbClr val="ebf8ff">
                <a:alpha val="100000"/>
              </a:srgbClr>
            </a:outerShdw>
          </a:effectLst>
        </p:spPr>
      </p:sp>
      <p:sp>
        <p:nvSpPr>
          <p:cNvPr id="57" name="Shape 49"/>
          <p:cNvSpPr/>
          <p:nvPr/>
        </p:nvSpPr>
        <p:spPr>
          <a:xfrm>
            <a:off x="5960059" y="3621024"/>
            <a:ext cx="190195" cy="190195"/>
          </a:xfrm>
          <a:prstGeom prst="ellipse">
            <a:avLst/>
          </a:prstGeom>
          <a:solidFill>
            <a:srgbClr val="3182CE"/>
          </a:solidFill>
          <a:ln/>
          <a:effectLst>
            <a:outerShdw sx="100000" sy="100000" kx="0" ky="0" algn="bl" rotWithShape="0" blurRad="12700" dist="12700" dir="16200000">
              <a:srgbClr val="ebf8ff">
                <a:alpha val="100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7184441" y="3621024"/>
            <a:ext cx="190195" cy="190195"/>
          </a:xfrm>
          <a:prstGeom prst="ellipse">
            <a:avLst/>
          </a:prstGeom>
          <a:solidFill>
            <a:srgbClr val="3182CE"/>
          </a:solidFill>
          <a:ln/>
          <a:effectLst>
            <a:outerShdw sx="100000" sy="100000" kx="0" ky="0" algn="bl" rotWithShape="0" blurRad="12700" dist="12700" dir="16200000">
              <a:srgbClr val="ebf8ff">
                <a:alpha val="100000"/>
              </a:srgbClr>
            </a:outerShdw>
          </a:effectLst>
        </p:spPr>
      </p:sp>
      <p:sp>
        <p:nvSpPr>
          <p:cNvPr id="59" name="Shape 51"/>
          <p:cNvSpPr/>
          <p:nvPr/>
        </p:nvSpPr>
        <p:spPr>
          <a:xfrm>
            <a:off x="8408822" y="3621024"/>
            <a:ext cx="190195" cy="190195"/>
          </a:xfrm>
          <a:prstGeom prst="ellipse">
            <a:avLst/>
          </a:prstGeom>
          <a:solidFill>
            <a:srgbClr val="3182CE"/>
          </a:solidFill>
          <a:ln/>
          <a:effectLst>
            <a:outerShdw sx="100000" sy="100000" kx="0" ky="0" algn="bl" rotWithShape="0" blurRad="12700" dist="12700" dir="16200000">
              <a:srgbClr val="ebf8ff">
                <a:alpha val="100000"/>
              </a:srgbClr>
            </a:outerShdw>
          </a:effectLst>
        </p:spPr>
      </p:sp>
      <p:sp>
        <p:nvSpPr>
          <p:cNvPr id="60" name="Shape 52"/>
          <p:cNvSpPr/>
          <p:nvPr/>
        </p:nvSpPr>
        <p:spPr>
          <a:xfrm>
            <a:off x="9633204" y="3621024"/>
            <a:ext cx="190195" cy="190195"/>
          </a:xfrm>
          <a:prstGeom prst="ellipse">
            <a:avLst/>
          </a:prstGeom>
          <a:solidFill>
            <a:srgbClr val="3182CE"/>
          </a:solidFill>
          <a:ln/>
          <a:effectLst>
            <a:outerShdw sx="100000" sy="100000" kx="0" ky="0" algn="bl" rotWithShape="0" blurRad="12700" dist="12700" dir="16200000">
              <a:srgbClr val="ebf8ff">
                <a:alpha val="100000"/>
              </a:srgbClr>
            </a:outerShdw>
          </a:effectLst>
        </p:spPr>
      </p:sp>
      <p:sp>
        <p:nvSpPr>
          <p:cNvPr id="61" name="Shape 53"/>
          <p:cNvSpPr/>
          <p:nvPr/>
        </p:nvSpPr>
        <p:spPr>
          <a:xfrm>
            <a:off x="10857586" y="3621024"/>
            <a:ext cx="190195" cy="190195"/>
          </a:xfrm>
          <a:prstGeom prst="ellipse">
            <a:avLst/>
          </a:prstGeom>
          <a:solidFill>
            <a:srgbClr val="3182CE"/>
          </a:solidFill>
          <a:ln/>
          <a:effectLst>
            <a:outerShdw sx="100000" sy="100000" kx="0" ky="0" algn="bl" rotWithShape="0" blurRad="12700" dist="12700" dir="16200000">
              <a:srgbClr val="ebf8ff">
                <a:alpha val="100000"/>
              </a:srgbClr>
            </a:outerShdw>
          </a:effectLst>
        </p:spPr>
      </p:sp>
      <p:sp>
        <p:nvSpPr>
          <p:cNvPr id="62" name="Text 54"/>
          <p:cNvSpPr txBox="1"/>
          <p:nvPr/>
        </p:nvSpPr>
        <p:spPr>
          <a:xfrm>
            <a:off x="2054657" y="395478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2024年2月</a:t>
            </a: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3279038" y="395478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2024年4月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4503420" y="395478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2024年5月</a:t>
            </a:r>
            <a:endParaRPr lang="en-US" sz="1000" dirty="0"/>
          </a:p>
        </p:txBody>
      </p:sp>
      <p:sp>
        <p:nvSpPr>
          <p:cNvPr id="65" name="Text 57"/>
          <p:cNvSpPr txBox="1"/>
          <p:nvPr/>
        </p:nvSpPr>
        <p:spPr>
          <a:xfrm>
            <a:off x="5727802" y="395478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2024年6月</a:t>
            </a:r>
            <a:endParaRPr lang="en-US" sz="1000" dirty="0"/>
          </a:p>
        </p:txBody>
      </p:sp>
      <p:sp>
        <p:nvSpPr>
          <p:cNvPr id="66" name="Text 58"/>
          <p:cNvSpPr txBox="1"/>
          <p:nvPr/>
        </p:nvSpPr>
        <p:spPr>
          <a:xfrm>
            <a:off x="6953098" y="395478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2024年7月</a:t>
            </a:r>
            <a:endParaRPr lang="en-US" sz="1000" dirty="0"/>
          </a:p>
        </p:txBody>
      </p:sp>
      <p:sp>
        <p:nvSpPr>
          <p:cNvPr id="67" name="Text 59"/>
          <p:cNvSpPr txBox="1"/>
          <p:nvPr/>
        </p:nvSpPr>
        <p:spPr>
          <a:xfrm>
            <a:off x="8177479" y="395478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2024年8月</a:t>
            </a:r>
            <a:endParaRPr lang="en-US" sz="1000" dirty="0"/>
          </a:p>
        </p:txBody>
      </p:sp>
      <p:sp>
        <p:nvSpPr>
          <p:cNvPr id="68" name="Text 60"/>
          <p:cNvSpPr txBox="1"/>
          <p:nvPr/>
        </p:nvSpPr>
        <p:spPr>
          <a:xfrm>
            <a:off x="9401861" y="395478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2024年9月</a:t>
            </a:r>
            <a:endParaRPr lang="en-US" sz="1000" dirty="0"/>
          </a:p>
        </p:txBody>
      </p:sp>
      <p:sp>
        <p:nvSpPr>
          <p:cNvPr id="69" name="Text 61"/>
          <p:cNvSpPr txBox="1"/>
          <p:nvPr/>
        </p:nvSpPr>
        <p:spPr>
          <a:xfrm>
            <a:off x="10587838" y="395478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2024年11月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196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軟件開發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14500" y="1267358"/>
            <a:ext cx="7372807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14500" y="580644"/>
            <a:ext cx="767273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初期應用：MIT App Inventor經驗與局限</a:t>
            </a:r>
            <a:endParaRPr lang="en-US" sz="3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648" r="-1648" t="0" b="0"/>
          <a:stretch/>
        </p:blipFill>
        <p:spPr>
          <a:xfrm>
            <a:off x="1714500" y="1766621"/>
            <a:ext cx="171907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38198" y="1676095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快速原型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038198" y="2076602"/>
            <a:ext cx="442478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使用拖拽式模塊化開發，無需編寫傳統代碼即可完成UI搭建、BLE通信和基本功能驗證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14500" y="2896819"/>
            <a:ext cx="190195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7400" y="2806294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性能局限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057400" y="3205886"/>
            <a:ext cx="44156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視頻處理能力受限，組件擴展性不足，高幀率數據處理卡頓，複雜BLE協議難以實現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14500" y="4026103"/>
            <a:ext cx="142646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09851" y="3935578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遷移啟示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009851" y="4336085"/>
            <a:ext cx="443392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原型驗證後需轉向專業開發框架，Flutter提供跨平台統一體驗，原生插件API更適合高性能應用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10943" r="10943" t="0" b="0"/>
          <a:stretch/>
        </p:blipFill>
        <p:spPr>
          <a:xfrm>
            <a:off x="6858000" y="1785823"/>
            <a:ext cx="4762195" cy="38103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14500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11472062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142646" y="3219602"/>
            <a:ext cx="1643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跨平台開發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4229100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452993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Flutter 跨平台應用架構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67609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2029054" y="1790395"/>
            <a:ext cx="133502" cy="1527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04695" y="2948940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0" name="Shape 7"/>
          <p:cNvSpPr/>
          <p:nvPr/>
        </p:nvSpPr>
        <p:spPr>
          <a:xfrm>
            <a:off x="1904695" y="422178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76195" y="1676095"/>
            <a:ext cx="31720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單一代碼庫覆蓋 iOS/Android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476195" y="2948940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模組化設計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476195" y="2124151"/>
            <a:ext cx="90443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採用Flutter框架實現"一次編碼，多端運行"，共享UI組件與業務邏輯，自研BLE插件實現與ESP32 Mini穩定連接，降低70%開發維護成本。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2009851" y="3063240"/>
            <a:ext cx="171907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76195" y="3396996"/>
            <a:ext cx="89300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應用分為四大核心模組：實時數據分析頁、訓練記錄管理、高光視頻收藏與編輯、教練視圖（遠程指導）。採用MVVM架構分離UI與業務邏輯，提高可維護性。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18995" y="4336085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476195" y="422178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性能優化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476195" y="4668926"/>
            <a:ext cx="907267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採用異步流處理傳感器數據，Isolate多線程計算避免UI卡頓，內存優化確保高光視頻緩衝區穩定運行。針對不同設備進行自適應界面設計，支持平板大屏顯示。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904695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281867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1729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8172907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877056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通訊協議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3933749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423458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BLE 5.0 通信协议设计</a:t>
            </a:r>
            <a:endParaRPr lang="en-US" sz="3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4" b="-44"/>
          <a:stretch/>
        </p:blipFill>
        <p:spPr>
          <a:xfrm>
            <a:off x="1904695" y="1638605"/>
            <a:ext cx="256946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62556" y="1580998"/>
            <a:ext cx="22576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GATT 服务/特征结构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904695" y="2066544"/>
            <a:ext cx="2857500" cy="2018995"/>
          </a:xfrm>
          <a:prstGeom prst="roundRect">
            <a:avLst>
              <a:gd name="adj" fmla="val 1709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38598" y="2066544"/>
            <a:ext cx="2857500" cy="2018995"/>
          </a:xfrm>
          <a:prstGeom prst="roundRect">
            <a:avLst>
              <a:gd name="adj" fmla="val 1709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572500" y="2066544"/>
            <a:ext cx="2857500" cy="2018995"/>
          </a:xfrm>
          <a:prstGeom prst="roundRect">
            <a:avLst>
              <a:gd name="adj" fmla="val 1709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66544" y="2534717"/>
            <a:ext cx="2533802" cy="914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00446" y="2534717"/>
            <a:ext cx="2533802" cy="914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4" name="Shape 11"/>
          <p:cNvSpPr/>
          <p:nvPr/>
        </p:nvSpPr>
        <p:spPr>
          <a:xfrm>
            <a:off x="8734349" y="2534717"/>
            <a:ext cx="2533802" cy="914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819095" y="2229307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数据传输服务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152998" y="2229307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事件触发服务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486900" y="2229307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配置管理服务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066544" y="2638044"/>
            <a:ext cx="2533802" cy="3520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9" name="Shape 16"/>
          <p:cNvSpPr/>
          <p:nvPr/>
        </p:nvSpPr>
        <p:spPr>
          <a:xfrm>
            <a:off x="2066544" y="2638044"/>
            <a:ext cx="28346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Shape 17"/>
          <p:cNvSpPr/>
          <p:nvPr/>
        </p:nvSpPr>
        <p:spPr>
          <a:xfrm>
            <a:off x="2066544" y="3066898"/>
            <a:ext cx="2533802" cy="3520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1" name="Shape 18"/>
          <p:cNvSpPr/>
          <p:nvPr/>
        </p:nvSpPr>
        <p:spPr>
          <a:xfrm>
            <a:off x="2066544" y="3066898"/>
            <a:ext cx="28346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Shape 19"/>
          <p:cNvSpPr/>
          <p:nvPr/>
        </p:nvSpPr>
        <p:spPr>
          <a:xfrm>
            <a:off x="2066544" y="3495751"/>
            <a:ext cx="2533802" cy="3520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3" name="Shape 20"/>
          <p:cNvSpPr/>
          <p:nvPr/>
        </p:nvSpPr>
        <p:spPr>
          <a:xfrm>
            <a:off x="2066544" y="3495751"/>
            <a:ext cx="28346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Shape 21"/>
          <p:cNvSpPr/>
          <p:nvPr/>
        </p:nvSpPr>
        <p:spPr>
          <a:xfrm>
            <a:off x="5400446" y="2638044"/>
            <a:ext cx="2533802" cy="3520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5" name="Shape 22"/>
          <p:cNvSpPr/>
          <p:nvPr/>
        </p:nvSpPr>
        <p:spPr>
          <a:xfrm>
            <a:off x="5400446" y="2638044"/>
            <a:ext cx="28346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6" name="Shape 23"/>
          <p:cNvSpPr/>
          <p:nvPr/>
        </p:nvSpPr>
        <p:spPr>
          <a:xfrm>
            <a:off x="5400446" y="3066898"/>
            <a:ext cx="2533802" cy="3520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00446" y="3066898"/>
            <a:ext cx="28346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Shape 25"/>
          <p:cNvSpPr/>
          <p:nvPr/>
        </p:nvSpPr>
        <p:spPr>
          <a:xfrm>
            <a:off x="5400446" y="3495751"/>
            <a:ext cx="2533802" cy="3520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9" name="Shape 26"/>
          <p:cNvSpPr/>
          <p:nvPr/>
        </p:nvSpPr>
        <p:spPr>
          <a:xfrm>
            <a:off x="5400446" y="3495751"/>
            <a:ext cx="28346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0" name="Shape 27"/>
          <p:cNvSpPr/>
          <p:nvPr/>
        </p:nvSpPr>
        <p:spPr>
          <a:xfrm>
            <a:off x="8734349" y="2638044"/>
            <a:ext cx="2533802" cy="3520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1" name="Shape 28"/>
          <p:cNvSpPr/>
          <p:nvPr/>
        </p:nvSpPr>
        <p:spPr>
          <a:xfrm>
            <a:off x="8734349" y="2638044"/>
            <a:ext cx="28346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2" name="Shape 29"/>
          <p:cNvSpPr/>
          <p:nvPr/>
        </p:nvSpPr>
        <p:spPr>
          <a:xfrm>
            <a:off x="8734349" y="3066898"/>
            <a:ext cx="2533802" cy="3520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3" name="Shape 30"/>
          <p:cNvSpPr/>
          <p:nvPr/>
        </p:nvSpPr>
        <p:spPr>
          <a:xfrm>
            <a:off x="8734349" y="3066898"/>
            <a:ext cx="28346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4" name="Shape 31"/>
          <p:cNvSpPr/>
          <p:nvPr/>
        </p:nvSpPr>
        <p:spPr>
          <a:xfrm>
            <a:off x="8734349" y="3495751"/>
            <a:ext cx="2533802" cy="3520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5" name="Shape 32"/>
          <p:cNvSpPr/>
          <p:nvPr/>
        </p:nvSpPr>
        <p:spPr>
          <a:xfrm>
            <a:off x="8734349" y="3495751"/>
            <a:ext cx="28346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171700" y="271485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传感器数据特征 (可通知)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2171700" y="3143707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校准参数特征 (读/写)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2171700" y="3571646"/>
            <a:ext cx="14246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批量数据特征 (可指示)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505602" y="2714854"/>
            <a:ext cx="14246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高光一刻特征 (可通知)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5505602" y="3143707"/>
            <a:ext cx="14246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按键状态特征 (可通知)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5505602" y="3571646"/>
            <a:ext cx="1614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电量状态特征 (可通知/读)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839505" y="2714854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设备参数特征 (读/写)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8839505" y="3143707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采样频率特征 (读/写)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8839505" y="3571646"/>
            <a:ext cx="12911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固件版本特征 (只读)</a:t>
            </a:r>
            <a:endParaRPr lang="en-US" sz="100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04695" y="4947818"/>
            <a:ext cx="228600" cy="228600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2133295" y="4891126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数据打包方案</a:t>
            </a:r>
            <a:endParaRPr lang="en-US" sz="1800" dirty="0"/>
          </a:p>
        </p:txBody>
      </p:sp>
      <p:sp>
        <p:nvSpPr>
          <p:cNvPr id="47" name="Shape 43"/>
          <p:cNvSpPr/>
          <p:nvPr/>
        </p:nvSpPr>
        <p:spPr>
          <a:xfrm>
            <a:off x="3504895" y="4562856"/>
            <a:ext cx="571500" cy="381305"/>
          </a:xfrm>
          <a:prstGeom prst="rect">
            <a:avLst/>
          </a:prstGeom>
          <a:solidFill>
            <a:srgbClr val="BEE3F8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3657600" y="4653382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类型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4076395" y="4562856"/>
            <a:ext cx="571500" cy="381305"/>
          </a:xfrm>
          <a:prstGeom prst="rect">
            <a:avLst/>
          </a:prstGeom>
          <a:solidFill>
            <a:srgbClr val="C6F6D5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4229100" y="4653382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长度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647895" y="4562856"/>
            <a:ext cx="4019702" cy="381305"/>
          </a:xfrm>
          <a:prstGeom prst="rect">
            <a:avLst/>
          </a:prstGeom>
          <a:solidFill>
            <a:srgbClr val="E9D8FD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259068" y="4653382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数据值 (变长)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8852306" y="4572000"/>
            <a:ext cx="23554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采用二进制 TLV (类型-长度-值) 结构</a:t>
            </a:r>
            <a:endParaRPr lang="en-US" sz="1100" dirty="0"/>
          </a:p>
        </p:txBody>
      </p:sp>
      <p:sp>
        <p:nvSpPr>
          <p:cNvPr id="54" name="Text 50"/>
          <p:cNvSpPr txBox="1"/>
          <p:nvPr/>
        </p:nvSpPr>
        <p:spPr>
          <a:xfrm>
            <a:off x="8852306" y="4876495"/>
            <a:ext cx="16888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支持批量发送与数据压缩</a:t>
            </a:r>
            <a:endParaRPr lang="en-US" sz="1100" dirty="0"/>
          </a:p>
        </p:txBody>
      </p:sp>
      <p:sp>
        <p:nvSpPr>
          <p:cNvPr id="55" name="Text 51"/>
          <p:cNvSpPr txBox="1"/>
          <p:nvPr/>
        </p:nvSpPr>
        <p:spPr>
          <a:xfrm>
            <a:off x="8852306" y="5181905"/>
            <a:ext cx="21845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时延目标 &lt; 50ms，优化电量消耗</a:t>
            </a:r>
            <a:endParaRPr lang="en-US" sz="1100" dirty="0"/>
          </a:p>
        </p:txBody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904695" y="6415430"/>
            <a:ext cx="228600" cy="228600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2133295" y="6357823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抗丢包机制</a:t>
            </a:r>
            <a:endParaRPr lang="en-US" sz="1800" dirty="0"/>
          </a:p>
        </p:txBody>
      </p:sp>
      <p:sp>
        <p:nvSpPr>
          <p:cNvPr id="58" name="Shape 53"/>
          <p:cNvSpPr/>
          <p:nvPr/>
        </p:nvSpPr>
        <p:spPr>
          <a:xfrm>
            <a:off x="3467405" y="6277356"/>
            <a:ext cx="1143000" cy="476402"/>
          </a:xfrm>
          <a:prstGeom prst="roundRect">
            <a:avLst>
              <a:gd name="adj" fmla="val 19194"/>
            </a:avLst>
          </a:prstGeom>
          <a:solidFill>
            <a:srgbClr val="E2E8F0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3810305" y="64008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</a:t>
            </a:r>
            <a:endParaRPr lang="en-US" sz="1200" dirty="0"/>
          </a:p>
        </p:txBody>
      </p:sp>
      <p:sp>
        <p:nvSpPr>
          <p:cNvPr id="60" name="Shape 55"/>
          <p:cNvSpPr/>
          <p:nvPr/>
        </p:nvSpPr>
        <p:spPr>
          <a:xfrm>
            <a:off x="5924398" y="6277356"/>
            <a:ext cx="1143000" cy="476402"/>
          </a:xfrm>
          <a:prstGeom prst="roundRect">
            <a:avLst>
              <a:gd name="adj" fmla="val 19194"/>
            </a:avLst>
          </a:prstGeom>
          <a:solidFill>
            <a:srgbClr val="E2E8F0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6183173" y="6400800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手机 App</a:t>
            </a:r>
            <a:endParaRPr lang="en-US" sz="1200" dirty="0"/>
          </a:p>
        </p:txBody>
      </p:sp>
      <p:sp>
        <p:nvSpPr>
          <p:cNvPr id="62" name="Shape 57"/>
          <p:cNvSpPr/>
          <p:nvPr/>
        </p:nvSpPr>
        <p:spPr>
          <a:xfrm>
            <a:off x="4705502" y="6372454"/>
            <a:ext cx="1123798" cy="192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3" name="Shape 58"/>
          <p:cNvSpPr/>
          <p:nvPr/>
        </p:nvSpPr>
        <p:spPr>
          <a:xfrm>
            <a:off x="4705502" y="6657746"/>
            <a:ext cx="1123798" cy="1920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4" name="Shape 59"/>
          <p:cNvSpPr/>
          <p:nvPr/>
        </p:nvSpPr>
        <p:spPr>
          <a:xfrm>
            <a:off x="4794199" y="6229807"/>
            <a:ext cx="952805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4860950" y="6267298"/>
            <a:ext cx="905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6CB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数据包 [SEQ=N]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4859122" y="6515100"/>
            <a:ext cx="819302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4924958" y="6553505"/>
            <a:ext cx="771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F85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ACK [SEQ=N]</a:t>
            </a:r>
            <a:endParaRPr lang="en-US" sz="900" dirty="0"/>
          </a:p>
        </p:txBody>
      </p:sp>
      <p:sp>
        <p:nvSpPr>
          <p:cNvPr id="68" name="Text 63"/>
          <p:cNvSpPr txBox="1"/>
          <p:nvPr/>
        </p:nvSpPr>
        <p:spPr>
          <a:xfrm>
            <a:off x="7448702" y="6001207"/>
            <a:ext cx="15462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使用序列号标记包顺序</a:t>
            </a:r>
            <a:endParaRPr lang="en-US" sz="1100" dirty="0"/>
          </a:p>
        </p:txBody>
      </p:sp>
      <p:sp>
        <p:nvSpPr>
          <p:cNvPr id="69" name="Text 64"/>
          <p:cNvSpPr txBox="1"/>
          <p:nvPr/>
        </p:nvSpPr>
        <p:spPr>
          <a:xfrm>
            <a:off x="7448702" y="6305702"/>
            <a:ext cx="15361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超时自动重传 (250ms)</a:t>
            </a:r>
            <a:endParaRPr lang="en-US" sz="1100" dirty="0"/>
          </a:p>
        </p:txBody>
      </p:sp>
      <p:sp>
        <p:nvSpPr>
          <p:cNvPr id="70" name="Text 65"/>
          <p:cNvSpPr txBox="1"/>
          <p:nvPr/>
        </p:nvSpPr>
        <p:spPr>
          <a:xfrm>
            <a:off x="7448702" y="6610198"/>
            <a:ext cx="12600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指数退避重传策略</a:t>
            </a:r>
            <a:endParaRPr lang="en-US" sz="1100" dirty="0"/>
          </a:p>
        </p:txBody>
      </p:sp>
      <p:sp>
        <p:nvSpPr>
          <p:cNvPr id="71" name="Text 66"/>
          <p:cNvSpPr txBox="1"/>
          <p:nvPr/>
        </p:nvSpPr>
        <p:spPr>
          <a:xfrm>
            <a:off x="7448702" y="6915607"/>
            <a:ext cx="15837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关键数据 ACK 确认机制</a:t>
            </a:r>
            <a:endParaRPr lang="en-US" sz="1100" dirty="0"/>
          </a:p>
        </p:txBody>
      </p:sp>
      <p:sp>
        <p:nvSpPr>
          <p:cNvPr id="72" name="Text 67"/>
          <p:cNvSpPr txBox="1"/>
          <p:nvPr/>
        </p:nvSpPr>
        <p:spPr>
          <a:xfrm>
            <a:off x="1904695" y="7401154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11281867" y="7401154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00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8001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7911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機器學習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48097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51105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機器學習模型迭代（圖表）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067605" y="1580998"/>
            <a:ext cx="3372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決策樹分類模型準確率提升過程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1904695" y="2115007"/>
            <a:ext cx="9525305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52644" y="5867705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3182CE"/>
          </a:solidFill>
          <a:ln/>
        </p:spPr>
      </p:sp>
      <p:sp>
        <p:nvSpPr>
          <p:cNvPr id="10" name="Shape 7"/>
          <p:cNvSpPr/>
          <p:nvPr/>
        </p:nvSpPr>
        <p:spPr>
          <a:xfrm>
            <a:off x="6581851" y="5867705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4FD1C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81244" y="5829300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測試集準確率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10451" y="5829300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個性化校準後準確率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728570" y="6258154"/>
            <a:ext cx="1000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65%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5008169" y="6258154"/>
            <a:ext cx="12006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+20%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7490765" y="6258154"/>
            <a:ext cx="1000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85%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9802368" y="6258154"/>
            <a:ext cx="11338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50KB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2714854" y="6810451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初始準確率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5951" y="6810451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準確率提升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401154" y="6810451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校準後準確率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934042" y="6810451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模型體積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904695" y="7229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281867" y="7229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624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716249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367735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機器學習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40096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43104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特征工程与个性化校准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67609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8995" y="1790395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476195" y="1676095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关键特征提取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76195" y="2247595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23998" y="2210105"/>
            <a:ext cx="2410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峰值角速度（陀螺仪数据最高点）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53558" y="2247595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00446" y="2210105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线加速度（三轴合成值）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2476195" y="2619756"/>
            <a:ext cx="114300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686507" y="2581351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动作时长（从起始到结束）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5153558" y="2619756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2476195" y="5111496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校准效果与成果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5382158" y="2581351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能量阈值（加速度平方和）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2476195" y="2991002"/>
            <a:ext cx="190195" cy="152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2762402" y="2952598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频域能量比（不同频段能量）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153558" y="2991002"/>
            <a:ext cx="152705" cy="1527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400446" y="2952598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击球节奏（连续动作间隔）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476195" y="3362249"/>
            <a:ext cx="152705" cy="152705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904695" y="3838651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5" name="Text 15"/>
          <p:cNvSpPr txBox="1"/>
          <p:nvPr/>
        </p:nvSpPr>
        <p:spPr>
          <a:xfrm>
            <a:off x="2723998" y="3323844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手腕旋转角（角速度积分）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153558" y="3362249"/>
            <a:ext cx="152705" cy="15270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5400446" y="3323844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击球窗口（峰值前后平均能量）</a:t>
            </a:r>
            <a:endParaRPr lang="en-US" sz="12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018995" y="3952951"/>
            <a:ext cx="152705" cy="152705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1904695" y="5111496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30" name="Text 18"/>
          <p:cNvSpPr txBox="1"/>
          <p:nvPr/>
        </p:nvSpPr>
        <p:spPr>
          <a:xfrm>
            <a:off x="2476195" y="3838651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个性化校准流程</a:t>
            </a:r>
            <a:endParaRPr lang="en-US" sz="1800" dirty="0"/>
          </a:p>
        </p:txBody>
      </p:sp>
      <p:sp>
        <p:nvSpPr>
          <p:cNvPr id="31" name="Text 19"/>
          <p:cNvSpPr txBox="1"/>
          <p:nvPr/>
        </p:nvSpPr>
        <p:spPr>
          <a:xfrm>
            <a:off x="2476195" y="4286707"/>
            <a:ext cx="906353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新用户首次使用需完成10次标准动作采集，系统基于此建立个人评分基准和动作特征库。校准过程中系统会提示用户调整姿势和力度，确保数据覆盖不同场景。校准数据存储于设备本地，保障隐私安全。</a:t>
            </a:r>
            <a:endParaRPr lang="en-US" sz="13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rcRect l="-33" r="-33" t="0" b="0"/>
          <a:stretch/>
        </p:blipFill>
        <p:spPr>
          <a:xfrm>
            <a:off x="2009851" y="5225796"/>
            <a:ext cx="171907" cy="152705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2476195" y="5558638"/>
            <a:ext cx="9054389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个性化校准后，系统识别准确率从通用模型的65-70%提升至83-85%。误报率下降40%，特别是在区分相似动作（如正手攻与正手弧圈）方面表现显著。用户反馈校准后的评分更符合自我感知和教练评价。</a:t>
            </a:r>
            <a:endParaRPr lang="en-US" sz="1300" dirty="0"/>
          </a:p>
        </p:txBody>
      </p:sp>
      <p:sp>
        <p:nvSpPr>
          <p:cNvPr id="34" name="Text 21"/>
          <p:cNvSpPr txBox="1"/>
          <p:nvPr/>
        </p:nvSpPr>
        <p:spPr>
          <a:xfrm>
            <a:off x="1904695" y="638342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35" name="Text 22"/>
          <p:cNvSpPr txBox="1"/>
          <p:nvPr/>
        </p:nvSpPr>
        <p:spPr>
          <a:xfrm>
            <a:off x="11281867" y="638342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196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特色功能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14500" y="1267358"/>
            <a:ext cx="81244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14500" y="580644"/>
            <a:ext cx="84252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特色功能：高光一刻（Instant Replay 思路）</a:t>
            </a:r>
            <a:endParaRPr lang="en-US" sz="3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4500" y="1766621"/>
            <a:ext cx="142646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09851" y="1676095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灵感来源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009851" y="2076602"/>
            <a:ext cx="4596689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源自NVIDIA Instant Replay游戏录屏技术，我们将此概念应用于运动训练场景，解决传统录像耗时问题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14500" y="2896819"/>
            <a:ext cx="190195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7400" y="2806294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057400" y="3205886"/>
            <a:ext cx="45107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一键保存最近3分钟训练精彩片段，无需手动查找剪辑，瞬间回顾关键动作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14500" y="4026103"/>
            <a:ext cx="142646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09851" y="3935578"/>
            <a:ext cx="12152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价值与应用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009851" y="4336085"/>
            <a:ext cx="45866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训练高效率、社交分享、教练点评三大应用场景，极大节省内容创作时间与存储空间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9994" b="9994"/>
          <a:stretch/>
        </p:blipFill>
        <p:spPr>
          <a:xfrm>
            <a:off x="6858000" y="1785823"/>
            <a:ext cx="4762195" cy="38103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14500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11472062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286207" y="3219602"/>
            <a:ext cx="19293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高光一刻功能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5438851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573968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高光一刻實現：3分鐘循環緩衝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580998"/>
            <a:ext cx="4572000" cy="157185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6"/>
          <p:cNvSpPr/>
          <p:nvPr/>
        </p:nvSpPr>
        <p:spPr>
          <a:xfrm>
            <a:off x="1904695" y="1580998"/>
            <a:ext cx="38405" cy="1571854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461" r="-461" t="0" b="0"/>
          <a:stretch/>
        </p:blipFill>
        <p:spPr>
          <a:xfrm>
            <a:off x="2133295" y="1824228"/>
            <a:ext cx="237744" cy="20939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67805" y="1580998"/>
            <a:ext cx="4572000" cy="157185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6667805" y="1580998"/>
            <a:ext cx="38405" cy="157185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71954" y="1772107"/>
            <a:ext cx="1424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後台循環錄製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77456" y="1772107"/>
            <a:ext cx="12152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觸發即落盤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33295" y="2229307"/>
            <a:ext cx="425836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手機App持續在後台進行720p/30fps循環錄製，保持最近3分鐘影像。僅佔用150-300MB內存，對現代手機性能影響可控，不會顯著消耗電池。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600" b="-600"/>
          <a:stretch/>
        </p:blipFill>
        <p:spPr>
          <a:xfrm>
            <a:off x="6896405" y="1824228"/>
            <a:ext cx="181051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96405" y="2229307"/>
            <a:ext cx="424830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當用戶按下球拍側面按鍵或App遙控觸發時，系統立即將緩衝區影像保存為文件。覆蓋延遲&lt;100ms，保存用時僅需2-3秒，支持電量/存儲閾值提醒。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58054" y="3531413"/>
            <a:ext cx="25914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3分鐘循環緩衝工作流程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619902" y="3932834"/>
            <a:ext cx="2095805" cy="2095805"/>
          </a:xfrm>
          <a:prstGeom prst="ellips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23737" y="4637837"/>
            <a:ext cx="1209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RAM循環緩衝區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042355" y="486643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3分鐘 720p/30fps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15177" y="5095037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~150-300MB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2857500" y="4445813"/>
            <a:ext cx="1714500" cy="857707"/>
          </a:xfrm>
          <a:prstGeom prst="roundRect">
            <a:avLst>
              <a:gd name="adj" fmla="val 9476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00907" y="450342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372307" y="4855464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後台錄製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3247949" y="5112410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持續捕捉視頻流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810098" y="4445813"/>
            <a:ext cx="1714500" cy="857707"/>
          </a:xfrm>
          <a:prstGeom prst="roundRect">
            <a:avLst>
              <a:gd name="adj" fmla="val 9476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53505" y="4503420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324905" y="4855464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循環更新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267298" y="5112410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覆蓋最早片段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8762695" y="4445813"/>
            <a:ext cx="1714500" cy="857707"/>
          </a:xfrm>
          <a:prstGeom prst="roundRect">
            <a:avLst>
              <a:gd name="adj" fmla="val 9476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9519818" y="4503420"/>
            <a:ext cx="200254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277502" y="4855464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觸發機制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9204350" y="5112410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按鈕/App遙控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810098" y="4657954"/>
            <a:ext cx="1714500" cy="857707"/>
          </a:xfrm>
          <a:prstGeom prst="roundRect">
            <a:avLst>
              <a:gd name="adj" fmla="val 9476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6581851" y="4714646"/>
            <a:ext cx="171907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324905" y="5067605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保存處理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6267298" y="5324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緩衝區→文件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4572000" y="4874666"/>
            <a:ext cx="952805" cy="192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9" name="Shape 31"/>
          <p:cNvSpPr/>
          <p:nvPr/>
        </p:nvSpPr>
        <p:spPr>
          <a:xfrm>
            <a:off x="5524805" y="4874666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905756" y="4636922"/>
            <a:ext cx="418795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4981651" y="4674413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寫入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7810805" y="4874666"/>
            <a:ext cx="952805" cy="192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3" name="Shape 35"/>
          <p:cNvSpPr/>
          <p:nvPr/>
        </p:nvSpPr>
        <p:spPr>
          <a:xfrm>
            <a:off x="9620402" y="4874666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408822" y="4636922"/>
            <a:ext cx="694944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8484718" y="4674413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BLE 事件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10172700" y="5303520"/>
            <a:ext cx="19202" cy="76169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7" name="Shape 39"/>
          <p:cNvSpPr/>
          <p:nvPr/>
        </p:nvSpPr>
        <p:spPr>
          <a:xfrm>
            <a:off x="10077602" y="6065215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9934956" y="5588813"/>
            <a:ext cx="685800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10010851" y="562721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觸發保存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6191402" y="5067605"/>
            <a:ext cx="952805" cy="192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1" name="Shape 43"/>
          <p:cNvSpPr/>
          <p:nvPr/>
        </p:nvSpPr>
        <p:spPr>
          <a:xfrm>
            <a:off x="4572000" y="4972507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4905756" y="4572000"/>
            <a:ext cx="685800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4981651" y="46104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讀取轉換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1904695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11281867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196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按鍵觸發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44668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47676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按鍵觸發與RAM暫存方案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580998"/>
            <a:ext cx="4572000" cy="18196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6"/>
          <p:cNvSpPr/>
          <p:nvPr/>
        </p:nvSpPr>
        <p:spPr>
          <a:xfrm>
            <a:off x="1904695" y="1580998"/>
            <a:ext cx="38405" cy="1819656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33295" y="1824228"/>
            <a:ext cx="209398" cy="20939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67805" y="1580998"/>
            <a:ext cx="4572000" cy="18196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6667805" y="1580998"/>
            <a:ext cx="38405" cy="181965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43607" y="1772107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觸發機制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05802" y="1772107"/>
            <a:ext cx="12152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可靠性保障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33295" y="2229307"/>
            <a:ext cx="42291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用戶通過球拍側面的微動開關（tact button）觸發BLE事件，智能手機接收事件後保存高光視頻段。系統設計包括去抖處理、長按/單擊區分以及誤觸處理機制，確保在運動環境下穩定工作。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96405" y="1824228"/>
            <a:ext cx="209398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96405" y="2229307"/>
            <a:ext cx="4163263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採用事件確認+失敗重試機制，即使在BLE訊號不穩定的環境下也能確保功能可靠性。按鍵觸發延遲優化至50ms以內，實現「看到好球即點即存」的直覺操作體驗。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10505" y="3775558"/>
            <a:ext cx="2686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按鍵觸發至視頻存儲流程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2667305" y="4689958"/>
            <a:ext cx="1524305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600" b="-600"/>
          <a:stretch/>
        </p:blipFill>
        <p:spPr>
          <a:xfrm>
            <a:off x="3338474" y="4835347"/>
            <a:ext cx="181051" cy="20939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124505" y="5142586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側鍵按下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953305" y="4689958"/>
            <a:ext cx="1524305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09844" y="4835347"/>
            <a:ext cx="209398" cy="20939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10505" y="5142586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去抖處理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858000" y="4689958"/>
            <a:ext cx="1524305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-461" r="-461" t="0" b="0"/>
          <a:stretch/>
        </p:blipFill>
        <p:spPr>
          <a:xfrm>
            <a:off x="7500823" y="4835347"/>
            <a:ext cx="237744" cy="20939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74382" y="5142586"/>
            <a:ext cx="1010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BLE事件發送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9144000" y="4689958"/>
            <a:ext cx="1524305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-1528" r="-1528" t="0" b="0"/>
          <a:stretch/>
        </p:blipFill>
        <p:spPr>
          <a:xfrm>
            <a:off x="9825228" y="4835347"/>
            <a:ext cx="161849" cy="20939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455810" y="5142586"/>
            <a:ext cx="1019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App接收事件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5905195" y="6214262"/>
            <a:ext cx="1524305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461" r="-461" t="0" b="0"/>
          <a:stretch/>
        </p:blipFill>
        <p:spPr>
          <a:xfrm>
            <a:off x="6548018" y="6244438"/>
            <a:ext cx="237744" cy="20939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286500" y="6551676"/>
            <a:ext cx="886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循環緩衝區（RAM）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5905195" y="7357262"/>
            <a:ext cx="1524305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600" b="-600"/>
          <a:stretch/>
        </p:blipFill>
        <p:spPr>
          <a:xfrm>
            <a:off x="6577279" y="7501738"/>
            <a:ext cx="181051" cy="20939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133795" y="7808976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保存至永久存儲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4190695" y="5071262"/>
            <a:ext cx="761695" cy="192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7" name="Shape 27"/>
          <p:cNvSpPr/>
          <p:nvPr/>
        </p:nvSpPr>
        <p:spPr>
          <a:xfrm>
            <a:off x="4953305" y="5013655"/>
            <a:ext cx="152705" cy="114300"/>
          </a:xfrm>
          <a:prstGeom prst="rect">
            <a:avLst/>
          </a:prstGeom>
          <a:noFill/>
          <a:ln w="152400">
            <a:solidFill>
              <a:srgbClr val="3182CE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4381805" y="4785055"/>
            <a:ext cx="761695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4457700" y="4823460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20ms防抖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6476695" y="5071262"/>
            <a:ext cx="761695" cy="192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1" name="Shape 31"/>
          <p:cNvSpPr/>
          <p:nvPr/>
        </p:nvSpPr>
        <p:spPr>
          <a:xfrm>
            <a:off x="7239305" y="5013655"/>
            <a:ext cx="152705" cy="114300"/>
          </a:xfrm>
          <a:prstGeom prst="rect">
            <a:avLst/>
          </a:prstGeom>
          <a:noFill/>
          <a:ln w="152400">
            <a:solidFill>
              <a:srgbClr val="3182CE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667805" y="4785055"/>
            <a:ext cx="685800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3" name="Text 33"/>
          <p:cNvSpPr txBox="1"/>
          <p:nvPr/>
        </p:nvSpPr>
        <p:spPr>
          <a:xfrm>
            <a:off x="6743700" y="482346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事件封裝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382305" y="5071262"/>
            <a:ext cx="761695" cy="192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5" name="Shape 35"/>
          <p:cNvSpPr/>
          <p:nvPr/>
        </p:nvSpPr>
        <p:spPr>
          <a:xfrm>
            <a:off x="9753905" y="5013655"/>
            <a:ext cx="152705" cy="114300"/>
          </a:xfrm>
          <a:prstGeom prst="rect">
            <a:avLst/>
          </a:prstGeom>
          <a:noFill/>
          <a:ln w="152400">
            <a:solidFill>
              <a:srgbClr val="3182CE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8268005" y="4785055"/>
            <a:ext cx="685800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8343900" y="482346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無線通信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10267798" y="5451653"/>
            <a:ext cx="19202" cy="571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9" name="Shape 39"/>
          <p:cNvSpPr/>
          <p:nvPr/>
        </p:nvSpPr>
        <p:spPr>
          <a:xfrm>
            <a:off x="10134295" y="6023153"/>
            <a:ext cx="152705" cy="114300"/>
          </a:xfrm>
          <a:prstGeom prst="rect">
            <a:avLst/>
          </a:prstGeom>
          <a:noFill/>
          <a:ln w="152400">
            <a:solidFill>
              <a:srgbClr val="3182CE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9144000" y="5642762"/>
            <a:ext cx="952805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1" name="Text 41"/>
          <p:cNvSpPr txBox="1"/>
          <p:nvPr/>
        </p:nvSpPr>
        <p:spPr>
          <a:xfrm>
            <a:off x="9219895" y="5680253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觸發保存指令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6657746" y="6975958"/>
            <a:ext cx="19202" cy="571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3" name="Shape 43"/>
          <p:cNvSpPr/>
          <p:nvPr/>
        </p:nvSpPr>
        <p:spPr>
          <a:xfrm>
            <a:off x="6590995" y="7547458"/>
            <a:ext cx="152705" cy="114300"/>
          </a:xfrm>
          <a:prstGeom prst="rect">
            <a:avLst/>
          </a:prstGeom>
          <a:noFill/>
          <a:ln w="152400">
            <a:solidFill>
              <a:srgbClr val="3182CE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5715000" y="7071055"/>
            <a:ext cx="1828800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5" name="Text 45"/>
          <p:cNvSpPr txBox="1"/>
          <p:nvPr/>
        </p:nvSpPr>
        <p:spPr>
          <a:xfrm>
            <a:off x="5790895" y="7109460"/>
            <a:ext cx="1776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2-3秒完成保存 (150-300MB)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1904695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11281867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00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8001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7911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效率提升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40096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43104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效率提升分析（圖表）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4839005" y="1580998"/>
            <a:ext cx="3829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高光一刻功能帶來的時間與空間優化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1904695" y="2115007"/>
            <a:ext cx="9525305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33949" y="5867705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3182CE"/>
          </a:solidFill>
          <a:ln/>
        </p:spPr>
      </p:sp>
      <p:sp>
        <p:nvSpPr>
          <p:cNvPr id="10" name="Shape 7"/>
          <p:cNvSpPr/>
          <p:nvPr/>
        </p:nvSpPr>
        <p:spPr>
          <a:xfrm>
            <a:off x="6963156" y="5867705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A0AE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62549" y="5829300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使用高光一刻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191756" y="5829300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傳統方式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728570" y="6258154"/>
            <a:ext cx="1000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5109667" y="6258154"/>
            <a:ext cx="1000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90%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7413955" y="6258154"/>
            <a:ext cx="11530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1分鐘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9694469" y="6258154"/>
            <a:ext cx="1353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20分鐘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2638044" y="6810451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編輯時間節省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19142" y="6810451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存儲空間節省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401154" y="6810451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高光編輯耗時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782251" y="6810451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傳統編輯耗時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904695" y="7229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281867" y="7229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196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系統整合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4324198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462503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Galaxy Watch 數據整合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580998"/>
            <a:ext cx="4572000" cy="157185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6"/>
          <p:cNvSpPr/>
          <p:nvPr/>
        </p:nvSpPr>
        <p:spPr>
          <a:xfrm>
            <a:off x="1904695" y="1580998"/>
            <a:ext cx="38405" cy="1571854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33295" y="1824228"/>
            <a:ext cx="209398" cy="20939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67805" y="1580998"/>
            <a:ext cx="4572000" cy="157185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6667805" y="1580998"/>
            <a:ext cx="38405" cy="157185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43607" y="1772107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數據指標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05802" y="1772107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聯合分析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33295" y="2229307"/>
            <a:ext cx="4239158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通過Samsung Health API整合心率變化、步數統計、訓練時長等生理數據，與拍體動作數據對齊，實現多維訓練分析與體能監測，獲取全面訓練畫像。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96405" y="1824228"/>
            <a:ext cx="209398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96405" y="2229307"/>
            <a:ext cx="4239158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結合動作質量與體能表現，提供強度區間分析、疲勞提示和恢復建議，避免過度訓練風險，優化訓練計劃與節奏，提升訓練效率和表現。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682996" y="3531413"/>
            <a:ext cx="21433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數據融合與API整合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3333902" y="4255618"/>
            <a:ext cx="1714500" cy="857707"/>
          </a:xfrm>
          <a:prstGeom prst="roundRect">
            <a:avLst>
              <a:gd name="adj" fmla="val 9476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3635654" y="4665269"/>
            <a:ext cx="12435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Galaxy Watch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3791102" y="4922215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生理數據來源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287207" y="4255618"/>
            <a:ext cx="1714500" cy="857707"/>
          </a:xfrm>
          <a:prstGeom prst="roundRect">
            <a:avLst>
              <a:gd name="adj" fmla="val 9476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9058046" y="4312310"/>
            <a:ext cx="171907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23453" y="4665269"/>
            <a:ext cx="15764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App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744407" y="4922215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動作數據收集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191402" y="4970678"/>
            <a:ext cx="952805" cy="1920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6" name="Shape 21"/>
          <p:cNvSpPr/>
          <p:nvPr/>
        </p:nvSpPr>
        <p:spPr>
          <a:xfrm>
            <a:off x="8191195" y="4684471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619195" y="5493715"/>
            <a:ext cx="1429207" cy="1580998"/>
          </a:xfrm>
          <a:prstGeom prst="roundRect">
            <a:avLst>
              <a:gd name="adj" fmla="val 3412"/>
            </a:avLst>
          </a:prstGeom>
          <a:solidFill>
            <a:srgbClr val="FEF5E7"/>
          </a:solidFill>
          <a:ln w="25400">
            <a:solidFill>
              <a:srgbClr val="ED893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4028846" y="5608015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生理指標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33495" y="5974690"/>
            <a:ext cx="114300" cy="1143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847795" y="5931713"/>
            <a:ext cx="633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心率變化</a:t>
            </a:r>
            <a:endParaRPr lang="en-US" sz="1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3120" r="-3120" t="0" b="0"/>
          <a:stretch/>
        </p:blipFill>
        <p:spPr>
          <a:xfrm>
            <a:off x="3733495" y="6231636"/>
            <a:ext cx="75895" cy="1143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3810305" y="6189574"/>
            <a:ext cx="633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步數統計</a:t>
            </a:r>
            <a:endParaRPr lang="en-US" sz="10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33495" y="6489497"/>
            <a:ext cx="114300" cy="1143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847795" y="6446520"/>
            <a:ext cx="633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訓練時長</a:t>
            </a:r>
            <a:endParaRPr lang="en-US" sz="10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3733495" y="6746443"/>
            <a:ext cx="105156" cy="1143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3838651" y="6703466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消耗卡路里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8001000" y="5493715"/>
            <a:ext cx="1714500" cy="1580998"/>
          </a:xfrm>
          <a:prstGeom prst="roundRect">
            <a:avLst>
              <a:gd name="adj" fmla="val 2787"/>
            </a:avLst>
          </a:prstGeom>
          <a:solidFill>
            <a:srgbClr val="EDF2F7"/>
          </a:solidFill>
          <a:ln w="25400">
            <a:solidFill>
              <a:srgbClr val="4A556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8583473" y="5608015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API接口</a:t>
            </a:r>
            <a:endParaRPr lang="en-US" sz="12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0" b="-80"/>
          <a:stretch/>
        </p:blipFill>
        <p:spPr>
          <a:xfrm>
            <a:off x="8115300" y="5974690"/>
            <a:ext cx="142646" cy="1143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57946" y="5931713"/>
            <a:ext cx="11292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Samsung Health</a:t>
            </a:r>
            <a:endParaRPr lang="en-US" sz="10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115300" y="6231636"/>
            <a:ext cx="114300" cy="11430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229600" y="6189574"/>
            <a:ext cx="7580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OAuth授權</a:t>
            </a:r>
            <a:endParaRPr lang="en-US" sz="10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115300" y="6489497"/>
            <a:ext cx="114300" cy="11430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8229600" y="6446520"/>
            <a:ext cx="633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隱私保護</a:t>
            </a:r>
            <a:endParaRPr lang="en-US" sz="100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115300" y="6746443"/>
            <a:ext cx="114300" cy="1143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8229600" y="6703466"/>
            <a:ext cx="633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數據同步</a:t>
            </a:r>
            <a:endParaRPr lang="en-US" sz="1000" dirty="0"/>
          </a:p>
        </p:txBody>
      </p:sp>
      <p:sp>
        <p:nvSpPr>
          <p:cNvPr id="47" name="Shape 34"/>
          <p:cNvSpPr/>
          <p:nvPr/>
        </p:nvSpPr>
        <p:spPr>
          <a:xfrm>
            <a:off x="5715000" y="4943246"/>
            <a:ext cx="1904695" cy="761695"/>
          </a:xfrm>
          <a:prstGeom prst="roundRect">
            <a:avLst>
              <a:gd name="adj" fmla="val 12005"/>
            </a:avLst>
          </a:prstGeom>
          <a:solidFill>
            <a:srgbClr val="E6FFFA"/>
          </a:solidFill>
          <a:ln w="25400">
            <a:solidFill>
              <a:srgbClr val="31979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rcRect l="-57" r="-57" t="0" b="0"/>
          <a:stretch/>
        </p:blipFill>
        <p:spPr>
          <a:xfrm>
            <a:off x="6567221" y="4852721"/>
            <a:ext cx="200254" cy="228600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6152998" y="5205679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數據融合分析</a:t>
            </a:r>
            <a:endParaRPr lang="en-US" sz="1300" dirty="0"/>
          </a:p>
        </p:txBody>
      </p:sp>
      <p:sp>
        <p:nvSpPr>
          <p:cNvPr id="50" name="Text 36"/>
          <p:cNvSpPr txBox="1"/>
          <p:nvPr/>
        </p:nvSpPr>
        <p:spPr>
          <a:xfrm>
            <a:off x="5866790" y="5462626"/>
            <a:ext cx="17099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動作質量 + 體能表現 = 全面評估</a:t>
            </a:r>
            <a:endParaRPr lang="en-US" sz="1000" dirty="0"/>
          </a:p>
        </p:txBody>
      </p:sp>
      <p:sp>
        <p:nvSpPr>
          <p:cNvPr id="51" name="Shape 37"/>
          <p:cNvSpPr/>
          <p:nvPr/>
        </p:nvSpPr>
        <p:spPr>
          <a:xfrm>
            <a:off x="3810305" y="5112410"/>
            <a:ext cx="19202" cy="571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2" name="Shape 38"/>
          <p:cNvSpPr/>
          <p:nvPr/>
        </p:nvSpPr>
        <p:spPr>
          <a:xfrm>
            <a:off x="3619195" y="5588813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4095598" y="6160313"/>
            <a:ext cx="19202" cy="571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4" name="Shape 40"/>
          <p:cNvSpPr/>
          <p:nvPr/>
        </p:nvSpPr>
        <p:spPr>
          <a:xfrm>
            <a:off x="3905402" y="6636715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9315907" y="5112410"/>
            <a:ext cx="19202" cy="571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6" name="Shape 42"/>
          <p:cNvSpPr/>
          <p:nvPr/>
        </p:nvSpPr>
        <p:spPr>
          <a:xfrm>
            <a:off x="9219895" y="5588813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57" name="Shape 43"/>
          <p:cNvSpPr/>
          <p:nvPr/>
        </p:nvSpPr>
        <p:spPr>
          <a:xfrm>
            <a:off x="9219895" y="6160313"/>
            <a:ext cx="19202" cy="5715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8" name="Shape 44"/>
          <p:cNvSpPr/>
          <p:nvPr/>
        </p:nvSpPr>
        <p:spPr>
          <a:xfrm>
            <a:off x="9124798" y="6636715"/>
            <a:ext cx="114300" cy="95098"/>
          </a:xfrm>
          <a:prstGeom prst="rect">
            <a:avLst/>
          </a:prstGeom>
          <a:noFill/>
          <a:ln w="127000">
            <a:solidFill>
              <a:srgbClr val="3182CE"/>
            </a:solidFill>
            <a:prstDash val="solid"/>
          </a:ln>
        </p:spPr>
      </p:sp>
      <p:sp>
        <p:nvSpPr>
          <p:cNvPr id="59" name="Text 45"/>
          <p:cNvSpPr txBox="1"/>
          <p:nvPr/>
        </p:nvSpPr>
        <p:spPr>
          <a:xfrm>
            <a:off x="1904695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60" name="Text 46"/>
          <p:cNvSpPr txBox="1"/>
          <p:nvPr/>
        </p:nvSpPr>
        <p:spPr>
          <a:xfrm>
            <a:off x="11281867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219602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用戶體驗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3610051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391088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用戶價值與體驗優化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904695" y="167609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2029054" y="1790395"/>
            <a:ext cx="133502" cy="1527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04695" y="2948940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0" name="Shape 7"/>
          <p:cNvSpPr/>
          <p:nvPr/>
        </p:nvSpPr>
        <p:spPr>
          <a:xfrm>
            <a:off x="1904695" y="4221785"/>
            <a:ext cx="381305" cy="381305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76195" y="1676095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業餘愛好者價值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476195" y="294894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校隊選手價值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476195" y="2124151"/>
            <a:ext cx="884407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24/7 訓練夥伴，即時語音反饋（如"正手攻，8/10分，轉腕好，擊球點略低"），個性化進度追蹤，遊戲化訓練目標，從"無意識"到"有目的"的練習轉變。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2000707" y="3063240"/>
            <a:ext cx="190195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76195" y="3396996"/>
            <a:ext cx="895837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動作精確評分與分類，長期趨勢分析，與教練協同（分享數據與高光視頻），組隊訓練數據對比，強化特定動作的針對性訓練，提升競技表現。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18995" y="4336085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476195" y="4221785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設計與體驗細節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476195" y="4668926"/>
            <a:ext cx="900592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低時延提示（&lt; 100ms），無干擾UI（訓練中最少干預），無障礙設計（聲音/震動反饋選項），多語言支持，智能訓練建議（結合手錶心率數據），個性化儀表板。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904695" y="6086246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281867" y="60862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20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742035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500323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未來展望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5210251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551108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未來展望與成本預估（圖表）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1904695" y="1580998"/>
            <a:ext cx="3258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首件成本構成 (總計: 523 HKD)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10451" y="1580998"/>
            <a:ext cx="3829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規模效應：生產數量與單位成本關係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1904695" y="2115007"/>
            <a:ext cx="4619549" cy="2857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67305" y="5091379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3182CE"/>
          </a:solidFill>
          <a:ln/>
        </p:spPr>
      </p:sp>
      <p:sp>
        <p:nvSpPr>
          <p:cNvPr id="11" name="Shape 8"/>
          <p:cNvSpPr/>
          <p:nvPr/>
        </p:nvSpPr>
        <p:spPr>
          <a:xfrm>
            <a:off x="4329684" y="5091379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63B3ED"/>
          </a:solidFill>
          <a:ln/>
        </p:spPr>
      </p:sp>
      <p:sp>
        <p:nvSpPr>
          <p:cNvPr id="12" name="Shape 9"/>
          <p:cNvSpPr/>
          <p:nvPr/>
        </p:nvSpPr>
        <p:spPr>
          <a:xfrm>
            <a:off x="2721254" y="5481828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2C5282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0540" y="5481828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90CDF4"/>
          </a:solidFill>
          <a:ln/>
        </p:spPr>
      </p:sp>
      <p:sp>
        <p:nvSpPr>
          <p:cNvPr id="14" name="Shape 11"/>
          <p:cNvSpPr/>
          <p:nvPr/>
        </p:nvSpPr>
        <p:spPr>
          <a:xfrm>
            <a:off x="3483864" y="5872277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4299E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895905" y="5067605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ESP32-C3 (120 HKD)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558284" y="5067605"/>
            <a:ext cx="13103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MPU-6050 (35 HKD)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949854" y="5458054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CNC外殼 (180 HKD)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49140" y="5458054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電池/開關 (38 HKD)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712464" y="5848502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組裝/測試 (150 HKD)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6810451" y="2115007"/>
            <a:ext cx="4619549" cy="28575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303374" y="4828946"/>
            <a:ext cx="1314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523 HKD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4208983" y="4828946"/>
            <a:ext cx="1314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315 HKD</a:t>
            </a:r>
            <a:endParaRPr lang="en-US" sz="2100" dirty="0"/>
          </a:p>
        </p:txBody>
      </p:sp>
      <p:sp>
        <p:nvSpPr>
          <p:cNvPr id="23" name="Text 19"/>
          <p:cNvSpPr txBox="1"/>
          <p:nvPr/>
        </p:nvSpPr>
        <p:spPr>
          <a:xfrm>
            <a:off x="6113678" y="4828946"/>
            <a:ext cx="1314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225 HKD</a:t>
            </a:r>
            <a:endParaRPr lang="en-US" sz="2100" dirty="0"/>
          </a:p>
        </p:txBody>
      </p:sp>
      <p:sp>
        <p:nvSpPr>
          <p:cNvPr id="24" name="Text 20"/>
          <p:cNvSpPr txBox="1"/>
          <p:nvPr/>
        </p:nvSpPr>
        <p:spPr>
          <a:xfrm>
            <a:off x="8018374" y="4828946"/>
            <a:ext cx="1314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150 HKD</a:t>
            </a:r>
            <a:endParaRPr lang="en-US" sz="2100" dirty="0"/>
          </a:p>
        </p:txBody>
      </p:sp>
      <p:sp>
        <p:nvSpPr>
          <p:cNvPr id="25" name="Text 21"/>
          <p:cNvSpPr txBox="1"/>
          <p:nvPr/>
        </p:nvSpPr>
        <p:spPr>
          <a:xfrm>
            <a:off x="9711842" y="4828946"/>
            <a:ext cx="1733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82C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2,499-3,499</a:t>
            </a:r>
            <a:endParaRPr lang="en-US" sz="2100" dirty="0"/>
          </a:p>
        </p:txBody>
      </p:sp>
      <p:sp>
        <p:nvSpPr>
          <p:cNvPr id="26" name="Text 22"/>
          <p:cNvSpPr txBox="1"/>
          <p:nvPr/>
        </p:nvSpPr>
        <p:spPr>
          <a:xfrm>
            <a:off x="2590495" y="52669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首件成本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429354" y="5266944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小批量成本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6334049" y="5266944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中批量成本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8305495" y="52669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量產成本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9946843" y="5266944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建議零售價 (HKD)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1904695" y="5562295"/>
            <a:ext cx="9525305" cy="895198"/>
          </a:xfrm>
          <a:prstGeom prst="roundRect">
            <a:avLst>
              <a:gd name="adj" fmla="val 6520"/>
            </a:avLst>
          </a:prstGeom>
          <a:solidFill>
            <a:srgbClr val="EDF2F7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2048256" y="5658307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未來發展規劃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2048256" y="5962802"/>
            <a:ext cx="290047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近期 (3-6月): 傳感器擴展與結構優化、與Galaxy Watch更深度整合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5159045" y="5962802"/>
            <a:ext cx="309158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中期 (6-12月): 品牌合作、線上教練平台、成本持續降低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8270748" y="5962802"/>
            <a:ext cx="287213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長期 (1-2年): 智能手表無縫整合、AI生成訓練課程、拓展至更多球類運動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904695" y="6648602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1281867" y="6648602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735360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3463747"/>
            <a:ext cx="1357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產學合作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14500" y="1267358"/>
            <a:ext cx="4352544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14500" y="580644"/>
            <a:ext cx="46533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VTC資源優勢與產學合作</a:t>
            </a:r>
            <a:endParaRPr lang="en-US" sz="3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4500" y="1766621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1676095"/>
            <a:ext cx="18434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卓越培訓發展中心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2076602"/>
            <a:ext cx="421538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VTC青年學院電子業專業培訓中心提供專業級設備與指導，支持創新電子產品原型開發與測試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14500" y="2896819"/>
            <a:ext cx="237744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04949" y="2806294"/>
            <a:ext cx="1424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CNC加工能力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104949" y="3205886"/>
            <a:ext cx="44156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配備高精度CNC設備，可快速製作鋁合金外殼與結構件，實現複雜幾何形狀與精確加工，大幅縮短開發週期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14500" y="4026103"/>
            <a:ext cx="190195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57400" y="3935578"/>
            <a:ext cx="12719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3D打印技術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057400" y="4336085"/>
            <a:ext cx="446318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多種材料3D打印設備可快速製作功能性原型，支持迭代測試與驗證，降低設計風險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714500" y="5155387"/>
            <a:ext cx="237744" cy="1901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104949" y="5064862"/>
            <a:ext cx="1424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產學合作模式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2104949" y="5465369"/>
            <a:ext cx="44156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學生實訓、共享實驗室與設備，企業提供實際需求，教師技術指導，形成"學習-創新-應用"良性循環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10943" r="10943" t="0" b="0"/>
          <a:stretch/>
        </p:blipFill>
        <p:spPr>
          <a:xfrm>
            <a:off x="6858000" y="2030882"/>
            <a:ext cx="4762195" cy="38103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714500" y="6575450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11472062" y="657545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5445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0" cy="9544507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142646" y="4561027"/>
            <a:ext cx="1643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總結與號召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4695" y="1267358"/>
            <a:ext cx="2809951" cy="2834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4695" y="580644"/>
            <a:ext cx="311078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總結與行動號召</a:t>
            </a:r>
            <a:endParaRPr lang="en-US" sz="3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4" b="-44"/>
          <a:stretch/>
        </p:blipFill>
        <p:spPr>
          <a:xfrm>
            <a:off x="1904695" y="1733702"/>
            <a:ext cx="256946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62556" y="167609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項目亮點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04695" y="2297887"/>
            <a:ext cx="171907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10105" y="2210105"/>
            <a:ext cx="4134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端側AI: 輕量決策樹模型在ESP32上實時推斷，準確率達85%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41" b="-841"/>
          <a:stretch/>
        </p:blipFill>
        <p:spPr>
          <a:xfrm>
            <a:off x="1904695" y="2745943"/>
            <a:ext cx="190195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229307" y="2657246"/>
            <a:ext cx="42483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即時高光: 3分鐘循環緩衝錄影，一鍵保存精彩片段，節省95%編輯時間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038198" y="3297326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手錶整合: 與Galaxy Watch生理數據融合，提供全面訓練評估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67805" y="173370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96405" y="1676095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下一步計劃</a:t>
            </a:r>
            <a:endParaRPr lang="en-US" sz="1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760" r="-760" t="0" b="0"/>
          <a:stretch/>
        </p:blipFill>
        <p:spPr>
          <a:xfrm>
            <a:off x="6667805" y="2297887"/>
            <a:ext cx="152705" cy="17190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953098" y="2210105"/>
            <a:ext cx="4248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小規模試產與用戶試點: 10-20套設備測試，收集實際使用反饋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-1773" r="-1773" t="0" b="0"/>
          <a:stretch/>
        </p:blipFill>
        <p:spPr>
          <a:xfrm>
            <a:off x="6667805" y="2745943"/>
            <a:ext cx="133502" cy="171907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933895" y="2657246"/>
            <a:ext cx="427756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三星生態深度整合: 與Samsung Health、Watch APIs更緊密連接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67805" y="3385109"/>
            <a:ext cx="171907" cy="171907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972300" y="3297326"/>
            <a:ext cx="3838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量產成本優化: 從首件523 HKD降至規模化150 HKD以下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1904695" y="4125773"/>
            <a:ext cx="9525305" cy="141000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3" name="Shape 14"/>
          <p:cNvSpPr/>
          <p:nvPr/>
        </p:nvSpPr>
        <p:spPr>
          <a:xfrm>
            <a:off x="1904695" y="4125773"/>
            <a:ext cx="38405" cy="1410005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4" b="-44"/>
          <a:stretch/>
        </p:blipFill>
        <p:spPr>
          <a:xfrm>
            <a:off x="2133295" y="4373575"/>
            <a:ext cx="256946" cy="2286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2391156" y="4316882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未來發展路徑</a:t>
            </a:r>
            <a:endParaRPr lang="en-US" sz="1800" dirty="0"/>
          </a:p>
        </p:txBody>
      </p:sp>
      <p:sp>
        <p:nvSpPr>
          <p:cNvPr id="26" name="Text 16"/>
          <p:cNvSpPr txBox="1"/>
          <p:nvPr/>
        </p:nvSpPr>
        <p:spPr>
          <a:xfrm>
            <a:off x="2133295" y="4849978"/>
            <a:ext cx="91257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3-6個月: 優化結構與硬件設計，10個測試用戶；6-12個月: 擴大至100個用戶，設立線上教練平台；1-2年: 實現AI自動課程生成，擴展至其他球類運動，打造完整智能運動生態系統。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3810305" y="6099962"/>
            <a:ext cx="5715000" cy="2486254"/>
          </a:xfrm>
          <a:prstGeom prst="roundRect">
            <a:avLst>
              <a:gd name="adj" fmla="val 1127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18"/>
          <p:cNvSpPr txBox="1"/>
          <p:nvPr/>
        </p:nvSpPr>
        <p:spPr>
          <a:xfrm>
            <a:off x="4934102" y="6356909"/>
            <a:ext cx="36768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3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與我們一起改變運動訓練方式</a:t>
            </a:r>
            <a:endParaRPr lang="en-US" sz="2100" dirty="0"/>
          </a:p>
        </p:txBody>
      </p:sp>
      <p:sp>
        <p:nvSpPr>
          <p:cNvPr id="29" name="Text 19"/>
          <p:cNvSpPr txBox="1"/>
          <p:nvPr/>
        </p:nvSpPr>
        <p:spPr>
          <a:xfrm>
            <a:off x="4256532" y="6909206"/>
            <a:ext cx="495787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Coach不僅是一款智能設備，更是連接教練與運動員的橋樑，是24/7的訓練夥伴。我們誠摯邀請您參與這個創新項目！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5085893" y="7913218"/>
            <a:ext cx="1495044" cy="418795"/>
          </a:xfrm>
          <a:prstGeom prst="roundRect">
            <a:avLst>
              <a:gd name="adj" fmla="val 29774"/>
            </a:avLst>
          </a:prstGeom>
          <a:solidFill>
            <a:srgbClr val="3182CE"/>
          </a:solidFill>
          <a:ln/>
          <a:effectLst>
            <a:outerShdw sx="100000" sy="100000" kx="0" ky="0" algn="bl" rotWithShape="0" blurRad="63500" dist="38100" dir="5400000">
              <a:srgbClr val="3182ce">
                <a:alpha val="40000"/>
              </a:srgbClr>
            </a:outerShdw>
          </a:effectLst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80" b="-180"/>
          <a:stretch/>
        </p:blipFill>
        <p:spPr>
          <a:xfrm>
            <a:off x="5277002" y="8046720"/>
            <a:ext cx="190195" cy="152705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6762902" y="7913218"/>
            <a:ext cx="1495044" cy="418795"/>
          </a:xfrm>
          <a:prstGeom prst="roundRect">
            <a:avLst>
              <a:gd name="adj" fmla="val 29774"/>
            </a:avLst>
          </a:prstGeom>
          <a:solidFill>
            <a:srgbClr val="3182CE"/>
          </a:solidFill>
          <a:ln/>
          <a:effectLst>
            <a:outerShdw sx="100000" sy="100000" kx="0" ky="0" algn="bl" rotWithShape="0" blurRad="63500" dist="38100" dir="5400000">
              <a:srgbClr val="3182ce">
                <a:alpha val="40000"/>
              </a:srgbClr>
            </a:outerShdw>
          </a:effectLst>
        </p:spPr>
      </p:sp>
      <p:sp>
        <p:nvSpPr>
          <p:cNvPr id="33" name="Text 22"/>
          <p:cNvSpPr txBox="1"/>
          <p:nvPr/>
        </p:nvSpPr>
        <p:spPr>
          <a:xfrm>
            <a:off x="5467198" y="8008315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產業合作咨詢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6953098" y="8046720"/>
            <a:ext cx="190195" cy="15270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7144207" y="8008315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成為測試用戶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1904695" y="8770010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SmartRacket Coach 智能球拍教練系統</a:t>
            </a:r>
            <a:endParaRPr lang="en-US" sz="1000" dirty="0"/>
          </a:p>
        </p:txBody>
      </p:sp>
      <p:sp>
        <p:nvSpPr>
          <p:cNvPr id="37" name="Text 25"/>
          <p:cNvSpPr txBox="1"/>
          <p:nvPr/>
        </p:nvSpPr>
        <p:spPr>
          <a:xfrm>
            <a:off x="11281867" y="877001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2025-11-07T01:07:46Z</dcterms:created>
  <dcterms:modified xsi:type="dcterms:W3CDTF">2025-11-07T01:07:46Z</dcterms:modified>
</cp:coreProperties>
</file>